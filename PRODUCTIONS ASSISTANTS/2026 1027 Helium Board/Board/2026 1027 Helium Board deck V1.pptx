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écision" id="{96392c81-7e44-c740-970b-3b3c9b01a242}">
          <p14:sldIdLst>
            <p14:sldId id="256"/>
            <p14:sldId id="257"/>
            <p14:sldId id="258"/>
          </p14:sldIdLst>
        </p14:section>
        <p14:section name="Marché" id="{3026f291-c6eb-5d88-7e72-c9ae0589258d}">
          <p14:sldIdLst>
            <p14:sldId id="259"/>
            <p14:sldId id="260"/>
            <p14:sldId id="261"/>
            <p14:sldId id="262"/>
            <p14:sldId id="263"/>
            <p14:sldId id="264"/>
          </p14:sldIdLst>
        </p14:section>
        <p14:section name="Modèle" id="{e6b5ef6d-2b02-17e3-22a1-e862c7bdf98e}">
          <p14:sldIdLst>
            <p14:sldId id="265"/>
            <p14:sldId id="266"/>
            <p14:sldId id="267"/>
            <p14:sldId id="268"/>
            <p14:sldId id="269"/>
            <p14:sldId id="270"/>
            <p14:sldId id="271"/>
          </p14:sldIdLst>
        </p14:section>
        <p14:section name="Choix et plan" id="{a0c46279-8a11-3e76-ff18-20202b9502d9}">
          <p14:sldIdLst>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01C19"/>
                </a:solidFill>
                <a:latin typeface="+mn-lt"/>
              </a:defRPr>
            </a:pPr>
            <a:r>
              <a:rPr sz="1100" b="0" i="0" u="none" strike="noStrike">
                <a:solidFill>
                  <a:srgbClr val="201C19"/>
                </a:solidFill>
                <a:latin typeface="+mn-lt"/>
              </a:rPr>
              <a:t>Entonnoir de marché, France (personnes)</a:t>
            </a:r>
          </a:p>
        </c:rich>
      </c:tx>
      <c:layout/>
      <c:overlay val="0"/>
    </c:title>
    <c:autoTitleDeleted val="0"/>
    <c:plotArea>
      <c:layout/>
      <c:barChart>
        <c:barDir val="bar"/>
        <c:grouping val="clustered"/>
        <c:varyColors val="0"/>
        <c:ser>
          <c:idx val="0"/>
          <c:order val="0"/>
          <c:tx>
            <c:strRef>
              <c:f>Sheet1!$B$1</c:f>
              <c:strCache>
                <c:ptCount val="1"/>
                <c:pt idx="0">
                  <c:v>Personnes</c:v>
                </c:pt>
              </c:strCache>
            </c:strRef>
          </c:tx>
          <c:spPr>
            <a:solidFill>
              <a:srgbClr val="F0916A"/>
            </a:solidFill>
            <a:effectLst/>
          </c:spPr>
          <c:invertIfNegative val="0"/>
          <c:dLbls>
            <c:numFmt formatCode="#,##0" sourceLinked="0"/>
            <c:txPr>
              <a:bodyPr/>
              <a:lstStyle/>
              <a:p>
                <a:pPr>
                  <a:defRPr b="0" i="0" strike="noStrike" sz="1000" u="none">
                    <a:solidFill>
                      <a:srgbClr val="201C19"/>
                    </a:solidFill>
                    <a:latin typeface="+mn-lt"/>
                  </a:defRPr>
                </a:pPr>
              </a:p>
            </c:txPr>
            <c:showLegendKey val="0"/>
            <c:showVal val="1"/>
            <c:showCatName val="0"/>
            <c:showSerName val="0"/>
            <c:showPercent val="0"/>
            <c:showBubbleSize val="0"/>
            <c:showLeaderLines val="0"/>
          </c:dLbls>
          <c:cat>
            <c:multiLvlStrRef>
              <c:f>Sheet1!$A$2:$A$6</c:f>
              <c:multiLvlStrCache>
                <c:ptCount val="5"/>
                <c:lvl>
                  <c:pt idx="0">
                    <c:v>Scénario central, abonnés fin A3</c:v>
                  </c:pt>
                  <c:pt idx="1">
                    <c:v>dont prêts à déléguer sous validation (43 %)</c:v>
                  </c:pt>
                  <c:pt idx="2">
                    <c:v>dont vivant avec des enfants (54 %)</c:v>
                  </c:pt>
                  <c:pt idx="3">
                    <c:v>Cadres de 25 à 49 ans (64,5 %)</c:v>
                  </c:pt>
                  <c:pt idx="4">
                    <c:v>Cadres en emploi, France (Insee 2025)</c:v>
                  </c:pt>
                </c:lvl>
              </c:multiLvlStrCache>
            </c:multiLvlStrRef>
          </c:cat>
          <c:val>
            <c:numRef>
              <c:f>Sheet1!$B$2:$B$6</c:f>
              <c:numCache>
                <c:formatCode>General</c:formatCode>
                <c:ptCount val="5"/>
                <c:pt idx="0">
                  <c:v>2664</c:v>
                </c:pt>
                <c:pt idx="1">
                  <c:v>1100000</c:v>
                </c:pt>
                <c:pt idx="2">
                  <c:v>2500000</c:v>
                </c:pt>
                <c:pt idx="3">
                  <c:v>4700000</c:v>
                </c:pt>
                <c:pt idx="4">
                  <c:v>7300000</c:v>
                </c:pt>
              </c:numCache>
            </c:numRef>
          </c:val>
        </c:ser>
        <c:dLbls>
          <c:numFmt formatCode="#,##0" sourceLinked="0"/>
          <c:txPr>
            <a:bodyPr/>
            <a:lstStyle/>
            <a:p>
              <a:pPr>
                <a:defRPr b="0" i="0" strike="noStrike" sz="1000" u="none">
                  <a:solidFill>
                    <a:srgbClr val="201C1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01C1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01C19"/>
                </a:solidFill>
                <a:latin typeface="+mn-lt"/>
              </a:defRPr>
            </a:pPr>
            <a:r>
              <a:rPr sz="1050" b="0" i="0" u="none" strike="noStrike">
                <a:solidFill>
                  <a:srgbClr val="201C19"/>
                </a:solidFill>
                <a:latin typeface="+mn-lt"/>
              </a:rPr>
              <a:t>Premium : du prix HT à la contribution (€ par mois, scénario central)</a:t>
            </a:r>
          </a:p>
        </c:rich>
      </c:tx>
      <c:layout/>
      <c:overlay val="0"/>
    </c:title>
    <c:autoTitleDeleted val="0"/>
    <c:plotArea>
      <c:layout/>
      <c:barChart>
        <c:barDir val="col"/>
        <c:grouping val="clustered"/>
        <c:varyColors val="0"/>
        <c:ser>
          <c:idx val="0"/>
          <c:order val="0"/>
          <c:tx>
            <c:strRef>
              <c:f>Sheet1!$B$1</c:f>
              <c:strCache>
                <c:ptCount val="1"/>
                <c:pt idx="0">
                  <c:v>€ HT par abonné Premium et par mois</c:v>
                </c:pt>
              </c:strCache>
            </c:strRef>
          </c:tx>
          <c:spPr>
            <a:solidFill>
              <a:srgbClr val="201C19"/>
            </a:solidFill>
            <a:effectLst/>
          </c:spPr>
          <c:invertIfNegative val="0"/>
          <c:dLbls>
            <c:numFmt formatCode="0.0" sourceLinked="0"/>
            <c:txPr>
              <a:bodyPr/>
              <a:lstStyle/>
              <a:p>
                <a:pPr>
                  <a:defRPr b="0" i="0" strike="noStrike" sz="1000" u="none">
                    <a:solidFill>
                      <a:srgbClr val="201C19"/>
                    </a:solidFill>
                    <a:latin typeface="+mn-lt"/>
                  </a:defRPr>
                </a:pPr>
              </a:p>
            </c:txPr>
            <c:showLegendKey val="0"/>
            <c:showVal val="1"/>
            <c:showCatName val="0"/>
            <c:showSerName val="0"/>
            <c:showPercent val="0"/>
            <c:showBubbleSize val="0"/>
            <c:showLeaderLines val="0"/>
          </c:dLbls>
          <c:dPt>
            <c:idx val="0"/>
            <c:invertIfNegative val="0"/>
            <c:bubble3D val="0"/>
            <c:spPr>
              <a:solidFill>
                <a:srgbClr val="201C19"/>
              </a:solidFill>
              <a:effectLst/>
            </c:spPr>
          </c:dPt>
          <c:dPt>
            <c:idx val="1"/>
            <c:invertIfNegative val="0"/>
            <c:bubble3D val="0"/>
            <c:spPr>
              <a:solidFill>
                <a:srgbClr val="F0916A"/>
              </a:solidFill>
              <a:effectLst/>
            </c:spPr>
          </c:dPt>
          <c:dPt>
            <c:idx val="2"/>
            <c:invertIfNegative val="0"/>
            <c:bubble3D val="0"/>
            <c:spPr>
              <a:solidFill>
                <a:srgbClr val="F0916A"/>
              </a:solidFill>
              <a:effectLst/>
            </c:spPr>
          </c:dPt>
          <c:dPt>
            <c:idx val="3"/>
            <c:invertIfNegative val="0"/>
            <c:bubble3D val="0"/>
            <c:spPr>
              <a:solidFill>
                <a:srgbClr val="F0916A"/>
              </a:solidFill>
              <a:effectLst/>
            </c:spPr>
          </c:dPt>
          <c:dPt>
            <c:idx val="4"/>
            <c:invertIfNegative val="0"/>
            <c:bubble3D val="0"/>
            <c:spPr>
              <a:solidFill>
                <a:srgbClr val="6B8F7A"/>
              </a:solidFill>
              <a:effectLst/>
            </c:spPr>
          </c:dPt>
          <c:cat>
            <c:multiLvlStrRef>
              <c:f>Sheet1!$A$2:$A$6</c:f>
              <c:multiLvlStrCache>
                <c:ptCount val="5"/>
                <c:lvl>
                  <c:pt idx="0">
                    <c:v>Prix HT</c:v>
                  </c:pt>
                  <c:pt idx="1">
                    <c:v>Coût IA (60 missions × 0,18 €)</c:v>
                  </c:pt>
                  <c:pt idx="2">
                    <c:v>Hébergement et support</c:v>
                  </c:pt>
                  <c:pt idx="3">
                    <c:v>Frais et impayés</c:v>
                  </c:pt>
                  <c:pt idx="4">
                    <c:v>Contribution</c:v>
                  </c:pt>
                </c:lvl>
              </c:multiLvlStrCache>
            </c:multiLvlStrRef>
          </c:cat>
          <c:val>
            <c:numRef>
              <c:f>Sheet1!$B$2:$B$6</c:f>
              <c:numCache>
                <c:formatCode>General</c:formatCode>
                <c:ptCount val="5"/>
                <c:pt idx="0">
                  <c:v>65.83</c:v>
                </c:pt>
                <c:pt idx="1">
                  <c:v>-10.8</c:v>
                </c:pt>
                <c:pt idx="2">
                  <c:v>-4.5</c:v>
                </c:pt>
                <c:pt idx="3">
                  <c:v>-2.08</c:v>
                </c:pt>
                <c:pt idx="4">
                  <c:v>48.45</c:v>
                </c:pt>
              </c:numCache>
            </c:numRef>
          </c:val>
        </c:ser>
        <c:dLbls>
          <c:numFmt formatCode="0.0" sourceLinked="0"/>
          <c:txPr>
            <a:bodyPr/>
            <a:lstStyle/>
            <a:p>
              <a:pPr>
                <a:defRPr b="0" i="0" strike="noStrike" sz="1000" u="none">
                  <a:solidFill>
                    <a:srgbClr val="201C1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01C1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D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01C19"/>
                </a:solidFill>
                <a:latin typeface="+mn-lt"/>
              </a:defRPr>
            </a:pPr>
            <a:r>
              <a:rPr sz="1050" b="0" i="0" u="none" strike="noStrike">
                <a:solidFill>
                  <a:srgbClr val="201C19"/>
                </a:solidFill>
                <a:latin typeface="+mn-lt"/>
              </a:rPr>
              <a:t>Trésorerie cumulée hors financement (k€), 36 mois</a:t>
            </a:r>
          </a:p>
        </c:rich>
      </c:tx>
      <c:layout/>
      <c:overlay val="0"/>
    </c:title>
    <c:autoTitleDeleted val="0"/>
    <c:plotArea>
      <c:layout/>
      <c:lineChart>
        <c:varyColors val="0"/>
        <c:ser>
          <c:idx val="0"/>
          <c:order val="0"/>
          <c:tx>
            <c:strRef>
              <c:f>Sheet1!$B$1</c:f>
              <c:strCache>
                <c:ptCount val="1"/>
                <c:pt idx="0">
                  <c:v>Prudent</c:v>
                </c:pt>
              </c:strCache>
            </c:strRef>
          </c:tx>
          <c:spPr>
            <a:solidFill>
              <a:srgbClr val="8A8178"/>
            </a:solidFill>
            <a:ln w="28575" cap="flat">
              <a:solidFill>
                <a:srgbClr val="8A817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8178"/>
              </a:solidFill>
              <a:ln w="9525" cap="flat">
                <a:solidFill>
                  <a:srgbClr val="8A8178"/>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Sheet1!$B$2:$B$37</c:f>
              <c:numCache>
                <c:formatCode>General</c:formatCode>
                <c:ptCount val="36"/>
                <c:pt idx="0">
                  <c:v>-12.8</c:v>
                </c:pt>
                <c:pt idx="1">
                  <c:v>-25.6</c:v>
                </c:pt>
                <c:pt idx="2">
                  <c:v>-35.3</c:v>
                </c:pt>
                <c:pt idx="3">
                  <c:v>-45.1</c:v>
                </c:pt>
                <c:pt idx="4">
                  <c:v>-55</c:v>
                </c:pt>
                <c:pt idx="5">
                  <c:v>-64.9</c:v>
                </c:pt>
                <c:pt idx="6">
                  <c:v>-74.8</c:v>
                </c:pt>
                <c:pt idx="7">
                  <c:v>-84.8</c:v>
                </c:pt>
                <c:pt idx="8">
                  <c:v>-94.8</c:v>
                </c:pt>
                <c:pt idx="9">
                  <c:v>-103.9</c:v>
                </c:pt>
                <c:pt idx="10">
                  <c:v>-104.9</c:v>
                </c:pt>
                <c:pt idx="11">
                  <c:v>-107.2</c:v>
                </c:pt>
                <c:pt idx="12">
                  <c:v>-123.4</c:v>
                </c:pt>
                <c:pt idx="13">
                  <c:v>-138</c:v>
                </c:pt>
                <c:pt idx="14">
                  <c:v>-151.8</c:v>
                </c:pt>
                <c:pt idx="15">
                  <c:v>-169.4</c:v>
                </c:pt>
                <c:pt idx="16">
                  <c:v>-186.2</c:v>
                </c:pt>
                <c:pt idx="17">
                  <c:v>-202.3</c:v>
                </c:pt>
                <c:pt idx="18">
                  <c:v>-217.7</c:v>
                </c:pt>
                <c:pt idx="19">
                  <c:v>-232.5</c:v>
                </c:pt>
                <c:pt idx="20">
                  <c:v>-246.7</c:v>
                </c:pt>
                <c:pt idx="21">
                  <c:v>-268.4</c:v>
                </c:pt>
                <c:pt idx="22">
                  <c:v>-279.9</c:v>
                </c:pt>
                <c:pt idx="23">
                  <c:v>-299</c:v>
                </c:pt>
                <c:pt idx="24">
                  <c:v>-322.5</c:v>
                </c:pt>
                <c:pt idx="25">
                  <c:v>-343.4</c:v>
                </c:pt>
                <c:pt idx="26">
                  <c:v>-362.9</c:v>
                </c:pt>
                <c:pt idx="27">
                  <c:v>-381.3</c:v>
                </c:pt>
                <c:pt idx="28">
                  <c:v>-398.5</c:v>
                </c:pt>
                <c:pt idx="29">
                  <c:v>-414.5</c:v>
                </c:pt>
                <c:pt idx="30">
                  <c:v>-429.6</c:v>
                </c:pt>
                <c:pt idx="31">
                  <c:v>-443.5</c:v>
                </c:pt>
                <c:pt idx="32">
                  <c:v>-456.6</c:v>
                </c:pt>
                <c:pt idx="33">
                  <c:v>-476.7</c:v>
                </c:pt>
                <c:pt idx="34">
                  <c:v>-486.4</c:v>
                </c:pt>
                <c:pt idx="35">
                  <c:v>-496.8</c:v>
                </c:pt>
              </c:numCache>
            </c:numRef>
          </c:val>
          <c:smooth val="0"/>
        </c:ser>
        <c:ser>
          <c:idx val="1"/>
          <c:order val="1"/>
          <c:tx>
            <c:strRef>
              <c:f>Sheet1!$C$1</c:f>
              <c:strCache>
                <c:ptCount val="1"/>
                <c:pt idx="0">
                  <c:v>Central</c:v>
                </c:pt>
              </c:strCache>
            </c:strRef>
          </c:tx>
          <c:spPr>
            <a:solidFill>
              <a:srgbClr val="F0916A"/>
            </a:solidFill>
            <a:ln w="28575" cap="flat">
              <a:solidFill>
                <a:srgbClr val="F091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0916A"/>
              </a:solidFill>
              <a:ln w="9525" cap="flat">
                <a:solidFill>
                  <a:srgbClr val="F0916A"/>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Sheet1!$C$2:$C$37</c:f>
              <c:numCache>
                <c:formatCode>General</c:formatCode>
                <c:ptCount val="36"/>
                <c:pt idx="0">
                  <c:v>-14.3</c:v>
                </c:pt>
                <c:pt idx="1">
                  <c:v>-28.3</c:v>
                </c:pt>
                <c:pt idx="2">
                  <c:v>-38.7</c:v>
                </c:pt>
                <c:pt idx="3">
                  <c:v>-49.7</c:v>
                </c:pt>
                <c:pt idx="4">
                  <c:v>-60.7</c:v>
                </c:pt>
                <c:pt idx="5">
                  <c:v>-71.8</c:v>
                </c:pt>
                <c:pt idx="6">
                  <c:v>-78</c:v>
                </c:pt>
                <c:pt idx="7">
                  <c:v>-79</c:v>
                </c:pt>
                <c:pt idx="8">
                  <c:v>-80.1</c:v>
                </c:pt>
                <c:pt idx="9">
                  <c:v>-80.2</c:v>
                </c:pt>
                <c:pt idx="10">
                  <c:v>-79.5</c:v>
                </c:pt>
                <c:pt idx="11">
                  <c:v>-77.8</c:v>
                </c:pt>
                <c:pt idx="12">
                  <c:v>-94</c:v>
                </c:pt>
                <c:pt idx="13">
                  <c:v>-105.7</c:v>
                </c:pt>
                <c:pt idx="14">
                  <c:v>-114.4</c:v>
                </c:pt>
                <c:pt idx="15">
                  <c:v>-120</c:v>
                </c:pt>
                <c:pt idx="16">
                  <c:v>-122.6</c:v>
                </c:pt>
                <c:pt idx="17">
                  <c:v>-122.2</c:v>
                </c:pt>
                <c:pt idx="18">
                  <c:v>-130.3</c:v>
                </c:pt>
                <c:pt idx="19">
                  <c:v>-129.5</c:v>
                </c:pt>
                <c:pt idx="20">
                  <c:v>-126.8</c:v>
                </c:pt>
                <c:pt idx="21">
                  <c:v>-121.2</c:v>
                </c:pt>
                <c:pt idx="22">
                  <c:v>-112.8</c:v>
                </c:pt>
                <c:pt idx="23">
                  <c:v>-101.6</c:v>
                </c:pt>
                <c:pt idx="24">
                  <c:v>-96.8</c:v>
                </c:pt>
                <c:pt idx="25">
                  <c:v>-81.6</c:v>
                </c:pt>
                <c:pt idx="26">
                  <c:v>-58.9</c:v>
                </c:pt>
                <c:pt idx="27">
                  <c:v>-28.8</c:v>
                </c:pt>
                <c:pt idx="28">
                  <c:v>8.6</c:v>
                </c:pt>
                <c:pt idx="29">
                  <c:v>53.2</c:v>
                </c:pt>
                <c:pt idx="30">
                  <c:v>99.9</c:v>
                </c:pt>
                <c:pt idx="31">
                  <c:v>159.7</c:v>
                </c:pt>
                <c:pt idx="32">
                  <c:v>225.5</c:v>
                </c:pt>
                <c:pt idx="33">
                  <c:v>298.2</c:v>
                </c:pt>
                <c:pt idx="34">
                  <c:v>377.8</c:v>
                </c:pt>
                <c:pt idx="35">
                  <c:v>464.2</c:v>
                </c:pt>
              </c:numCache>
            </c:numRef>
          </c:val>
          <c:smooth val="0"/>
        </c:ser>
        <c:ser>
          <c:idx val="2"/>
          <c:order val="2"/>
          <c:tx>
            <c:strRef>
              <c:f>Sheet1!$D$1</c:f>
              <c:strCache>
                <c:ptCount val="1"/>
                <c:pt idx="0">
                  <c:v>Ambitieux</c:v>
                </c:pt>
              </c:strCache>
            </c:strRef>
          </c:tx>
          <c:spPr>
            <a:solidFill>
              <a:srgbClr val="6B8F7A"/>
            </a:solidFill>
            <a:ln w="28575" cap="flat">
              <a:solidFill>
                <a:srgbClr val="6B8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8F7A"/>
              </a:solidFill>
              <a:ln w="9525" cap="flat">
                <a:solidFill>
                  <a:srgbClr val="6B8F7A"/>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Sheet1!$D$2:$D$37</c:f>
              <c:numCache>
                <c:formatCode>General</c:formatCode>
                <c:ptCount val="36"/>
                <c:pt idx="0">
                  <c:v>-13.5</c:v>
                </c:pt>
                <c:pt idx="1">
                  <c:v>-26.8</c:v>
                </c:pt>
                <c:pt idx="2">
                  <c:v>-36.4</c:v>
                </c:pt>
                <c:pt idx="3">
                  <c:v>-46.7</c:v>
                </c:pt>
                <c:pt idx="4">
                  <c:v>-57</c:v>
                </c:pt>
                <c:pt idx="5">
                  <c:v>-61.4</c:v>
                </c:pt>
                <c:pt idx="6">
                  <c:v>-61.6</c:v>
                </c:pt>
                <c:pt idx="7">
                  <c:v>-60.3</c:v>
                </c:pt>
                <c:pt idx="8">
                  <c:v>-56.9</c:v>
                </c:pt>
                <c:pt idx="9">
                  <c:v>-56</c:v>
                </c:pt>
                <c:pt idx="10">
                  <c:v>-53.1</c:v>
                </c:pt>
                <c:pt idx="11">
                  <c:v>-48.2</c:v>
                </c:pt>
                <c:pt idx="12">
                  <c:v>-54.3</c:v>
                </c:pt>
                <c:pt idx="13">
                  <c:v>-59.2</c:v>
                </c:pt>
                <c:pt idx="14">
                  <c:v>-58</c:v>
                </c:pt>
                <c:pt idx="15">
                  <c:v>-50.7</c:v>
                </c:pt>
                <c:pt idx="16">
                  <c:v>-37.2</c:v>
                </c:pt>
                <c:pt idx="17">
                  <c:v>-20.7</c:v>
                </c:pt>
                <c:pt idx="18">
                  <c:v>5.6</c:v>
                </c:pt>
                <c:pt idx="19">
                  <c:v>37.4</c:v>
                </c:pt>
                <c:pt idx="20">
                  <c:v>75.2</c:v>
                </c:pt>
                <c:pt idx="21">
                  <c:v>119.2</c:v>
                </c:pt>
                <c:pt idx="22">
                  <c:v>169.4</c:v>
                </c:pt>
                <c:pt idx="23">
                  <c:v>225.6</c:v>
                </c:pt>
                <c:pt idx="24">
                  <c:v>282.9</c:v>
                </c:pt>
                <c:pt idx="25">
                  <c:v>355.5</c:v>
                </c:pt>
                <c:pt idx="26">
                  <c:v>440.9</c:v>
                </c:pt>
                <c:pt idx="27">
                  <c:v>539</c:v>
                </c:pt>
                <c:pt idx="28">
                  <c:v>649.8</c:v>
                </c:pt>
                <c:pt idx="29">
                  <c:v>770.4</c:v>
                </c:pt>
                <c:pt idx="30">
                  <c:v>907.3</c:v>
                </c:pt>
                <c:pt idx="31">
                  <c:v>1056.3</c:v>
                </c:pt>
                <c:pt idx="32">
                  <c:v>1218.1</c:v>
                </c:pt>
                <c:pt idx="33">
                  <c:v>1392.6</c:v>
                </c:pt>
                <c:pt idx="34">
                  <c:v>1579.9</c:v>
                </c:pt>
                <c:pt idx="35">
                  <c:v>1779.9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6350" cap="flat">
              <a:solidFill>
                <a:srgbClr val="E4DDD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01C1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01C19"/>
                </a:solidFill>
                <a:latin typeface="+mn-lt"/>
              </a:defRPr>
            </a:pPr>
            <a:r>
              <a:rPr sz="1050" b="0" i="0" u="none" strike="noStrike">
                <a:solidFill>
                  <a:srgbClr val="201C19"/>
                </a:solidFill>
                <a:latin typeface="+mn-lt"/>
              </a:rPr>
              <a:t>Besoin de financement : écart du point bas (k€)</a:t>
            </a:r>
          </a:p>
        </c:rich>
      </c:tx>
      <c:layout/>
      <c:overlay val="0"/>
    </c:title>
    <c:autoTitleDeleted val="0"/>
    <c:plotArea>
      <c:layout/>
      <c:barChart>
        <c:barDir val="bar"/>
        <c:grouping val="clustered"/>
        <c:varyColors val="0"/>
        <c:ser>
          <c:idx val="0"/>
          <c:order val="0"/>
          <c:tx>
            <c:strRef>
              <c:f>Sheet1!$B$1</c:f>
              <c:strCache>
                <c:ptCount val="1"/>
                <c:pt idx="0">
                  <c:v>Écart du point bas vs Central (k€)</c:v>
                </c:pt>
              </c:strCache>
            </c:strRef>
          </c:tx>
          <c:spPr>
            <a:solidFill>
              <a:srgbClr val="F0916A"/>
            </a:solidFill>
            <a:effectLst/>
          </c:spPr>
          <c:invertIfNegative val="0"/>
          <c:dLbls>
            <c:numFmt formatCode="+#,##0;-#,##0" sourceLinked="0"/>
            <c:txPr>
              <a:bodyPr/>
              <a:lstStyle/>
              <a:p>
                <a:pPr>
                  <a:defRPr b="0" i="0" strike="noStrike" sz="900" u="none">
                    <a:solidFill>
                      <a:srgbClr val="201C19"/>
                    </a:solidFill>
                    <a:latin typeface="+mn-lt"/>
                  </a:defRPr>
                </a:pPr>
              </a:p>
            </c:txPr>
            <c:showLegendKey val="0"/>
            <c:showVal val="1"/>
            <c:showCatName val="0"/>
            <c:showSerName val="0"/>
            <c:showPercent val="0"/>
            <c:showBubbleSize val="0"/>
            <c:showLeaderLines val="0"/>
          </c:dLbls>
          <c:dPt>
            <c:idx val="0"/>
            <c:invertIfNegative val="0"/>
            <c:bubble3D val="0"/>
            <c:spPr>
              <a:solidFill>
                <a:srgbClr val="6B8F7A"/>
              </a:solidFill>
              <a:effectLst/>
            </c:spPr>
          </c:dPt>
          <c:dPt>
            <c:idx val="1"/>
            <c:invertIfNegative val="0"/>
            <c:bubble3D val="0"/>
            <c:spPr>
              <a:solidFill>
                <a:srgbClr val="6B8F7A"/>
              </a:solidFill>
              <a:effectLst/>
            </c:spPr>
          </c:dPt>
          <c:dPt>
            <c:idx val="2"/>
            <c:invertIfNegative val="0"/>
            <c:bubble3D val="0"/>
            <c:spPr>
              <a:solidFill>
                <a:srgbClr val="6B8F7A"/>
              </a:solidFill>
              <a:effectLst/>
            </c:spPr>
          </c:dPt>
          <c:dPt>
            <c:idx val="3"/>
            <c:invertIfNegative val="0"/>
            <c:bubble3D val="0"/>
            <c:spPr>
              <a:solidFill>
                <a:srgbClr val="6B8F7A"/>
              </a:solidFill>
              <a:effectLst/>
            </c:spPr>
          </c:dPt>
          <c:dPt>
            <c:idx val="4"/>
            <c:invertIfNegative val="0"/>
            <c:bubble3D val="0"/>
            <c:spPr>
              <a:solidFill>
                <a:srgbClr val="6B8F7A"/>
              </a:solidFill>
              <a:effectLst/>
            </c:spPr>
          </c:dPt>
          <c:dPt>
            <c:idx val="5"/>
            <c:invertIfNegative val="0"/>
            <c:bubble3D val="0"/>
            <c:spPr>
              <a:solidFill>
                <a:srgbClr val="6B8F7A"/>
              </a:solidFill>
              <a:effectLst/>
            </c:spPr>
          </c:dPt>
          <c:dPt>
            <c:idx val="6"/>
            <c:invertIfNegative val="0"/>
            <c:bubble3D val="0"/>
            <c:spPr>
              <a:solidFill>
                <a:srgbClr val="6B8F7A"/>
              </a:solidFill>
              <a:effectLst/>
            </c:spPr>
          </c:dPt>
          <c:dPt>
            <c:idx val="7"/>
            <c:invertIfNegative val="0"/>
            <c:bubble3D val="0"/>
            <c:spPr>
              <a:solidFill>
                <a:srgbClr val="F0916A"/>
              </a:solidFill>
              <a:effectLst/>
            </c:spPr>
          </c:dPt>
          <c:dPt>
            <c:idx val="8"/>
            <c:invertIfNegative val="0"/>
            <c:bubble3D val="0"/>
            <c:spPr>
              <a:solidFill>
                <a:srgbClr val="F0916A"/>
              </a:solidFill>
              <a:effectLst/>
            </c:spPr>
          </c:dPt>
          <c:dPt>
            <c:idx val="9"/>
            <c:invertIfNegative val="0"/>
            <c:bubble3D val="0"/>
            <c:spPr>
              <a:solidFill>
                <a:srgbClr val="F0916A"/>
              </a:solidFill>
              <a:effectLst/>
            </c:spPr>
          </c:dPt>
          <c:dPt>
            <c:idx val="10"/>
            <c:invertIfNegative val="0"/>
            <c:bubble3D val="0"/>
            <c:spPr>
              <a:solidFill>
                <a:srgbClr val="F0916A"/>
              </a:solidFill>
              <a:effectLst/>
            </c:spPr>
          </c:dPt>
          <c:cat>
            <c:multiLvlStrRef>
              <c:f>Sheet1!$A$2:$A$12</c:f>
              <c:multiLvlStrCache>
                <c:ptCount val="11"/>
                <c:lvl>
                  <c:pt idx="0">
                    <c:v>CAC 240 €</c:v>
                  </c:pt>
                  <c:pt idx="1">
                    <c:v>Prix −20 %</c:v>
                  </c:pt>
                  <c:pt idx="2">
                    <c:v>Coûts fixes +30 %</c:v>
                  </c:pt>
                  <c:pt idx="3">
                    <c:v>Churn 8 % (type app store)</c:v>
                  </c:pt>
                  <c:pt idx="4">
                    <c:v>Lancement +3 mois</c:v>
                  </c:pt>
                  <c:pt idx="5">
                    <c:v>Coût IA +67 %</c:v>
                  </c:pt>
                  <c:pt idx="6">
                    <c:v>Churn 5 %</c:v>
                  </c:pt>
                  <c:pt idx="7">
                    <c:v>Churn 2 %</c:v>
                  </c:pt>
                  <c:pt idx="8">
                    <c:v>Coût IA −33 %</c:v>
                  </c:pt>
                  <c:pt idx="9">
                    <c:v>Prix +20 %</c:v>
                  </c:pt>
                  <c:pt idx="10">
                    <c:v>CAC 105 €</c:v>
                  </c:pt>
                </c:lvl>
              </c:multiLvlStrCache>
            </c:multiLvlStrRef>
          </c:cat>
          <c:val>
            <c:numRef>
              <c:f>Sheet1!$B$2:$B$12</c:f>
              <c:numCache>
                <c:formatCode>General</c:formatCode>
                <c:ptCount val="11"/>
                <c:pt idx="0">
                  <c:v>-119</c:v>
                </c:pt>
                <c:pt idx="1">
                  <c:v>-64</c:v>
                </c:pt>
                <c:pt idx="2">
                  <c:v>-57</c:v>
                </c:pt>
                <c:pt idx="3">
                  <c:v>-48</c:v>
                </c:pt>
                <c:pt idx="4">
                  <c:v>-23</c:v>
                </c:pt>
                <c:pt idx="5">
                  <c:v>-21</c:v>
                </c:pt>
                <c:pt idx="6">
                  <c:v>-13</c:v>
                </c:pt>
                <c:pt idx="7">
                  <c:v>5</c:v>
                </c:pt>
                <c:pt idx="8">
                  <c:v>9</c:v>
                </c:pt>
                <c:pt idx="9">
                  <c:v>31</c:v>
                </c:pt>
                <c:pt idx="10">
                  <c:v>41</c:v>
                </c:pt>
              </c:numCache>
            </c:numRef>
          </c:val>
        </c:ser>
        <c:dLbls>
          <c:numFmt formatCode="+#,##0;-#,##0" sourceLinked="0"/>
          <c:txPr>
            <a:bodyPr/>
            <a:lstStyle/>
            <a:p>
              <a:pPr>
                <a:defRPr b="0" i="0" strike="noStrike" sz="900" u="none">
                  <a:solidFill>
                    <a:srgbClr val="201C1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01C19"/>
                </a:solidFill>
                <a:latin typeface="+mn-lt"/>
              </a:defRPr>
            </a:pPr>
            <a:endParaRPr lang="en-US"/>
          </a:p>
        </c:txPr>
        <c:crossAx val="2094734552"/>
        <c:crosses val="autoZero"/>
        <c:auto val="1"/>
        <c:lblAlgn val="ctr"/>
        <c:noMultiLvlLbl val="1"/>
      </c:catAx>
      <c:valAx>
        <c:axId val="2094734552"/>
        <c:scaling>
          <c:orientation val="minMax"/>
          <c:max val="70"/>
          <c:min val="-170"/>
        </c:scaling>
        <c:delete val="0"/>
        <c:axPos val="b"/>
        <c:majorGridlines>
          <c:spPr>
            <a:ln w="6350" cap="flat">
              <a:solidFill>
                <a:srgbClr val="E4DDD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01C19"/>
                </a:solidFill>
                <a:latin typeface="+mn-lt"/>
              </a:defRPr>
            </a:pPr>
            <a:r>
              <a:rPr sz="1050" b="0" i="0" u="none" strike="noStrike">
                <a:solidFill>
                  <a:srgbClr val="201C19"/>
                </a:solidFill>
                <a:latin typeface="+mn-lt"/>
              </a:rPr>
              <a:t>Valeur à trois ans : écart de trésorerie fin A3 (k€)</a:t>
            </a:r>
          </a:p>
        </c:rich>
      </c:tx>
      <c:layout/>
      <c:overlay val="0"/>
    </c:title>
    <c:autoTitleDeleted val="0"/>
    <c:plotArea>
      <c:layout/>
      <c:barChart>
        <c:barDir val="bar"/>
        <c:grouping val="clustered"/>
        <c:varyColors val="0"/>
        <c:ser>
          <c:idx val="0"/>
          <c:order val="0"/>
          <c:tx>
            <c:strRef>
              <c:f>Sheet1!$B$1</c:f>
              <c:strCache>
                <c:ptCount val="1"/>
                <c:pt idx="0">
                  <c:v>Écart de trésorerie fin A3 vs Central (k€)</c:v>
                </c:pt>
              </c:strCache>
            </c:strRef>
          </c:tx>
          <c:spPr>
            <a:solidFill>
              <a:srgbClr val="F0916A"/>
            </a:solidFill>
            <a:effectLst/>
          </c:spPr>
          <c:invertIfNegative val="0"/>
          <c:dLbls>
            <c:numFmt formatCode="+#,##0;-#,##0" sourceLinked="0"/>
            <c:txPr>
              <a:bodyPr/>
              <a:lstStyle/>
              <a:p>
                <a:pPr>
                  <a:defRPr b="0" i="0" strike="noStrike" sz="900" u="none">
                    <a:solidFill>
                      <a:srgbClr val="201C19"/>
                    </a:solidFill>
                    <a:latin typeface="+mn-lt"/>
                  </a:defRPr>
                </a:pPr>
              </a:p>
            </c:txPr>
            <c:showLegendKey val="0"/>
            <c:showVal val="1"/>
            <c:showCatName val="0"/>
            <c:showSerName val="0"/>
            <c:showPercent val="0"/>
            <c:showBubbleSize val="0"/>
            <c:showLeaderLines val="0"/>
          </c:dLbls>
          <c:dPt>
            <c:idx val="0"/>
            <c:invertIfNegative val="0"/>
            <c:bubble3D val="0"/>
            <c:spPr>
              <a:solidFill>
                <a:srgbClr val="6B8F7A"/>
              </a:solidFill>
              <a:effectLst/>
            </c:spPr>
          </c:dPt>
          <c:dPt>
            <c:idx val="1"/>
            <c:invertIfNegative val="0"/>
            <c:bubble3D val="0"/>
            <c:spPr>
              <a:solidFill>
                <a:srgbClr val="6B8F7A"/>
              </a:solidFill>
              <a:effectLst/>
            </c:spPr>
          </c:dPt>
          <c:dPt>
            <c:idx val="2"/>
            <c:invertIfNegative val="0"/>
            <c:bubble3D val="0"/>
            <c:spPr>
              <a:solidFill>
                <a:srgbClr val="6B8F7A"/>
              </a:solidFill>
              <a:effectLst/>
            </c:spPr>
          </c:dPt>
          <c:dPt>
            <c:idx val="3"/>
            <c:invertIfNegative val="0"/>
            <c:bubble3D val="0"/>
            <c:spPr>
              <a:solidFill>
                <a:srgbClr val="6B8F7A"/>
              </a:solidFill>
              <a:effectLst/>
            </c:spPr>
          </c:dPt>
          <c:dPt>
            <c:idx val="4"/>
            <c:invertIfNegative val="0"/>
            <c:bubble3D val="0"/>
            <c:spPr>
              <a:solidFill>
                <a:srgbClr val="6B8F7A"/>
              </a:solidFill>
              <a:effectLst/>
            </c:spPr>
          </c:dPt>
          <c:dPt>
            <c:idx val="5"/>
            <c:invertIfNegative val="0"/>
            <c:bubble3D val="0"/>
            <c:spPr>
              <a:solidFill>
                <a:srgbClr val="6B8F7A"/>
              </a:solidFill>
              <a:effectLst/>
            </c:spPr>
          </c:dPt>
          <c:dPt>
            <c:idx val="6"/>
            <c:invertIfNegative val="0"/>
            <c:bubble3D val="0"/>
            <c:spPr>
              <a:solidFill>
                <a:srgbClr val="6B8F7A"/>
              </a:solidFill>
              <a:effectLst/>
            </c:spPr>
          </c:dPt>
          <c:dPt>
            <c:idx val="7"/>
            <c:invertIfNegative val="0"/>
            <c:bubble3D val="0"/>
            <c:spPr>
              <a:solidFill>
                <a:srgbClr val="F0916A"/>
              </a:solidFill>
              <a:effectLst/>
            </c:spPr>
          </c:dPt>
          <c:dPt>
            <c:idx val="8"/>
            <c:invertIfNegative val="0"/>
            <c:bubble3D val="0"/>
            <c:spPr>
              <a:solidFill>
                <a:srgbClr val="F0916A"/>
              </a:solidFill>
              <a:effectLst/>
            </c:spPr>
          </c:dPt>
          <c:dPt>
            <c:idx val="9"/>
            <c:invertIfNegative val="0"/>
            <c:bubble3D val="0"/>
            <c:spPr>
              <a:solidFill>
                <a:srgbClr val="F0916A"/>
              </a:solidFill>
              <a:effectLst/>
            </c:spPr>
          </c:dPt>
          <c:dPt>
            <c:idx val="10"/>
            <c:invertIfNegative val="0"/>
            <c:bubble3D val="0"/>
            <c:spPr>
              <a:solidFill>
                <a:srgbClr val="F0916A"/>
              </a:solidFill>
              <a:effectLst/>
            </c:spPr>
          </c:dPt>
          <c:cat>
            <c:multiLvlStrRef>
              <c:f>Sheet1!$A$2:$A$12</c:f>
              <c:multiLvlStrCache>
                <c:ptCount val="11"/>
                <c:lvl>
                  <c:pt idx="0">
                    <c:v>CAC 240 €</c:v>
                  </c:pt>
                  <c:pt idx="1">
                    <c:v>Churn 8 % (type app store)</c:v>
                  </c:pt>
                  <c:pt idx="2">
                    <c:v>Prix −20 %</c:v>
                  </c:pt>
                  <c:pt idx="3">
                    <c:v>Churn 5 %</c:v>
                  </c:pt>
                  <c:pt idx="4">
                    <c:v>Coûts fixes +30 %</c:v>
                  </c:pt>
                  <c:pt idx="5">
                    <c:v>Coût IA +67 %</c:v>
                  </c:pt>
                  <c:pt idx="6">
                    <c:v>Lancement +3 mois</c:v>
                  </c:pt>
                  <c:pt idx="7">
                    <c:v>Coût IA −33 %</c:v>
                  </c:pt>
                  <c:pt idx="8">
                    <c:v>Churn 2 %</c:v>
                  </c:pt>
                  <c:pt idx="9">
                    <c:v>Prix +20 %</c:v>
                  </c:pt>
                  <c:pt idx="10">
                    <c:v>CAC 105 €</c:v>
                  </c:pt>
                </c:lvl>
              </c:multiLvlStrCache>
            </c:multiLvlStrRef>
          </c:cat>
          <c:val>
            <c:numRef>
              <c:f>Sheet1!$B$2:$B$12</c:f>
              <c:numCache>
                <c:formatCode>General</c:formatCode>
                <c:ptCount val="11"/>
                <c:pt idx="0">
                  <c:v>-532</c:v>
                </c:pt>
                <c:pt idx="1">
                  <c:v>-391</c:v>
                </c:pt>
                <c:pt idx="2">
                  <c:v>-356</c:v>
                </c:pt>
                <c:pt idx="3">
                  <c:v>-182</c:v>
                </c:pt>
                <c:pt idx="4">
                  <c:v>-165</c:v>
                </c:pt>
                <c:pt idx="5">
                  <c:v>-156</c:v>
                </c:pt>
                <c:pt idx="6">
                  <c:v>-64</c:v>
                </c:pt>
                <c:pt idx="7">
                  <c:v>78</c:v>
                </c:pt>
                <c:pt idx="8">
                  <c:v>108</c:v>
                </c:pt>
                <c:pt idx="9">
                  <c:v>356</c:v>
                </c:pt>
                <c:pt idx="10">
                  <c:v>608</c:v>
                </c:pt>
              </c:numCache>
            </c:numRef>
          </c:val>
        </c:ser>
        <c:dLbls>
          <c:numFmt formatCode="+#,##0;-#,##0" sourceLinked="0"/>
          <c:txPr>
            <a:bodyPr/>
            <a:lstStyle/>
            <a:p>
              <a:pPr>
                <a:defRPr b="0" i="0" strike="noStrike" sz="900" u="none">
                  <a:solidFill>
                    <a:srgbClr val="201C1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01C19"/>
                </a:solidFill>
                <a:latin typeface="+mn-lt"/>
              </a:defRPr>
            </a:pPr>
            <a:endParaRPr lang="en-US"/>
          </a:p>
        </c:txPr>
        <c:crossAx val="2094734552"/>
        <c:crosses val="autoZero"/>
        <c:auto val="1"/>
        <c:lblAlgn val="ctr"/>
        <c:noMultiLvlLbl val="1"/>
      </c:catAx>
      <c:valAx>
        <c:axId val="2094734552"/>
        <c:scaling>
          <c:orientation val="minMax"/>
          <c:max val="750"/>
          <c:min val="-750"/>
        </c:scaling>
        <c:delete val="0"/>
        <c:axPos val="b"/>
        <c:majorGridlines>
          <c:spPr>
            <a:ln w="6350" cap="flat">
              <a:solidFill>
                <a:srgbClr val="E4DDD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81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de décision pour le Board Helium. Le CEO présente ; les six fondateurs décident. Tout chiffre est une hypothèse sauf mention « fait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décision : énoncé, recommandation, justification, risques, ce qui changerait l'avis. Les six fondateurs décident ; le CEO recommande.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2 FINANCE/PREVISIONS/2026 1027 Registre des hypotheses Finance.md, H01 à H08. Le dépôt est de bonne qualité ; il manque simplement des faits.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Descendant : 7,3 M × 64,5 % × 54 % × 43 % ≈ 1,1 M. Ascendant : 1,1 M × 79 € × 12 ≈ 1 Md€ TTC théorique ; le scénario central en représente 0,24 %. Les deux inconnues sont la conversion et la rétention à 79 €.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douleur correspond à une mission du MVP et à un argument de vente. Les entretiens (guide, parties B à D) doivent confirmer les trois premières.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de prix (module 09) : plancher ~26 € TTC hors coûts fixes, plafond 200 à 400 € si 2 h par semaine sont réellement gagnées, référence 20 €. Prix à tester à 59 / 79 / 99 €.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05 : stratégie révélée, contraintes, asymétrie. Pas de matrice de fonctionnalités : elle ne dit pas qui gagne.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16 : trois rounds, la réponse inattaquable, la liste de déclencheurs. Un red team interne (Steve) est chargé de défaire le plan avant J+30.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06 : la segmentation est valide si les segments diffèrent en consentement à payer, coût de service ou rétention. Les deux premiers diffèrent sur les trois.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 automatique (lecture et rappel à l'utilisateur seul), C = confirmation avant toute action visible par un tiers. Paiements, signatures, démarches officielles : exclus (X). Source : 5 PRODUIT/Contribution marketing au cadrage MVP ; charte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complet V3 dans le document modèle d'affaires, §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entrées sont des hypothèses (H01, H03, H04, H05). Le coût par mission est la variable à mesurer en premier : missions 1 et 5 bornent l'économie.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financier V1, onglets Modèle et Synthèse. Trésorerie hors financement ; TVA nette réglée le mois suivant ; fondateurs non rémunérés M1 à M12.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churn pèse peu sur le point bas (il survient tôt) mais retire 180 k€ de trésorerie à trois ans à 5 %, et 390 k€ à 8 % (type app store) : c'est la variable de la valeur, pas du financement.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 quatre options minimum dont ne rien faire, une que personne n'avait proposée (E), le finaliste nommé et la raison de sa défaite.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Calendrier : J0 lundi 3 novembre 2026, J+90 le 1er février 2027. Entretiens avant le 19 décembre. Coûts = estimations.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Détail dans le document modèle d'affaires,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15 : variance → marge, incertitude → engagement par étapes, ignorance → réversibilité et boucles courtes.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Revue complète et versions V2 dans PRODUCTIONS ASSISTANTS. Les V2 n'entrent dans 7 JURIDIQUE RH que par décision de Tiffany. Légifrance à relire avant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à prendre par : le Board Helium, Malik présidant.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01C19"/>
        </a:solidFill>
      </p:bgPr>
    </p:bg>
    <p:spTree>
      <p:nvGrpSpPr>
        <p:cNvPr id="1" name=""/>
        <p:cNvGrpSpPr/>
        <p:nvPr/>
      </p:nvGrpSpPr>
      <p:grpSpPr>
        <a:xfrm>
          <a:off x="0" y="0"/>
          <a:ext cx="0" cy="0"/>
          <a:chOff x="0" y="0"/>
          <a:chExt cx="0" cy="0"/>
        </a:xfrm>
      </p:grpSpPr>
      <p:pic>
        <p:nvPicPr>
          <p:cNvPr id="2" name="Image 0" descr="/home/claude/helium-work/out/brand/wordmark_chalk.png">    </p:cNvPr>
          <p:cNvPicPr>
            <a:picLocks noChangeAspect="1"/>
          </p:cNvPicPr>
          <p:nvPr/>
        </p:nvPicPr>
        <p:blipFill>
          <a:blip r:embed="rId1"/>
          <a:stretch>
            <a:fillRect/>
          </a:stretch>
        </p:blipFill>
        <p:spPr>
          <a:xfrm>
            <a:off x="731520" y="640080"/>
            <a:ext cx="2194560" cy="786384"/>
          </a:xfrm>
          <a:prstGeom prst="rect">
            <a:avLst/>
          </a:prstGeom>
        </p:spPr>
      </p:pic>
      <p:sp>
        <p:nvSpPr>
          <p:cNvPr id="3" name="Text 0"/>
          <p:cNvSpPr/>
          <p:nvPr>
            <p:ph idx="101" type="title" hasCustomPrompt="1"/>
          </p:nvPr>
        </p:nvSpPr>
        <p:spPr>
          <a:xfrm>
            <a:off x="731520" y="2377440"/>
            <a:ext cx="10515600" cy="1645920"/>
          </a:xfrm>
          <a:prstGeom prst="rect">
            <a:avLst/>
          </a:prstGeom>
          <a:noFill/>
          <a:ln/>
        </p:spPr>
        <p:txBody>
          <a:bodyPr wrap="square" rtlCol="0"/>
          <a:lstStyle>
            <a:lvl1pPr algn="l" indent="0" marL="0">
              <a:buNone/>
              <a:defRPr lang="en-US" sz="4000" dirty="0">
                <a:solidFill>
                  <a:srgbClr val="F7F3EC"/>
                </a:solidFill>
                <a:latin typeface="Georgia" pitchFamily="34" charset="0"/>
                <a:ea typeface="Georgia" pitchFamily="34" charset="-122"/>
                <a:cs typeface="Georgia" pitchFamily="34" charset="-120"/>
              </a:defRPr>
            </a:lvl1pPr>
          </a:lstStyle>
          <a:p>
            <a:pPr algn="l" indent="0" marL="0">
              <a:buNone/>
            </a:pPr>
            <a:endParaRPr lang="en-US" sz="4000" dirty="0"/>
          </a:p>
        </p:txBody>
      </p:sp>
      <p:sp>
        <p:nvSpPr>
          <p:cNvPr id="4" name="Text 0"/>
          <p:cNvSpPr/>
          <p:nvPr>
            <p:ph idx="102" type="body" hasCustomPrompt="1"/>
          </p:nvPr>
        </p:nvSpPr>
        <p:spPr>
          <a:xfrm>
            <a:off x="731520" y="4206240"/>
            <a:ext cx="10515600" cy="1097280"/>
          </a:xfrm>
          <a:prstGeom prst="rect">
            <a:avLst/>
          </a:prstGeom>
          <a:noFill/>
          <a:ln/>
        </p:spPr>
        <p:txBody>
          <a:bodyPr wrap="square" rtlCol="0"/>
          <a:lstStyle>
            <a:lvl1pPr indent="0" marL="0">
              <a:buNone/>
              <a:defRPr lang="en-US" sz="1800" dirty="0">
                <a:solidFill>
                  <a:srgbClr val="E4DDD2"/>
                </a:solidFill>
                <a:latin typeface="Arial" pitchFamily="34" charset="0"/>
                <a:ea typeface="Arial" pitchFamily="34" charset="-122"/>
                <a:cs typeface="Arial" pitchFamily="34" charset="-120"/>
              </a:defRPr>
            </a:lvl1pPr>
          </a:lstStyle>
          <a:p>
            <a:pPr indent="0" marL="0">
              <a:buNone/>
            </a:pPr>
            <a:endParaRPr lang="en-US" sz="1800" dirty="0"/>
          </a:p>
        </p:txBody>
      </p:sp>
      <p:sp>
        <p:nvSpPr>
          <p:cNvPr id="5" name="Text 0"/>
          <p:cNvSpPr/>
          <p:nvPr/>
        </p:nvSpPr>
        <p:spPr>
          <a:xfrm>
            <a:off x="731520" y="6126480"/>
            <a:ext cx="10515600" cy="365760"/>
          </a:xfrm>
          <a:prstGeom prst="rect">
            <a:avLst/>
          </a:prstGeom>
          <a:noFill/>
          <a:ln/>
        </p:spPr>
        <p:txBody>
          <a:bodyPr wrap="square" lIns="0" tIns="0" rIns="0" bIns="0" rtlCol="0" anchor="ctr"/>
          <a:lstStyle/>
          <a:p>
            <a:pPr indent="0" marL="0">
              <a:buNone/>
            </a:pPr>
            <a:r>
              <a:rPr lang="en-US" sz="1000" dirty="0">
                <a:solidFill>
                  <a:srgbClr val="8A8178"/>
                </a:solidFill>
                <a:latin typeface="Arial" pitchFamily="34" charset="0"/>
                <a:ea typeface="Arial" pitchFamily="34" charset="-122"/>
                <a:cs typeface="Arial" pitchFamily="34" charset="-120"/>
              </a:rPr>
              <a:t>HEC GEMM Group 4  ·  27 octobre 2026  ·  Confidentiel, équipe seulement</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3EC"/>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rtlCol="0"/>
          <a:lstStyle>
            <a:lvl1pPr algn="l" indent="0" marL="0">
              <a:buNone/>
              <a:defRPr lang="en-US" sz="2400" dirty="0">
                <a:solidFill>
                  <a:srgbClr val="201C19"/>
                </a:solidFill>
                <a:latin typeface="Georgia" pitchFamily="34" charset="0"/>
                <a:ea typeface="Georgia" pitchFamily="34" charset="-122"/>
                <a:cs typeface="Georgia" pitchFamily="34" charset="-120"/>
              </a:defRPr>
            </a:lvl1pPr>
          </a:lstStyle>
          <a:p>
            <a:pPr algn="l" indent="0" marL="0">
              <a:buNone/>
            </a:pPr>
            <a:endParaRPr lang="en-US" sz="2400" dirty="0"/>
          </a:p>
        </p:txBody>
      </p:sp>
      <p:sp>
        <p:nvSpPr>
          <p:cNvPr id="3" name="Text 0"/>
          <p:cNvSpPr/>
          <p:nvPr>
            <p:ph idx="102" type="body" hasCustomPrompt="1"/>
          </p:nvPr>
        </p:nvSpPr>
        <p:spPr>
          <a:xfrm>
            <a:off x="822960" y="1463040"/>
            <a:ext cx="10789920" cy="4572000"/>
          </a:xfrm>
          <a:prstGeom prst="rect">
            <a:avLst/>
          </a:prstGeom>
          <a:noFill/>
          <a:ln/>
        </p:spPr>
        <p:txBody>
          <a:bodyPr wrap="square" rtlCol="0"/>
          <a:lstStyle>
            <a:lvl1pPr indent="0" marL="0">
              <a:buNone/>
              <a:defRPr lang="en-US" sz="1400" dirty="0">
                <a:solidFill>
                  <a:srgbClr val="201C19"/>
                </a:solidFill>
                <a:latin typeface="Arial" pitchFamily="34" charset="0"/>
                <a:ea typeface="Arial" pitchFamily="34" charset="-122"/>
                <a:cs typeface="Arial" pitchFamily="34" charset="-120"/>
              </a:defRPr>
            </a:lvl1pPr>
          </a:lstStyle>
          <a:p>
            <a:pPr indent="0" marL="0">
              <a:buNone/>
            </a:pPr>
            <a:endParaRPr lang="en-US" sz="1400" dirty="0"/>
          </a:p>
        </p:txBody>
      </p:sp>
      <p:sp>
        <p:nvSpPr>
          <p:cNvPr id="4" name="Text 0"/>
          <p:cNvSpPr/>
          <p:nvPr/>
        </p:nvSpPr>
        <p:spPr>
          <a:xfrm>
            <a:off x="822960" y="6400800"/>
            <a:ext cx="9601200" cy="274320"/>
          </a:xfrm>
          <a:prstGeom prst="rect">
            <a:avLst/>
          </a:prstGeom>
          <a:noFill/>
          <a:ln/>
        </p:spPr>
        <p:txBody>
          <a:bodyPr wrap="square" lIns="0" tIns="0" rIns="0" bIns="0" rtlCol="0" anchor="ctr"/>
          <a:lstStyle/>
          <a:p>
            <a:pPr indent="0" marL="0">
              <a:buNone/>
            </a:pPr>
            <a:r>
              <a:rPr lang="en-US" sz="900" dirty="0">
                <a:solidFill>
                  <a:srgbClr val="8A8178"/>
                </a:solidFill>
                <a:latin typeface="Arial" pitchFamily="34" charset="0"/>
                <a:ea typeface="Arial" pitchFamily="34" charset="-122"/>
                <a:cs typeface="Arial" pitchFamily="34" charset="-120"/>
              </a:rPr>
              <a:t>Helium  ·  Board  ·  27 octobre 2026  ·  Document de travail, hypothèses à valider</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01C19"/>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rtlCol="0"/>
          <a:lstStyle>
            <a:lvl1pPr algn="l" indent="0" marL="0">
              <a:buNone/>
              <a:defRPr lang="en-US" sz="2400" dirty="0">
                <a:solidFill>
                  <a:srgbClr val="F7F3EC"/>
                </a:solidFill>
                <a:latin typeface="Georgia" pitchFamily="34" charset="0"/>
                <a:ea typeface="Georgia" pitchFamily="34" charset="-122"/>
                <a:cs typeface="Georgia" pitchFamily="34" charset="-120"/>
              </a:defRPr>
            </a:lvl1pPr>
          </a:lstStyle>
          <a:p>
            <a:pPr algn="l" indent="0" marL="0">
              <a:buNone/>
            </a:pPr>
            <a:endParaRPr lang="en-US" sz="2400" dirty="0"/>
          </a:p>
        </p:txBody>
      </p:sp>
      <p:sp>
        <p:nvSpPr>
          <p:cNvPr id="3" name="Text 0"/>
          <p:cNvSpPr/>
          <p:nvPr>
            <p:ph idx="102" type="body" hasCustomPrompt="1"/>
          </p:nvPr>
        </p:nvSpPr>
        <p:spPr>
          <a:xfrm>
            <a:off x="822960" y="1463040"/>
            <a:ext cx="10789920" cy="4572000"/>
          </a:xfrm>
          <a:prstGeom prst="rect">
            <a:avLst/>
          </a:prstGeom>
          <a:noFill/>
          <a:ln/>
        </p:spPr>
        <p:txBody>
          <a:bodyPr wrap="square" rtlCol="0"/>
          <a:lstStyle>
            <a:lvl1pPr indent="0" marL="0">
              <a:buNone/>
              <a:defRPr lang="en-US" sz="1400" dirty="0">
                <a:solidFill>
                  <a:srgbClr val="F7F3EC"/>
                </a:solidFill>
                <a:latin typeface="Arial" pitchFamily="34" charset="0"/>
                <a:ea typeface="Arial" pitchFamily="34" charset="-122"/>
                <a:cs typeface="Arial" pitchFamily="34" charset="-120"/>
              </a:defRPr>
            </a:lvl1pPr>
          </a:lstStyle>
          <a:p>
            <a:pPr indent="0" marL="0">
              <a:buNone/>
            </a:pPr>
            <a:endParaRPr lang="en-US" sz="1400" dirty="0"/>
          </a:p>
        </p:txBody>
      </p:sp>
      <p:sp>
        <p:nvSpPr>
          <p:cNvPr id="4" name="Text 0"/>
          <p:cNvSpPr/>
          <p:nvPr/>
        </p:nvSpPr>
        <p:spPr>
          <a:xfrm>
            <a:off x="822960" y="6400800"/>
            <a:ext cx="9601200" cy="274320"/>
          </a:xfrm>
          <a:prstGeom prst="rect">
            <a:avLst/>
          </a:prstGeom>
          <a:noFill/>
          <a:ln/>
        </p:spPr>
        <p:txBody>
          <a:bodyPr wrap="square" lIns="0" tIns="0" rIns="0" bIns="0" rtlCol="0" anchor="ctr"/>
          <a:lstStyle/>
          <a:p>
            <a:pPr indent="0" marL="0">
              <a:buNone/>
            </a:pPr>
            <a:r>
              <a:rPr lang="en-US" sz="900" dirty="0">
                <a:solidFill>
                  <a:srgbClr val="8A8178"/>
                </a:solidFill>
                <a:latin typeface="Arial" pitchFamily="34" charset="0"/>
                <a:ea typeface="Arial" pitchFamily="34" charset="-122"/>
                <a:cs typeface="Arial" pitchFamily="34" charset="-120"/>
              </a:rPr>
              <a:t>Helium  ·  Board  ·  27 octobre 2026  ·  Document de travail, hypothèses à valider</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rgbClr val="F7F3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15600" cy="1280160"/>
          </a:xfrm>
          <a:prstGeom prst="rect">
            <a:avLst/>
          </a:prstGeom>
          <a:noFill/>
          <a:ln/>
        </p:spPr>
        <p:txBody>
          <a:bodyPr wrap="square" rtlCol="0"/>
          <a:lstStyle>
            <a:lvl1pPr algn="l" indent="0" marL="0">
              <a:buNone/>
              <a:defRPr lang="en-US" sz="3600" dirty="0">
                <a:solidFill>
                  <a:srgbClr val="201C19"/>
                </a:solidFill>
                <a:latin typeface="Georgia" pitchFamily="34" charset="0"/>
                <a:ea typeface="Georgia" pitchFamily="34" charset="-122"/>
                <a:cs typeface="Georgia" pitchFamily="34" charset="-120"/>
              </a:defRPr>
            </a:lvl1pPr>
          </a:lstStyle>
          <a:p>
            <a:pPr algn="l" indent="0" marL="0">
              <a:buNone/>
            </a:pPr>
            <a:endParaRPr lang="en-US" sz="3600" dirty="0"/>
          </a:p>
        </p:txBody>
      </p:sp>
      <p:sp>
        <p:nvSpPr>
          <p:cNvPr id="3" name="Text 0"/>
          <p:cNvSpPr/>
          <p:nvPr>
            <p:ph idx="101" type="body" hasCustomPrompt="1"/>
          </p:nvPr>
        </p:nvSpPr>
        <p:spPr>
          <a:xfrm>
            <a:off x="822960" y="3931920"/>
            <a:ext cx="10515600" cy="914400"/>
          </a:xfrm>
          <a:prstGeom prst="rect">
            <a:avLst/>
          </a:prstGeom>
          <a:noFill/>
          <a:ln/>
        </p:spPr>
        <p:txBody>
          <a:bodyPr wrap="square" rtlCol="0"/>
          <a:lstStyle>
            <a:lvl1pPr indent="0" marL="0">
              <a:buNone/>
              <a:defRPr lang="en-US" sz="1600" dirty="0">
                <a:solidFill>
                  <a:srgbClr val="8A8178"/>
                </a:solidFill>
                <a:latin typeface="Arial" pitchFamily="34" charset="0"/>
                <a:ea typeface="Arial" pitchFamily="34" charset="-122"/>
                <a:cs typeface="Arial" pitchFamily="34" charset="-120"/>
              </a:defRPr>
            </a:lvl1pPr>
          </a:lstStyle>
          <a:p>
            <a:pPr indent="0" marL="0">
              <a:buNone/>
            </a:pPr>
            <a:endParaRPr lang="en-US" sz="1600" dirty="0"/>
          </a:p>
        </p:txBody>
      </p:sp>
      <p:sp>
        <p:nvSpPr>
          <p:cNvPr id="4" name="Text 0"/>
          <p:cNvSpPr/>
          <p:nvPr/>
        </p:nvSpPr>
        <p:spPr>
          <a:xfrm>
            <a:off x="822960" y="6400800"/>
            <a:ext cx="9601200" cy="274320"/>
          </a:xfrm>
          <a:prstGeom prst="rect">
            <a:avLst/>
          </a:prstGeom>
          <a:noFill/>
          <a:ln/>
        </p:spPr>
        <p:txBody>
          <a:bodyPr wrap="square" lIns="0" tIns="0" rIns="0" bIns="0" rtlCol="0" anchor="ctr"/>
          <a:lstStyle/>
          <a:p>
            <a:pPr indent="0" marL="0">
              <a:buNone/>
            </a:pPr>
            <a:r>
              <a:rPr lang="en-US" sz="900" dirty="0">
                <a:solidFill>
                  <a:srgbClr val="8A8178"/>
                </a:solidFill>
                <a:latin typeface="Arial" pitchFamily="34" charset="0"/>
                <a:ea typeface="Arial" pitchFamily="34" charset="-122"/>
                <a:cs typeface="Arial" pitchFamily="34" charset="-120"/>
              </a:rPr>
              <a:t>Helium  ·  Board  ·  27 octobre 2026  ·  Document de travail, hypothèses à valider</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31520" y="2377440"/>
            <a:ext cx="10515600" cy="1645920"/>
          </a:xfrm>
          <a:prstGeom prst="rect">
            <a:avLst/>
          </a:prstGeom>
          <a:noFill/>
          <a:ln/>
        </p:spPr>
        <p:txBody>
          <a:bodyPr wrap="square" lIns="0" tIns="0" rIns="0" bIns="0" rtlCol="0" anchor="b"/>
          <a:lstStyle/>
          <a:p>
            <a:pPr algn="l" indent="0" marL="0">
              <a:buNone/>
            </a:pPr>
            <a:r>
              <a:rPr lang="en-US" sz="4000" dirty="0">
                <a:solidFill>
                  <a:srgbClr val="F7F3EC"/>
                </a:solidFill>
                <a:latin typeface="Georgia" pitchFamily="34" charset="0"/>
                <a:ea typeface="Georgia" pitchFamily="34" charset="-122"/>
                <a:cs typeface="Georgia" pitchFamily="34" charset="-120"/>
              </a:rPr>
              <a:t>Helium : lancer un majordome IA sous contrôle</a:t>
            </a:r>
            <a:endParaRPr lang="en-US" sz="4000" dirty="0"/>
          </a:p>
        </p:txBody>
      </p:sp>
      <p:sp>
        <p:nvSpPr>
          <p:cNvPr id="3" name="Text 0"/>
          <p:cNvSpPr/>
          <p:nvPr>
            <p:ph idx="102" type="body" hasCustomPrompt="1"/>
          </p:nvPr>
        </p:nvSpPr>
        <p:spPr>
          <a:xfrm>
            <a:off x="731520" y="4206240"/>
            <a:ext cx="10515600" cy="1097280"/>
          </a:xfrm>
          <a:prstGeom prst="rect">
            <a:avLst/>
          </a:prstGeom>
          <a:noFill/>
          <a:ln/>
        </p:spPr>
        <p:txBody>
          <a:bodyPr wrap="square" lIns="0" tIns="0" rIns="0" bIns="0" rtlCol="0" anchor="t"/>
          <a:lstStyle/>
          <a:p>
            <a:pPr indent="0" marL="0">
              <a:buNone/>
            </a:pPr>
            <a:r>
              <a:rPr lang="en-US" sz="1800" dirty="0">
                <a:solidFill>
                  <a:srgbClr val="E4DDD2"/>
                </a:solidFill>
                <a:latin typeface="Arial" pitchFamily="34" charset="0"/>
                <a:ea typeface="Arial" pitchFamily="34" charset="-122"/>
                <a:cs typeface="Arial" pitchFamily="34" charset="-120"/>
              </a:rPr>
              <a:t>Modèle d'affaires, analyse de marché et décision de lancement. Board du 27 octobre 2026, préparé pour Malik (CEO)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F7F3EC"/>
                </a:solidFill>
                <a:latin typeface="Georgia" pitchFamily="34" charset="0"/>
                <a:ea typeface="Georgia" pitchFamily="34" charset="-122"/>
                <a:cs typeface="Georgia" pitchFamily="34" charset="-120"/>
              </a:rPr>
              <a:t>Décision demandée : approuver une porte d'évidence de 90 jours, pas un lancement</a:t>
            </a:r>
            <a:endParaRPr lang="en-US" sz="2400" dirty="0"/>
          </a:p>
        </p:txBody>
      </p:sp>
      <p:sp>
        <p:nvSpPr>
          <p:cNvPr id="3" name="text"/>
          <p:cNvSpPr txBox="1"/>
          <p:nvPr/>
        </p:nvSpPr>
        <p:spPr>
          <a:xfrm>
            <a:off x="822960" y="1371600"/>
            <a:ext cx="10789920" cy="1005840"/>
          </a:xfrm>
          <a:prstGeom prst="rect">
            <a:avLst/>
          </a:prstGeom>
          <a:noFill/>
          <a:ln/>
        </p:spPr>
        <p:txBody>
          <a:bodyPr wrap="square" lIns="0" tIns="0" rIns="0" bIns="0" rtlCol="0" anchor="t"/>
          <a:lstStyle/>
          <a:p>
            <a:pPr indent="0" marL="0">
              <a:buNone/>
            </a:pPr>
            <a:r>
              <a:rPr lang="en-US" sz="1700" dirty="0">
                <a:solidFill>
                  <a:srgbClr val="F7F3EC"/>
                </a:solidFill>
                <a:latin typeface="Georgia" pitchFamily="34" charset="0"/>
                <a:ea typeface="Georgia" pitchFamily="34" charset="-122"/>
                <a:cs typeface="Georgia" pitchFamily="34" charset="-120"/>
              </a:rPr>
              <a:t>Approuver jusqu'à 15 000 € de dépenses et le temps des six fondateurs, du 3 novembre 2026 au 1er février 2027, pour mesurer le consentement à payer, le coût par mission et le CAC, puis décider le go ou stop d'un lancement qui nécessiterait environ 170 k€ (scénario central) et jusqu'à 557 k€ (prudent).</a:t>
            </a:r>
            <a:endParaRPr lang="en-US" sz="1700" dirty="0"/>
          </a:p>
        </p:txBody>
      </p:sp>
      <p:sp>
        <p:nvSpPr>
          <p:cNvPr id="4" name="text"/>
          <p:cNvSpPr txBox="1"/>
          <p:nvPr/>
        </p:nvSpPr>
        <p:spPr>
          <a:xfrm>
            <a:off x="822960" y="2606040"/>
            <a:ext cx="338328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Recommandation</a:t>
            </a:r>
            <a:endParaRPr lang="en-US" sz="1100" dirty="0"/>
          </a:p>
        </p:txBody>
      </p:sp>
      <p:sp>
        <p:nvSpPr>
          <p:cNvPr id="5" name="col"/>
          <p:cNvSpPr txBox="1"/>
          <p:nvPr/>
        </p:nvSpPr>
        <p:spPr>
          <a:xfrm>
            <a:off x="822960" y="2971800"/>
            <a:ext cx="3383280"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Lancer Helium comme majordome premium B2C à 79 € par mois, par jalons, avec la piste employeur (B2B2C) préparée en repli.</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Ne dépenser aucun euro d'acquisition avant la preuve du prix et du coût de service.</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Inscrire D-01 au registre cette semaine : nature du projet, fondateurs, propriété intellectuelle.</a:t>
            </a:r>
            <a:endParaRPr lang="en-US" sz="1200" dirty="0"/>
          </a:p>
        </p:txBody>
      </p:sp>
      <p:sp>
        <p:nvSpPr>
          <p:cNvPr id="6" name="text"/>
          <p:cNvSpPr txBox="1"/>
          <p:nvPr/>
        </p:nvSpPr>
        <p:spPr>
          <a:xfrm>
            <a:off x="4434840" y="2606040"/>
            <a:ext cx="338328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Justification</a:t>
            </a:r>
            <a:endParaRPr lang="en-US" sz="1100" dirty="0"/>
          </a:p>
        </p:txBody>
      </p:sp>
      <p:sp>
        <p:nvSpPr>
          <p:cNvPr id="7" name="col"/>
          <p:cNvSpPr txBox="1"/>
          <p:nvPr/>
        </p:nvSpPr>
        <p:spPr>
          <a:xfrm>
            <a:off x="4434840" y="2971800"/>
            <a:ext cx="3383280"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Le marché n'est pas la contrainte : 7,3 M de cadres, ≈ 1,1 M dans le cœur de cible ; le couloir de prix entre 23 € et 250 € est vide, et les agents des majors sont exclus de l'EEE.</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L'économie unitaire est bonne si deux hypothèses tiennent : coût de service 18 €, prix accepté 79 €. Ni l'une ni l'autre n'est mesurée.</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La porte coûte moins de 10 % du besoin central et départage l'option B2C et l'option employeur.</a:t>
            </a:r>
            <a:endParaRPr lang="en-US" sz="1200" dirty="0"/>
          </a:p>
        </p:txBody>
      </p:sp>
      <p:sp>
        <p:nvSpPr>
          <p:cNvPr id="8" name="text"/>
          <p:cNvSpPr txBox="1"/>
          <p:nvPr/>
        </p:nvSpPr>
        <p:spPr>
          <a:xfrm>
            <a:off x="8046720" y="2606040"/>
            <a:ext cx="338328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Risques principaux</a:t>
            </a:r>
            <a:endParaRPr lang="en-US" sz="1100" dirty="0"/>
          </a:p>
        </p:txBody>
      </p:sp>
      <p:sp>
        <p:nvSpPr>
          <p:cNvPr id="9" name="col"/>
          <p:cNvSpPr txBox="1"/>
          <p:nvPr/>
        </p:nvSpPr>
        <p:spPr>
          <a:xfrm>
            <a:off x="8046720" y="2971800"/>
            <a:ext cx="3383280"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Les généralistes referment l'écart à prix constant : différenciation perdue à 20 €. Downside non plafonné sur la marque.</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Un incident de données pendant le pilote : sanction CNIL et réputation. Non plafonné.</a:t>
            </a:r>
            <a:endParaRPr lang="en-US" sz="1200" dirty="0"/>
          </a:p>
          <a:p>
            <a:pPr marL="177800" indent="-177800">
              <a:spcAft>
                <a:spcPts val="500"/>
              </a:spcAft>
              <a:buSzPct val="100000"/>
              <a:buChar char="•"/>
            </a:pPr>
            <a:r>
              <a:rPr lang="en-US" sz="1200" dirty="0">
                <a:solidFill>
                  <a:srgbClr val="F7F3EC"/>
                </a:solidFill>
                <a:latin typeface="Arial" pitchFamily="34" charset="0"/>
                <a:ea typeface="Arial" pitchFamily="34" charset="-122"/>
                <a:cs typeface="Arial" pitchFamily="34" charset="-120"/>
              </a:rPr>
              <a:t>Six fondateurs à temps partiel : glissement de 3 mois, besoin +23 k€, projet dissous à la fin du programme.</a:t>
            </a:r>
            <a:endParaRPr lang="en-US" sz="1200" dirty="0"/>
          </a:p>
        </p:txBody>
      </p:sp>
      <p:sp>
        <p:nvSpPr>
          <p:cNvPr id="10" name="text"/>
          <p:cNvSpPr txBox="1"/>
          <p:nvPr/>
        </p:nvSpPr>
        <p:spPr>
          <a:xfrm>
            <a:off x="822960" y="5486400"/>
            <a:ext cx="10789920" cy="731520"/>
          </a:xfrm>
          <a:prstGeom prst="rect">
            <a:avLst/>
          </a:prstGeom>
          <a:noFill/>
          <a:ln/>
        </p:spPr>
        <p:txBody>
          <a:bodyPr wrap="square" lIns="0" tIns="0" rIns="0" bIns="0" rtlCol="0" anchor="t"/>
          <a:lstStyle/>
          <a:p>
            <a:pPr indent="0" marL="0">
              <a:buNone/>
            </a:pPr>
            <a:r>
              <a:rPr lang="en-US" sz="1100" i="1" dirty="0">
                <a:solidFill>
                  <a:srgbClr val="E9C46A"/>
                </a:solidFill>
                <a:latin typeface="Arial" pitchFamily="34" charset="0"/>
                <a:ea typeface="Arial" pitchFamily="34" charset="-122"/>
                <a:cs typeface="Arial" pitchFamily="34" charset="-120"/>
              </a:rPr>
              <a:t>Ce qui changerait la recommandation : consentement à payer médian &lt; 59 € ; coût par mission &gt; 0,30 € ; un généraliste lance l'exécution proactive avec mémoire du foyer sous 30 € avant notre lancement.</a:t>
            </a:r>
            <a:endParaRPr lang="en-US" sz="1100" dirty="0"/>
          </a:p>
        </p:txBody>
      </p:sp>
      <p:sp>
        <p:nvSpPr>
          <p:cNvPr id="12"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L'inconfortable d'abord : le dépôt contient 25 propositions et zéro fait</a:t>
            </a:r>
            <a:endParaRPr lang="en-US" sz="2400" dirty="0"/>
          </a:p>
        </p:txBody>
      </p:sp>
      <p:sp>
        <p:nvSpPr>
          <p:cNvPr id="3" name="dot"/>
          <p:cNvSpPr/>
          <p:nvPr/>
        </p:nvSpPr>
        <p:spPr>
          <a:xfrm>
            <a:off x="822960" y="1554480"/>
            <a:ext cx="128016" cy="128016"/>
          </a:xfrm>
          <a:prstGeom prst="ellipse">
            <a:avLst/>
          </a:prstGeom>
          <a:solidFill>
            <a:srgbClr val="F0916A"/>
          </a:solidFill>
          <a:ln w="12700">
            <a:solidFill>
              <a:srgbClr val="F0916A"/>
            </a:solidFill>
            <a:prstDash val="solid"/>
          </a:ln>
        </p:spPr>
      </p:sp>
      <p:sp>
        <p:nvSpPr>
          <p:cNvPr id="4" name="stat"/>
          <p:cNvSpPr txBox="1"/>
          <p:nvPr/>
        </p:nvSpPr>
        <p:spPr>
          <a:xfrm>
            <a:off x="822960" y="1737360"/>
            <a:ext cx="329184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25</a:t>
            </a:r>
            <a:endParaRPr lang="en-US" sz="4000" dirty="0"/>
          </a:p>
        </p:txBody>
      </p:sp>
      <p:sp>
        <p:nvSpPr>
          <p:cNvPr id="5" name="statlabel"/>
          <p:cNvSpPr txBox="1"/>
          <p:nvPr/>
        </p:nvSpPr>
        <p:spPr>
          <a:xfrm>
            <a:off x="822960" y="2606040"/>
            <a:ext cx="329184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documents produits le 27 octobre, tous déclarés « proposition » ou « hypothèse »</a:t>
            </a:r>
            <a:endParaRPr lang="en-US" sz="1100" dirty="0"/>
          </a:p>
        </p:txBody>
      </p:sp>
      <p:sp>
        <p:nvSpPr>
          <p:cNvPr id="6" name="dot"/>
          <p:cNvSpPr/>
          <p:nvPr/>
        </p:nvSpPr>
        <p:spPr>
          <a:xfrm>
            <a:off x="4343400" y="1554480"/>
            <a:ext cx="128016" cy="128016"/>
          </a:xfrm>
          <a:prstGeom prst="ellipse">
            <a:avLst/>
          </a:prstGeom>
          <a:solidFill>
            <a:srgbClr val="F0916A"/>
          </a:solidFill>
          <a:ln w="12700">
            <a:solidFill>
              <a:srgbClr val="F0916A"/>
            </a:solidFill>
            <a:prstDash val="solid"/>
          </a:ln>
        </p:spPr>
      </p:sp>
      <p:sp>
        <p:nvSpPr>
          <p:cNvPr id="7" name="stat"/>
          <p:cNvSpPr txBox="1"/>
          <p:nvPr/>
        </p:nvSpPr>
        <p:spPr>
          <a:xfrm>
            <a:off x="4343400" y="1737360"/>
            <a:ext cx="329184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0</a:t>
            </a:r>
            <a:endParaRPr lang="en-US" sz="4000" dirty="0"/>
          </a:p>
        </p:txBody>
      </p:sp>
      <p:sp>
        <p:nvSpPr>
          <p:cNvPr id="8" name="statlabel"/>
          <p:cNvSpPr txBox="1"/>
          <p:nvPr/>
        </p:nvSpPr>
        <p:spPr>
          <a:xfrm>
            <a:off x="4343400" y="2606040"/>
            <a:ext cx="329184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décision au registre, 0 pièce en sources, 0 fait mesuré hors Insee</a:t>
            </a:r>
            <a:endParaRPr lang="en-US" sz="1100" dirty="0"/>
          </a:p>
        </p:txBody>
      </p:sp>
      <p:sp>
        <p:nvSpPr>
          <p:cNvPr id="9" name="dot"/>
          <p:cNvSpPr/>
          <p:nvPr/>
        </p:nvSpPr>
        <p:spPr>
          <a:xfrm>
            <a:off x="7863840" y="1554480"/>
            <a:ext cx="128016" cy="128016"/>
          </a:xfrm>
          <a:prstGeom prst="ellipse">
            <a:avLst/>
          </a:prstGeom>
          <a:solidFill>
            <a:srgbClr val="F0916A"/>
          </a:solidFill>
          <a:ln w="12700">
            <a:solidFill>
              <a:srgbClr val="F0916A"/>
            </a:solidFill>
            <a:prstDash val="solid"/>
          </a:ln>
        </p:spPr>
      </p:sp>
      <p:sp>
        <p:nvSpPr>
          <p:cNvPr id="10" name="stat"/>
          <p:cNvSpPr txBox="1"/>
          <p:nvPr/>
        </p:nvSpPr>
        <p:spPr>
          <a:xfrm>
            <a:off x="7863840" y="1737360"/>
            <a:ext cx="329184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2</a:t>
            </a:r>
            <a:endParaRPr lang="en-US" sz="4000" dirty="0"/>
          </a:p>
        </p:txBody>
      </p:sp>
      <p:sp>
        <p:nvSpPr>
          <p:cNvPr id="11" name="statlabel"/>
          <p:cNvSpPr txBox="1"/>
          <p:nvPr/>
        </p:nvSpPr>
        <p:spPr>
          <a:xfrm>
            <a:off x="7863840" y="2606040"/>
            <a:ext cx="329184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chiffres portent 80 % de la valeur : coût de service et prix accepté. Aucun n'est mesuré</a:t>
            </a:r>
            <a:endParaRPr lang="en-US" sz="1100" dirty="0"/>
          </a:p>
        </p:txBody>
      </p:sp>
      <p:sp>
        <p:nvSpPr>
          <p:cNvPr id="12" name="card"/>
          <p:cNvSpPr/>
          <p:nvPr/>
        </p:nvSpPr>
        <p:spPr>
          <a:xfrm>
            <a:off x="822960" y="3703320"/>
            <a:ext cx="10789920" cy="2286000"/>
          </a:xfrm>
          <a:prstGeom prst="roundRect">
            <a:avLst>
              <a:gd name="adj" fmla="val 3200"/>
            </a:avLst>
          </a:prstGeom>
          <a:solidFill>
            <a:srgbClr val="EFE9E0"/>
          </a:solidFill>
          <a:ln w="9525">
            <a:solidFill>
              <a:srgbClr val="EFE9E0"/>
            </a:solidFill>
            <a:prstDash val="solid"/>
          </a:ln>
        </p:spPr>
      </p:sp>
      <p:sp>
        <p:nvSpPr>
          <p:cNvPr id="13" name="text"/>
          <p:cNvSpPr txBox="1"/>
          <p:nvPr/>
        </p:nvSpPr>
        <p:spPr>
          <a:xfrm>
            <a:off x="1005840" y="3840480"/>
            <a:ext cx="1042416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Cinq des huit hypothèses du registre Finance (H01 à H08) et leur statut</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1005840" y="4206240"/>
          <a:ext cx="10424160" cy="914400"/>
        </p:xfrm>
        <a:graphic>
          <a:graphicData uri="http://schemas.openxmlformats.org/drawingml/2006/table">
            <a:tbl>
              <a:tblPr/>
              <a:tblGrid>
                <a:gridCol w="2926080"/>
                <a:gridCol w="1645920"/>
                <a:gridCol w="1463040"/>
                <a:gridCol w="438912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Hypothèse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Valeur</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Statut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Test le moins cher</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Prix Premium TTC (H01)</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79 €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Assertion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30 entretiens, Van Westendorp</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Coût variable par client (H03)</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18 € HT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Assertion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Prototype missions 1 et 5, cinq utilisateurs, une semaine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CAC (H04)</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150 €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Assertion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Trois pages d'atterrissage, cohortes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Churn mensuel (H05)</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3 %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Assertion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Cohortes du pilote (partiel à J+90)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Budget MVP (H07)</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77 050 € HT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Estimation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Devis et plan de charge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1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15600" cy="1280160"/>
          </a:xfrm>
          <a:prstGeom prst="rect">
            <a:avLst/>
          </a:prstGeom>
          <a:noFill/>
          <a:ln/>
        </p:spPr>
        <p:txBody>
          <a:bodyPr wrap="square" lIns="0" tIns="0" rIns="0" bIns="0" rtlCol="0" anchor="ctr"/>
          <a:lstStyle/>
          <a:p>
            <a:pPr algn="l" indent="0" marL="0">
              <a:buNone/>
            </a:pPr>
            <a:r>
              <a:rPr lang="en-US" sz="3600" dirty="0">
                <a:solidFill>
                  <a:srgbClr val="201C19"/>
                </a:solidFill>
                <a:latin typeface="Georgia" pitchFamily="34" charset="0"/>
                <a:ea typeface="Georgia" pitchFamily="34" charset="-122"/>
                <a:cs typeface="Georgia" pitchFamily="34" charset="-120"/>
              </a:rPr>
              <a:t>1. Le marché : réel, large, mal servi</a:t>
            </a:r>
            <a:endParaRPr lang="en-US" sz="3600" dirty="0"/>
          </a:p>
        </p:txBody>
      </p:sp>
      <p:sp>
        <p:nvSpPr>
          <p:cNvPr id="3" name="Text 0"/>
          <p:cNvSpPr/>
          <p:nvPr>
            <p:ph idx="101" type="body" hasCustomPrompt="1"/>
          </p:nvPr>
        </p:nvSpPr>
        <p:spPr>
          <a:xfrm>
            <a:off x="822960" y="3931920"/>
            <a:ext cx="10515600" cy="914400"/>
          </a:xfrm>
          <a:prstGeom prst="rect">
            <a:avLst/>
          </a:prstGeom>
          <a:noFill/>
          <a:ln/>
        </p:spPr>
        <p:txBody>
          <a:bodyPr wrap="square" lIns="0" tIns="0" rIns="0" bIns="0" rtlCol="0" anchor="t"/>
          <a:lstStyle/>
          <a:p>
            <a:pPr indent="0" marL="0">
              <a:buNone/>
            </a:pPr>
            <a:r>
              <a:rPr lang="en-US" sz="1600" dirty="0">
                <a:solidFill>
                  <a:srgbClr val="8A8178"/>
                </a:solidFill>
                <a:latin typeface="Arial" pitchFamily="34" charset="0"/>
                <a:ea typeface="Arial" pitchFamily="34" charset="-122"/>
                <a:cs typeface="Arial" pitchFamily="34" charset="-120"/>
              </a:rPr>
              <a:t>Demande, douleurs, couloir de prix, concurrence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Le marché est large : 7,3 M de cadres, environ 1,1 M dans le cœur de cible ; la taille n'est pas le problème, la conversion à 79 € l'est</a:t>
            </a:r>
            <a:endParaRPr lang="en-US" sz="2400" dirty="0"/>
          </a:p>
        </p:txBody>
      </p:sp>
      <p:graphicFrame>
        <p:nvGraphicFramePr>
          <p:cNvPr id="3" name="Chart 0" descr=""/>
          <p:cNvGraphicFramePr/>
          <p:nvPr/>
        </p:nvGraphicFramePr>
        <p:xfrm>
          <a:off x="822960" y="146304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223760" y="1463040"/>
            <a:ext cx="4389120" cy="4023360"/>
          </a:xfrm>
          <a:prstGeom prst="roundRect">
            <a:avLst>
              <a:gd name="adj" fmla="val 1818"/>
            </a:avLst>
          </a:prstGeom>
          <a:solidFill>
            <a:srgbClr val="EFE9E0"/>
          </a:solidFill>
          <a:ln w="9525">
            <a:solidFill>
              <a:srgbClr val="EFE9E0"/>
            </a:solidFill>
            <a:prstDash val="solid"/>
          </a:ln>
        </p:spPr>
      </p:sp>
      <p:sp>
        <p:nvSpPr>
          <p:cNvPr id="5" name="text"/>
          <p:cNvSpPr txBox="1"/>
          <p:nvPr/>
        </p:nvSpPr>
        <p:spPr>
          <a:xfrm>
            <a:off x="7406640" y="1600200"/>
            <a:ext cx="4023360" cy="27432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Lecture</a:t>
            </a:r>
            <a:endParaRPr lang="en-US" sz="1100" dirty="0"/>
          </a:p>
        </p:txBody>
      </p:sp>
      <p:sp>
        <p:nvSpPr>
          <p:cNvPr id="6" name="reading"/>
          <p:cNvSpPr txBox="1"/>
          <p:nvPr/>
        </p:nvSpPr>
        <p:spPr>
          <a:xfrm>
            <a:off x="7406640" y="1920240"/>
            <a:ext cx="4023360" cy="34747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01C19"/>
                </a:solidFill>
                <a:latin typeface="Arial" pitchFamily="34" charset="0"/>
                <a:ea typeface="Arial" pitchFamily="34" charset="-122"/>
                <a:cs typeface="Arial" pitchFamily="34" charset="-120"/>
              </a:rPr>
              <a:t>7,3 M de cadres (fait, Insee enquête Emploi 2025) ; 64,5 % de 25 à 49 ans (fait, 2019) ; 54 % vivent avec des enfants (fait, Apec 2022).</a:t>
            </a:r>
            <a:endParaRPr lang="en-US" sz="1150" dirty="0"/>
          </a:p>
          <a:p>
            <a:pPr marL="177800" indent="-177800">
              <a:spcAft>
                <a:spcPts val="600"/>
              </a:spcAft>
              <a:buSzPct val="100000"/>
              <a:buChar char="•"/>
            </a:pPr>
            <a:r>
              <a:rPr lang="en-US" sz="1150" dirty="0">
                <a:solidFill>
                  <a:srgbClr val="201C19"/>
                </a:solidFill>
                <a:latin typeface="Arial" pitchFamily="34" charset="0"/>
                <a:ea typeface="Arial" pitchFamily="34" charset="-122"/>
                <a:cs typeface="Arial" pitchFamily="34" charset="-120"/>
              </a:rPr>
              <a:t>43 % des Français acceptent de déléguer à une IA avec validation finale (fait, Ifop pour Converteo, mars 2026) : c'est la définition du produit. Coefficient appliqué aux cadres : estimation.</a:t>
            </a:r>
            <a:endParaRPr lang="en-US" sz="1150" dirty="0"/>
          </a:p>
          <a:p>
            <a:pPr marL="177800" indent="-177800">
              <a:spcAft>
                <a:spcPts val="600"/>
              </a:spcAft>
              <a:buSzPct val="100000"/>
              <a:buChar char="•"/>
            </a:pPr>
            <a:r>
              <a:rPr lang="en-US" sz="1150" dirty="0">
                <a:solidFill>
                  <a:srgbClr val="201C19"/>
                </a:solidFill>
                <a:latin typeface="Arial" pitchFamily="34" charset="0"/>
                <a:ea typeface="Arial" pitchFamily="34" charset="-122"/>
                <a:cs typeface="Arial" pitchFamily="34" charset="-120"/>
              </a:rPr>
              <a:t>76 % des cadres utilisent déjà une IA générative ; ≈ 1,05 M paient un abonnement (estimation d'après CREDOC 2026).</a:t>
            </a:r>
            <a:endParaRPr lang="en-US" sz="1150" dirty="0"/>
          </a:p>
          <a:p>
            <a:pPr marL="177800" indent="-177800">
              <a:spcAft>
                <a:spcPts val="600"/>
              </a:spcAft>
              <a:buSzPct val="100000"/>
              <a:buChar char="•"/>
            </a:pPr>
            <a:r>
              <a:rPr lang="en-US" sz="1150" dirty="0">
                <a:solidFill>
                  <a:srgbClr val="201C19"/>
                </a:solidFill>
                <a:latin typeface="Arial" pitchFamily="34" charset="0"/>
                <a:ea typeface="Arial" pitchFamily="34" charset="-122"/>
                <a:cs typeface="Arial" pitchFamily="34" charset="-120"/>
              </a:rPr>
              <a:t>2 664 abonnés fin A3 = 0,24 % du cœur de cible. Marché de la conciergerie en France : plus de 150 M€ (Xerfi 2025), moins de 1 % des salariés couverts.</a:t>
            </a:r>
            <a:endParaRPr lang="en-US" sz="1150" dirty="0"/>
          </a:p>
        </p:txBody>
      </p:sp>
      <p:sp>
        <p:nvSpPr>
          <p:cNvPr id="7" name="text"/>
          <p:cNvSpPr txBox="1"/>
          <p:nvPr/>
        </p:nvSpPr>
        <p:spPr>
          <a:xfrm>
            <a:off x="822960" y="5623560"/>
            <a:ext cx="10789920" cy="54864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Sources : Insee [1], [3] ; Apec [5] ; Ifop pour Converteo [23] ; CREDOC pour l'Arcep [24] ; Xerfi [73]. Références numérotées dans l'analyse de marché. L'entonnoir est une estimation à coefficients sourcés ; il remplace les 600 000 du dépôt (coefficient 20 % non sourcé).</a:t>
            </a:r>
            <a:endParaRPr lang="en-US" sz="900" dirty="0"/>
          </a:p>
        </p:txBody>
      </p:sp>
      <p:sp>
        <p:nvSpPr>
          <p:cNvPr id="9"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Les douleurs : des démarches reportées, une charge mentale portée par une seule personne, des outils qui organisent sans exécuter</a:t>
            </a:r>
            <a:endParaRPr lang="en-US" sz="2400" dirty="0"/>
          </a:p>
        </p:txBody>
      </p:sp>
      <p:sp>
        <p:nvSpPr>
          <p:cNvPr id="3" name="card"/>
          <p:cNvSpPr/>
          <p:nvPr/>
        </p:nvSpPr>
        <p:spPr>
          <a:xfrm>
            <a:off x="822960" y="1463040"/>
            <a:ext cx="3383280" cy="2057400"/>
          </a:xfrm>
          <a:prstGeom prst="roundRect">
            <a:avLst>
              <a:gd name="adj" fmla="val 3556"/>
            </a:avLst>
          </a:prstGeom>
          <a:solidFill>
            <a:srgbClr val="EFE9E0"/>
          </a:solidFill>
          <a:ln w="9525">
            <a:solidFill>
              <a:srgbClr val="EFE9E0"/>
            </a:solidFill>
            <a:prstDash val="solid"/>
          </a:ln>
        </p:spPr>
      </p:sp>
      <p:sp>
        <p:nvSpPr>
          <p:cNvPr id="4" name="dot"/>
          <p:cNvSpPr/>
          <p:nvPr/>
        </p:nvSpPr>
        <p:spPr>
          <a:xfrm>
            <a:off x="1005840" y="1664208"/>
            <a:ext cx="146304" cy="146304"/>
          </a:xfrm>
          <a:prstGeom prst="ellipse">
            <a:avLst/>
          </a:prstGeom>
          <a:solidFill>
            <a:srgbClr val="F0916A"/>
          </a:solidFill>
          <a:ln w="12700">
            <a:solidFill>
              <a:srgbClr val="F0916A"/>
            </a:solidFill>
            <a:prstDash val="solid"/>
          </a:ln>
        </p:spPr>
      </p:sp>
      <p:sp>
        <p:nvSpPr>
          <p:cNvPr id="5" name="text"/>
          <p:cNvSpPr txBox="1"/>
          <p:nvPr/>
        </p:nvSpPr>
        <p:spPr>
          <a:xfrm>
            <a:off x="1234440" y="160020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Démarches reportées : 34 %</a:t>
            </a:r>
            <a:endParaRPr lang="en-US" sz="1250" dirty="0"/>
          </a:p>
        </p:txBody>
      </p:sp>
      <p:sp>
        <p:nvSpPr>
          <p:cNvPr id="6" name="text"/>
          <p:cNvSpPr txBox="1"/>
          <p:nvPr/>
        </p:nvSpPr>
        <p:spPr>
          <a:xfrm>
            <a:off x="1005840" y="214884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Les démarches administratives sont la première tâche que les Français jugent déléguable à une IA (34 %), loin devant le SAV (14 %) et les courses (9 %). Ifop pour Converteo, mars 2026.</a:t>
            </a:r>
            <a:endParaRPr lang="en-US" sz="1050" dirty="0"/>
          </a:p>
        </p:txBody>
      </p:sp>
      <p:sp>
        <p:nvSpPr>
          <p:cNvPr id="7" name="card"/>
          <p:cNvSpPr/>
          <p:nvPr/>
        </p:nvSpPr>
        <p:spPr>
          <a:xfrm>
            <a:off x="4434840" y="1463040"/>
            <a:ext cx="3383280" cy="2057400"/>
          </a:xfrm>
          <a:prstGeom prst="roundRect">
            <a:avLst>
              <a:gd name="adj" fmla="val 3556"/>
            </a:avLst>
          </a:prstGeom>
          <a:solidFill>
            <a:srgbClr val="EFE9E0"/>
          </a:solidFill>
          <a:ln w="9525">
            <a:solidFill>
              <a:srgbClr val="EFE9E0"/>
            </a:solidFill>
            <a:prstDash val="solid"/>
          </a:ln>
        </p:spPr>
      </p:sp>
      <p:sp>
        <p:nvSpPr>
          <p:cNvPr id="8" name="dot"/>
          <p:cNvSpPr/>
          <p:nvPr/>
        </p:nvSpPr>
        <p:spPr>
          <a:xfrm>
            <a:off x="4617720" y="1664208"/>
            <a:ext cx="146304" cy="146304"/>
          </a:xfrm>
          <a:prstGeom prst="ellipse">
            <a:avLst/>
          </a:prstGeom>
          <a:solidFill>
            <a:srgbClr val="F0916A"/>
          </a:solidFill>
          <a:ln w="12700">
            <a:solidFill>
              <a:srgbClr val="F0916A"/>
            </a:solidFill>
            <a:prstDash val="solid"/>
          </a:ln>
        </p:spPr>
      </p:sp>
      <p:sp>
        <p:nvSpPr>
          <p:cNvPr id="9" name="text"/>
          <p:cNvSpPr txBox="1"/>
          <p:nvPr/>
        </p:nvSpPr>
        <p:spPr>
          <a:xfrm>
            <a:off x="4846320" y="160020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Charge mentale : 51 %</a:t>
            </a:r>
            <a:endParaRPr lang="en-US" sz="1250" dirty="0"/>
          </a:p>
        </p:txBody>
      </p:sp>
      <p:sp>
        <p:nvSpPr>
          <p:cNvPr id="10" name="text"/>
          <p:cNvSpPr txBox="1"/>
          <p:nvPr/>
        </p:nvSpPr>
        <p:spPr>
          <a:xfrm>
            <a:off x="4617720" y="214884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51 % des Français disent que l'organisation du foyer est une charge mentale significative (64 % des 25 à 49 ans) ; 81 % des parents CSP A ont eu des difficultés de conciliation dans l'année. OpinionWay 2026 et 2022.</a:t>
            </a:r>
            <a:endParaRPr lang="en-US" sz="1050" dirty="0"/>
          </a:p>
        </p:txBody>
      </p:sp>
      <p:sp>
        <p:nvSpPr>
          <p:cNvPr id="11" name="card"/>
          <p:cNvSpPr/>
          <p:nvPr/>
        </p:nvSpPr>
        <p:spPr>
          <a:xfrm>
            <a:off x="8046720" y="1463040"/>
            <a:ext cx="3383280" cy="2057400"/>
          </a:xfrm>
          <a:prstGeom prst="roundRect">
            <a:avLst>
              <a:gd name="adj" fmla="val 3556"/>
            </a:avLst>
          </a:prstGeom>
          <a:solidFill>
            <a:srgbClr val="EFE9E0"/>
          </a:solidFill>
          <a:ln w="9525">
            <a:solidFill>
              <a:srgbClr val="EFE9E0"/>
            </a:solidFill>
            <a:prstDash val="solid"/>
          </a:ln>
        </p:spPr>
      </p:sp>
      <p:sp>
        <p:nvSpPr>
          <p:cNvPr id="12" name="dot"/>
          <p:cNvSpPr/>
          <p:nvPr/>
        </p:nvSpPr>
        <p:spPr>
          <a:xfrm>
            <a:off x="8229600" y="1664208"/>
            <a:ext cx="146304" cy="146304"/>
          </a:xfrm>
          <a:prstGeom prst="ellipse">
            <a:avLst/>
          </a:prstGeom>
          <a:solidFill>
            <a:srgbClr val="F0916A"/>
          </a:solidFill>
          <a:ln w="12700">
            <a:solidFill>
              <a:srgbClr val="F0916A"/>
            </a:solidFill>
            <a:prstDash val="solid"/>
          </a:ln>
        </p:spPr>
      </p:sp>
      <p:sp>
        <p:nvSpPr>
          <p:cNvPr id="13" name="text"/>
          <p:cNvSpPr txBox="1"/>
          <p:nvPr/>
        </p:nvSpPr>
        <p:spPr>
          <a:xfrm>
            <a:off x="8458200" y="160020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Les généralistes attendent</a:t>
            </a:r>
            <a:endParaRPr lang="en-US" sz="1250" dirty="0"/>
          </a:p>
        </p:txBody>
      </p:sp>
      <p:sp>
        <p:nvSpPr>
          <p:cNvPr id="14" name="text"/>
          <p:cNvSpPr txBox="1"/>
          <p:nvPr/>
        </p:nvSpPr>
        <p:spPr>
          <a:xfrm>
            <a:off x="8229600" y="214884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ChatGPT, Claude, Le Chat offrent des connecteurs Gmail et Agenda sous approbation ; dots, Gemini Spark, Claude Duet, Siri AI et Meta Muse sont indisponibles dans l'EEE en octobre 2026.</a:t>
            </a:r>
            <a:endParaRPr lang="en-US" sz="1050" dirty="0"/>
          </a:p>
        </p:txBody>
      </p:sp>
      <p:sp>
        <p:nvSpPr>
          <p:cNvPr id="15" name="card"/>
          <p:cNvSpPr/>
          <p:nvPr/>
        </p:nvSpPr>
        <p:spPr>
          <a:xfrm>
            <a:off x="822960" y="3703320"/>
            <a:ext cx="3383280" cy="2057400"/>
          </a:xfrm>
          <a:prstGeom prst="roundRect">
            <a:avLst>
              <a:gd name="adj" fmla="val 3556"/>
            </a:avLst>
          </a:prstGeom>
          <a:solidFill>
            <a:srgbClr val="EFE9E0"/>
          </a:solidFill>
          <a:ln w="9525">
            <a:solidFill>
              <a:srgbClr val="EFE9E0"/>
            </a:solidFill>
            <a:prstDash val="solid"/>
          </a:ln>
        </p:spPr>
      </p:sp>
      <p:sp>
        <p:nvSpPr>
          <p:cNvPr id="16" name="dot"/>
          <p:cNvSpPr/>
          <p:nvPr/>
        </p:nvSpPr>
        <p:spPr>
          <a:xfrm>
            <a:off x="1005840" y="3904488"/>
            <a:ext cx="146304" cy="146304"/>
          </a:xfrm>
          <a:prstGeom prst="ellipse">
            <a:avLst/>
          </a:prstGeom>
          <a:solidFill>
            <a:srgbClr val="F0916A"/>
          </a:solidFill>
          <a:ln w="12700">
            <a:solidFill>
              <a:srgbClr val="F0916A"/>
            </a:solidFill>
            <a:prstDash val="solid"/>
          </a:ln>
        </p:spPr>
      </p:sp>
      <p:sp>
        <p:nvSpPr>
          <p:cNvPr id="17" name="text"/>
          <p:cNvSpPr txBox="1"/>
          <p:nvPr/>
        </p:nvSpPr>
        <p:spPr>
          <a:xfrm>
            <a:off x="1234440" y="384048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Déléguer coûte trop cher : 42 %</a:t>
            </a:r>
            <a:endParaRPr lang="en-US" sz="1250" dirty="0"/>
          </a:p>
        </p:txBody>
      </p:sp>
      <p:sp>
        <p:nvSpPr>
          <p:cNvPr id="18" name="text"/>
          <p:cNvSpPr txBox="1"/>
          <p:nvPr/>
        </p:nvSpPr>
        <p:spPr>
          <a:xfrm>
            <a:off x="1005840" y="438912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42 % des Français délèguent déjà des tâches domestiques ; le coût est le premier frein (42 %). Conciergerie privée 250 à 600 € par mois ; moins de 1 % des salariés ont une conciergerie d'entreprise.</a:t>
            </a:r>
            <a:endParaRPr lang="en-US" sz="1050" dirty="0"/>
          </a:p>
        </p:txBody>
      </p:sp>
      <p:sp>
        <p:nvSpPr>
          <p:cNvPr id="19" name="card"/>
          <p:cNvSpPr/>
          <p:nvPr/>
        </p:nvSpPr>
        <p:spPr>
          <a:xfrm>
            <a:off x="4434840" y="3703320"/>
            <a:ext cx="3383280" cy="2057400"/>
          </a:xfrm>
          <a:prstGeom prst="roundRect">
            <a:avLst>
              <a:gd name="adj" fmla="val 3556"/>
            </a:avLst>
          </a:prstGeom>
          <a:solidFill>
            <a:srgbClr val="EFE9E0"/>
          </a:solidFill>
          <a:ln w="9525">
            <a:solidFill>
              <a:srgbClr val="EFE9E0"/>
            </a:solidFill>
            <a:prstDash val="solid"/>
          </a:ln>
        </p:spPr>
      </p:sp>
      <p:sp>
        <p:nvSpPr>
          <p:cNvPr id="20" name="dot"/>
          <p:cNvSpPr/>
          <p:nvPr/>
        </p:nvSpPr>
        <p:spPr>
          <a:xfrm>
            <a:off x="4617720" y="3904488"/>
            <a:ext cx="146304" cy="146304"/>
          </a:xfrm>
          <a:prstGeom prst="ellipse">
            <a:avLst/>
          </a:prstGeom>
          <a:solidFill>
            <a:srgbClr val="F0916A"/>
          </a:solidFill>
          <a:ln w="12700">
            <a:solidFill>
              <a:srgbClr val="F0916A"/>
            </a:solidFill>
            <a:prstDash val="solid"/>
          </a:ln>
        </p:spPr>
      </p:sp>
      <p:sp>
        <p:nvSpPr>
          <p:cNvPr id="21" name="text"/>
          <p:cNvSpPr txBox="1"/>
          <p:nvPr/>
        </p:nvSpPr>
        <p:spPr>
          <a:xfrm>
            <a:off x="4846320" y="384048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Les applis familiales n'exécutent rien</a:t>
            </a:r>
            <a:endParaRPr lang="en-US" sz="1250" dirty="0"/>
          </a:p>
        </p:txBody>
      </p:sp>
      <p:sp>
        <p:nvSpPr>
          <p:cNvPr id="22" name="text"/>
          <p:cNvSpPr txBox="1"/>
          <p:nvPr/>
        </p:nvSpPr>
        <p:spPr>
          <a:xfrm>
            <a:off x="4617720" y="438912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Cozi, FamilyWall, TimeTree, Share(d) : calendriers et listes à 0 à 8 € par mois. Aucune réservation, aucune démarche, aucun courriel. Avis : synchronisation défaillante.</a:t>
            </a:r>
            <a:endParaRPr lang="en-US" sz="1050" dirty="0"/>
          </a:p>
        </p:txBody>
      </p:sp>
      <p:sp>
        <p:nvSpPr>
          <p:cNvPr id="23" name="card"/>
          <p:cNvSpPr/>
          <p:nvPr/>
        </p:nvSpPr>
        <p:spPr>
          <a:xfrm>
            <a:off x="8046720" y="3703320"/>
            <a:ext cx="3383280" cy="2057400"/>
          </a:xfrm>
          <a:prstGeom prst="roundRect">
            <a:avLst>
              <a:gd name="adj" fmla="val 3556"/>
            </a:avLst>
          </a:prstGeom>
          <a:solidFill>
            <a:srgbClr val="EFE9E0"/>
          </a:solidFill>
          <a:ln w="9525">
            <a:solidFill>
              <a:srgbClr val="EFE9E0"/>
            </a:solidFill>
            <a:prstDash val="solid"/>
          </a:ln>
        </p:spPr>
      </p:sp>
      <p:sp>
        <p:nvSpPr>
          <p:cNvPr id="24" name="dot"/>
          <p:cNvSpPr/>
          <p:nvPr/>
        </p:nvSpPr>
        <p:spPr>
          <a:xfrm>
            <a:off x="8229600" y="3904488"/>
            <a:ext cx="146304" cy="146304"/>
          </a:xfrm>
          <a:prstGeom prst="ellipse">
            <a:avLst/>
          </a:prstGeom>
          <a:solidFill>
            <a:srgbClr val="F0916A"/>
          </a:solidFill>
          <a:ln w="12700">
            <a:solidFill>
              <a:srgbClr val="F0916A"/>
            </a:solidFill>
            <a:prstDash val="solid"/>
          </a:ln>
        </p:spPr>
      </p:sp>
      <p:sp>
        <p:nvSpPr>
          <p:cNvPr id="25" name="text"/>
          <p:cNvSpPr txBox="1"/>
          <p:nvPr/>
        </p:nvSpPr>
        <p:spPr>
          <a:xfrm>
            <a:off x="8458200" y="3840480"/>
            <a:ext cx="2834640" cy="457200"/>
          </a:xfrm>
          <a:prstGeom prst="rect">
            <a:avLst/>
          </a:prstGeom>
          <a:noFill/>
          <a:ln/>
        </p:spPr>
        <p:txBody>
          <a:bodyPr wrap="square" lIns="0" tIns="0" rIns="0" bIns="0" rtlCol="0" anchor="t"/>
          <a:lstStyle/>
          <a:p>
            <a:pPr indent="0" marL="0">
              <a:buNone/>
            </a:pPr>
            <a:r>
              <a:rPr lang="en-US" sz="1250" b="1" dirty="0">
                <a:solidFill>
                  <a:srgbClr val="201C19"/>
                </a:solidFill>
                <a:latin typeface="Georgia" pitchFamily="34" charset="0"/>
                <a:ea typeface="Georgia" pitchFamily="34" charset="-122"/>
                <a:cs typeface="Georgia" pitchFamily="34" charset="-120"/>
              </a:rPr>
              <a:t>La confiance est le frein : 52 %</a:t>
            </a:r>
            <a:endParaRPr lang="en-US" sz="1250" dirty="0"/>
          </a:p>
        </p:txBody>
      </p:sp>
      <p:sp>
        <p:nvSpPr>
          <p:cNvPr id="26" name="text"/>
          <p:cNvSpPr txBox="1"/>
          <p:nvPr/>
        </p:nvSpPr>
        <p:spPr>
          <a:xfrm>
            <a:off x="8229600" y="4389120"/>
            <a:ext cx="3017520" cy="128016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52 % ne font confiance ni à un assistant personnel ni à l'IA d'une marque pour agir à leur place ; 43 % délèguent sous validation ; la défiance tombe à 8 % chez ceux qui partagent leurs données. Ifop 2026.</a:t>
            </a:r>
            <a:endParaRPr lang="en-US" sz="1050" dirty="0"/>
          </a:p>
        </p:txBody>
      </p:sp>
      <p:sp>
        <p:nvSpPr>
          <p:cNvPr id="27" name="text"/>
          <p:cNvSpPr txBox="1"/>
          <p:nvPr/>
        </p:nvSpPr>
        <p:spPr>
          <a:xfrm>
            <a:off x="822960" y="5989320"/>
            <a:ext cx="10789920" cy="36576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Sources : Ifop pour Converteo [23] ; OpinionWay pour LG [21] et pour l'Unaf [19] ; Domaliance [22] ; pages des éditeurs [26] à [53] ; Xerfi [73]. Détail et fiabilité dans l'analyse de marché, § 2.2 et 7.</a:t>
            </a:r>
            <a:endParaRPr lang="en-US" sz="900" dirty="0"/>
          </a:p>
        </p:txBody>
      </p:sp>
      <p:sp>
        <p:nvSpPr>
          <p:cNvPr id="29"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Le couloir de prix entre 23 € et 250 € est vide : Helium à 79 € doit se lire « conciergerie à prix d'abonnement », jamais « ChatGPT cher »</a:t>
            </a:r>
            <a:endParaRPr lang="en-US" sz="2400" dirty="0"/>
          </a:p>
        </p:txBody>
      </p:sp>
      <p:sp>
        <p:nvSpPr>
          <p:cNvPr id="3" name="axis"/>
          <p:cNvSpPr/>
          <p:nvPr/>
        </p:nvSpPr>
        <p:spPr>
          <a:xfrm>
            <a:off x="1097280" y="3429000"/>
            <a:ext cx="10058400" cy="0"/>
          </a:xfrm>
          <a:prstGeom prst="line">
            <a:avLst/>
          </a:prstGeom>
          <a:noFill/>
          <a:ln w="19050">
            <a:solidFill>
              <a:srgbClr val="8A8178"/>
            </a:solidFill>
            <a:prstDash val="solid"/>
          </a:ln>
        </p:spPr>
      </p:sp>
      <p:sp>
        <p:nvSpPr>
          <p:cNvPr id="4" name="tick"/>
          <p:cNvSpPr/>
          <p:nvPr/>
        </p:nvSpPr>
        <p:spPr>
          <a:xfrm>
            <a:off x="1097280" y="3374136"/>
            <a:ext cx="0" cy="109728"/>
          </a:xfrm>
          <a:prstGeom prst="line">
            <a:avLst/>
          </a:prstGeom>
          <a:noFill/>
          <a:ln w="12700">
            <a:solidFill>
              <a:srgbClr val="8A8178"/>
            </a:solidFill>
            <a:prstDash val="solid"/>
          </a:ln>
        </p:spPr>
      </p:sp>
      <p:sp>
        <p:nvSpPr>
          <p:cNvPr id="5" name="text"/>
          <p:cNvSpPr txBox="1"/>
          <p:nvPr/>
        </p:nvSpPr>
        <p:spPr>
          <a:xfrm>
            <a:off x="777240"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0 €</a:t>
            </a:r>
            <a:endParaRPr lang="en-US" sz="900" dirty="0"/>
          </a:p>
        </p:txBody>
      </p:sp>
      <p:sp>
        <p:nvSpPr>
          <p:cNvPr id="6" name="tick"/>
          <p:cNvSpPr/>
          <p:nvPr/>
        </p:nvSpPr>
        <p:spPr>
          <a:xfrm>
            <a:off x="2644726" y="3374136"/>
            <a:ext cx="0" cy="109728"/>
          </a:xfrm>
          <a:prstGeom prst="line">
            <a:avLst/>
          </a:prstGeom>
          <a:noFill/>
          <a:ln w="12700">
            <a:solidFill>
              <a:srgbClr val="8A8178"/>
            </a:solidFill>
            <a:prstDash val="solid"/>
          </a:ln>
        </p:spPr>
      </p:sp>
      <p:sp>
        <p:nvSpPr>
          <p:cNvPr id="7" name="text"/>
          <p:cNvSpPr txBox="1"/>
          <p:nvPr/>
        </p:nvSpPr>
        <p:spPr>
          <a:xfrm>
            <a:off x="2324686"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100 €</a:t>
            </a:r>
            <a:endParaRPr lang="en-US" sz="900" dirty="0"/>
          </a:p>
        </p:txBody>
      </p:sp>
      <p:sp>
        <p:nvSpPr>
          <p:cNvPr id="8" name="tick"/>
          <p:cNvSpPr/>
          <p:nvPr/>
        </p:nvSpPr>
        <p:spPr>
          <a:xfrm>
            <a:off x="4192172" y="3374136"/>
            <a:ext cx="0" cy="109728"/>
          </a:xfrm>
          <a:prstGeom prst="line">
            <a:avLst/>
          </a:prstGeom>
          <a:noFill/>
          <a:ln w="12700">
            <a:solidFill>
              <a:srgbClr val="8A8178"/>
            </a:solidFill>
            <a:prstDash val="solid"/>
          </a:ln>
        </p:spPr>
      </p:sp>
      <p:sp>
        <p:nvSpPr>
          <p:cNvPr id="9" name="text"/>
          <p:cNvSpPr txBox="1"/>
          <p:nvPr/>
        </p:nvSpPr>
        <p:spPr>
          <a:xfrm>
            <a:off x="3872132"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200 €</a:t>
            </a:r>
            <a:endParaRPr lang="en-US" sz="900" dirty="0"/>
          </a:p>
        </p:txBody>
      </p:sp>
      <p:sp>
        <p:nvSpPr>
          <p:cNvPr id="10" name="tick"/>
          <p:cNvSpPr/>
          <p:nvPr/>
        </p:nvSpPr>
        <p:spPr>
          <a:xfrm>
            <a:off x="5739618" y="3374136"/>
            <a:ext cx="0" cy="109728"/>
          </a:xfrm>
          <a:prstGeom prst="line">
            <a:avLst/>
          </a:prstGeom>
          <a:noFill/>
          <a:ln w="12700">
            <a:solidFill>
              <a:srgbClr val="8A8178"/>
            </a:solidFill>
            <a:prstDash val="solid"/>
          </a:ln>
        </p:spPr>
      </p:sp>
      <p:sp>
        <p:nvSpPr>
          <p:cNvPr id="11" name="text"/>
          <p:cNvSpPr txBox="1"/>
          <p:nvPr/>
        </p:nvSpPr>
        <p:spPr>
          <a:xfrm>
            <a:off x="5419578"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300 €</a:t>
            </a:r>
            <a:endParaRPr lang="en-US" sz="900" dirty="0"/>
          </a:p>
        </p:txBody>
      </p:sp>
      <p:sp>
        <p:nvSpPr>
          <p:cNvPr id="12" name="tick"/>
          <p:cNvSpPr/>
          <p:nvPr/>
        </p:nvSpPr>
        <p:spPr>
          <a:xfrm>
            <a:off x="7287065" y="3374136"/>
            <a:ext cx="0" cy="109728"/>
          </a:xfrm>
          <a:prstGeom prst="line">
            <a:avLst/>
          </a:prstGeom>
          <a:noFill/>
          <a:ln w="12700">
            <a:solidFill>
              <a:srgbClr val="8A8178"/>
            </a:solidFill>
            <a:prstDash val="solid"/>
          </a:ln>
        </p:spPr>
      </p:sp>
      <p:sp>
        <p:nvSpPr>
          <p:cNvPr id="13" name="text"/>
          <p:cNvSpPr txBox="1"/>
          <p:nvPr/>
        </p:nvSpPr>
        <p:spPr>
          <a:xfrm>
            <a:off x="6967025"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400 €</a:t>
            </a:r>
            <a:endParaRPr lang="en-US" sz="900" dirty="0"/>
          </a:p>
        </p:txBody>
      </p:sp>
      <p:sp>
        <p:nvSpPr>
          <p:cNvPr id="14" name="tick"/>
          <p:cNvSpPr/>
          <p:nvPr/>
        </p:nvSpPr>
        <p:spPr>
          <a:xfrm>
            <a:off x="8834511" y="3374136"/>
            <a:ext cx="0" cy="109728"/>
          </a:xfrm>
          <a:prstGeom prst="line">
            <a:avLst/>
          </a:prstGeom>
          <a:noFill/>
          <a:ln w="12700">
            <a:solidFill>
              <a:srgbClr val="8A8178"/>
            </a:solidFill>
            <a:prstDash val="solid"/>
          </a:ln>
        </p:spPr>
      </p:sp>
      <p:sp>
        <p:nvSpPr>
          <p:cNvPr id="15" name="text"/>
          <p:cNvSpPr txBox="1"/>
          <p:nvPr/>
        </p:nvSpPr>
        <p:spPr>
          <a:xfrm>
            <a:off x="8514471"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500 €</a:t>
            </a:r>
            <a:endParaRPr lang="en-US" sz="900" dirty="0"/>
          </a:p>
        </p:txBody>
      </p:sp>
      <p:sp>
        <p:nvSpPr>
          <p:cNvPr id="16" name="tick"/>
          <p:cNvSpPr/>
          <p:nvPr/>
        </p:nvSpPr>
        <p:spPr>
          <a:xfrm>
            <a:off x="10381957" y="3374136"/>
            <a:ext cx="0" cy="109728"/>
          </a:xfrm>
          <a:prstGeom prst="line">
            <a:avLst/>
          </a:prstGeom>
          <a:noFill/>
          <a:ln w="12700">
            <a:solidFill>
              <a:srgbClr val="8A8178"/>
            </a:solidFill>
            <a:prstDash val="solid"/>
          </a:ln>
        </p:spPr>
      </p:sp>
      <p:sp>
        <p:nvSpPr>
          <p:cNvPr id="17" name="text"/>
          <p:cNvSpPr txBox="1"/>
          <p:nvPr/>
        </p:nvSpPr>
        <p:spPr>
          <a:xfrm>
            <a:off x="10061917" y="3520440"/>
            <a:ext cx="640080" cy="274320"/>
          </a:xfrm>
          <a:prstGeom prst="rect">
            <a:avLst/>
          </a:prstGeom>
          <a:noFill/>
          <a:ln/>
        </p:spPr>
        <p:txBody>
          <a:bodyPr wrap="square" lIns="0" tIns="0" rIns="0" bIns="0" rtlCol="0" anchor="t"/>
          <a:lstStyle/>
          <a:p>
            <a:pPr algn="ctr" indent="0" marL="0">
              <a:buNone/>
            </a:pPr>
            <a:r>
              <a:rPr lang="en-US" sz="900" dirty="0">
                <a:solidFill>
                  <a:srgbClr val="8A8178"/>
                </a:solidFill>
                <a:latin typeface="Arial" pitchFamily="34" charset="0"/>
                <a:ea typeface="Arial" pitchFamily="34" charset="-122"/>
                <a:cs typeface="Arial" pitchFamily="34" charset="-120"/>
              </a:rPr>
              <a:t>600 €</a:t>
            </a:r>
            <a:endParaRPr lang="en-US" sz="900" dirty="0"/>
          </a:p>
        </p:txBody>
      </p:sp>
      <p:sp>
        <p:nvSpPr>
          <p:cNvPr id="18" name="band"/>
          <p:cNvSpPr/>
          <p:nvPr/>
        </p:nvSpPr>
        <p:spPr>
          <a:xfrm>
            <a:off x="1375820" y="2697480"/>
            <a:ext cx="164592" cy="384048"/>
          </a:xfrm>
          <a:prstGeom prst="roundRect">
            <a:avLst>
              <a:gd name="adj" fmla="val 55556"/>
            </a:avLst>
          </a:prstGeom>
          <a:solidFill>
            <a:srgbClr val="E4DDD2"/>
          </a:solidFill>
          <a:ln w="9525">
            <a:solidFill>
              <a:srgbClr val="8A8178"/>
            </a:solidFill>
            <a:prstDash val="solid"/>
          </a:ln>
        </p:spPr>
      </p:sp>
      <p:sp>
        <p:nvSpPr>
          <p:cNvPr id="19" name="text"/>
          <p:cNvSpPr txBox="1"/>
          <p:nvPr/>
        </p:nvSpPr>
        <p:spPr>
          <a:xfrm>
            <a:off x="1097280" y="1874520"/>
            <a:ext cx="3931920" cy="274320"/>
          </a:xfrm>
          <a:prstGeom prst="rect">
            <a:avLst/>
          </a:prstGeom>
          <a:noFill/>
          <a:ln/>
        </p:spPr>
        <p:txBody>
          <a:bodyPr wrap="square" lIns="0" tIns="0" rIns="0" bIns="0" rtlCol="0" anchor="t"/>
          <a:lstStyle/>
          <a:p>
            <a:pPr indent="0" marL="0">
              <a:buNone/>
            </a:pPr>
            <a:r>
              <a:rPr lang="en-US" sz="1100" b="1" dirty="0">
                <a:solidFill>
                  <a:srgbClr val="201C19"/>
                </a:solidFill>
                <a:latin typeface="Arial" pitchFamily="34" charset="0"/>
                <a:ea typeface="Arial" pitchFamily="34" charset="-122"/>
                <a:cs typeface="Arial" pitchFamily="34" charset="-120"/>
              </a:rPr>
              <a:t>Assistants IA généralistes : 18 à 23 € TTC</a:t>
            </a:r>
            <a:endParaRPr lang="en-US" sz="1100" dirty="0"/>
          </a:p>
        </p:txBody>
      </p:sp>
      <p:sp>
        <p:nvSpPr>
          <p:cNvPr id="20" name="text"/>
          <p:cNvSpPr txBox="1"/>
          <p:nvPr/>
        </p:nvSpPr>
        <p:spPr>
          <a:xfrm>
            <a:off x="1097280" y="2130552"/>
            <a:ext cx="3566160" cy="50292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ChatGPT Plus 22,99 €, Gemini AI Pro 21,99 €, Claude Pro ≈ 21 €, Le Chat Pro 17,99 €. Ils répondent ; leurs agents sont hors de l'EEE.</a:t>
            </a:r>
            <a:endParaRPr lang="en-US" sz="900" dirty="0"/>
          </a:p>
        </p:txBody>
      </p:sp>
      <p:sp>
        <p:nvSpPr>
          <p:cNvPr id="21" name="band"/>
          <p:cNvSpPr/>
          <p:nvPr/>
        </p:nvSpPr>
        <p:spPr>
          <a:xfrm>
            <a:off x="4965895" y="2697480"/>
            <a:ext cx="5416062" cy="384048"/>
          </a:xfrm>
          <a:prstGeom prst="roundRect">
            <a:avLst>
              <a:gd name="adj" fmla="val 23810"/>
            </a:avLst>
          </a:prstGeom>
          <a:solidFill>
            <a:srgbClr val="E4DDD2"/>
          </a:solidFill>
          <a:ln w="9525">
            <a:solidFill>
              <a:srgbClr val="8A8178"/>
            </a:solidFill>
            <a:prstDash val="solid"/>
          </a:ln>
        </p:spPr>
      </p:sp>
      <p:sp>
        <p:nvSpPr>
          <p:cNvPr id="22" name="text"/>
          <p:cNvSpPr txBox="1"/>
          <p:nvPr/>
        </p:nvSpPr>
        <p:spPr>
          <a:xfrm>
            <a:off x="4965895" y="1874520"/>
            <a:ext cx="5029200" cy="274320"/>
          </a:xfrm>
          <a:prstGeom prst="rect">
            <a:avLst/>
          </a:prstGeom>
          <a:noFill/>
          <a:ln/>
        </p:spPr>
        <p:txBody>
          <a:bodyPr wrap="square" lIns="0" tIns="0" rIns="0" bIns="0" rtlCol="0" anchor="t"/>
          <a:lstStyle/>
          <a:p>
            <a:pPr indent="0" marL="0">
              <a:buNone/>
            </a:pPr>
            <a:r>
              <a:rPr lang="en-US" sz="1100" b="1" dirty="0">
                <a:solidFill>
                  <a:srgbClr val="201C19"/>
                </a:solidFill>
                <a:latin typeface="Arial" pitchFamily="34" charset="0"/>
                <a:ea typeface="Arial" pitchFamily="34" charset="-122"/>
                <a:cs typeface="Arial" pitchFamily="34" charset="-120"/>
              </a:rPr>
              <a:t>Conciergeries privées : 250 à 600 € par mois</a:t>
            </a:r>
            <a:endParaRPr lang="en-US" sz="1100" dirty="0"/>
          </a:p>
        </p:txBody>
      </p:sp>
      <p:sp>
        <p:nvSpPr>
          <p:cNvPr id="23" name="text"/>
          <p:cNvSpPr txBox="1"/>
          <p:nvPr/>
        </p:nvSpPr>
        <p:spPr>
          <a:xfrm>
            <a:off x="4965895" y="2130552"/>
            <a:ext cx="5394960" cy="50292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Formule famille 700 à 1 000 € ; luxe 3 000 à 15 000 € par an. Un interlocuteur humain, le prix d'un salaire. Yohana (249 $) a fermé en janvier 2026.</a:t>
            </a:r>
            <a:endParaRPr lang="en-US" sz="900" dirty="0"/>
          </a:p>
        </p:txBody>
      </p:sp>
      <p:sp>
        <p:nvSpPr>
          <p:cNvPr id="24" name="band"/>
          <p:cNvSpPr/>
          <p:nvPr/>
        </p:nvSpPr>
        <p:spPr>
          <a:xfrm>
            <a:off x="1097280" y="3886200"/>
            <a:ext cx="164592" cy="384048"/>
          </a:xfrm>
          <a:prstGeom prst="roundRect">
            <a:avLst>
              <a:gd name="adj" fmla="val 55556"/>
            </a:avLst>
          </a:prstGeom>
          <a:solidFill>
            <a:srgbClr val="E4DDD2"/>
          </a:solidFill>
          <a:ln w="9525">
            <a:solidFill>
              <a:srgbClr val="8A8178"/>
            </a:solidFill>
            <a:prstDash val="solid"/>
          </a:ln>
        </p:spPr>
      </p:sp>
      <p:sp>
        <p:nvSpPr>
          <p:cNvPr id="25" name="text"/>
          <p:cNvSpPr txBox="1"/>
          <p:nvPr/>
        </p:nvSpPr>
        <p:spPr>
          <a:xfrm>
            <a:off x="1330804" y="3931920"/>
            <a:ext cx="4572000" cy="274320"/>
          </a:xfrm>
          <a:prstGeom prst="rect">
            <a:avLst/>
          </a:prstGeom>
          <a:noFill/>
          <a:ln/>
        </p:spPr>
        <p:txBody>
          <a:bodyPr wrap="square" lIns="0" tIns="0" rIns="0" bIns="0" rtlCol="0" anchor="t"/>
          <a:lstStyle/>
          <a:p>
            <a:pPr indent="0" marL="0">
              <a:buNone/>
            </a:pPr>
            <a:r>
              <a:rPr lang="en-US" sz="1050" b="1" dirty="0">
                <a:solidFill>
                  <a:srgbClr val="201C19"/>
                </a:solidFill>
                <a:latin typeface="Arial" pitchFamily="34" charset="0"/>
                <a:ea typeface="Arial" pitchFamily="34" charset="-122"/>
                <a:cs typeface="Arial" pitchFamily="34" charset="-120"/>
              </a:rPr>
              <a:t>Applications familiales : 0 à 8 € · elles n'exécutent rien</a:t>
            </a:r>
            <a:endParaRPr lang="en-US" sz="1050" dirty="0"/>
          </a:p>
        </p:txBody>
      </p:sp>
      <p:sp>
        <p:nvSpPr>
          <p:cNvPr id="26" name="band"/>
          <p:cNvSpPr/>
          <p:nvPr/>
        </p:nvSpPr>
        <p:spPr>
          <a:xfrm>
            <a:off x="1174652" y="4434840"/>
            <a:ext cx="232117" cy="384048"/>
          </a:xfrm>
          <a:prstGeom prst="roundRect">
            <a:avLst>
              <a:gd name="adj" fmla="val 39394"/>
            </a:avLst>
          </a:prstGeom>
          <a:solidFill>
            <a:srgbClr val="E4DDD2"/>
          </a:solidFill>
          <a:ln w="9525">
            <a:solidFill>
              <a:srgbClr val="8A8178"/>
            </a:solidFill>
            <a:prstDash val="solid"/>
          </a:ln>
        </p:spPr>
      </p:sp>
      <p:sp>
        <p:nvSpPr>
          <p:cNvPr id="27" name="text"/>
          <p:cNvSpPr txBox="1"/>
          <p:nvPr/>
        </p:nvSpPr>
        <p:spPr>
          <a:xfrm>
            <a:off x="1516497" y="4480560"/>
            <a:ext cx="6858000" cy="274320"/>
          </a:xfrm>
          <a:prstGeom prst="rect">
            <a:avLst/>
          </a:prstGeom>
          <a:noFill/>
          <a:ln/>
        </p:spPr>
        <p:txBody>
          <a:bodyPr wrap="square" lIns="0" tIns="0" rIns="0" bIns="0" rtlCol="0" anchor="t"/>
          <a:lstStyle/>
          <a:p>
            <a:pPr indent="0" marL="0">
              <a:buNone/>
            </a:pPr>
            <a:r>
              <a:rPr lang="en-US" sz="1050" b="1" dirty="0">
                <a:solidFill>
                  <a:srgbClr val="201C19"/>
                </a:solidFill>
                <a:latin typeface="Arial" pitchFamily="34" charset="0"/>
                <a:ea typeface="Arial" pitchFamily="34" charset="-122"/>
                <a:cs typeface="Arial" pitchFamily="34" charset="-120"/>
              </a:rPr>
              <a:t>Conciergerie d'entreprise : 5 à 20 € par salarié, payés par l'employeur · le prix de marché du canal B2B2C</a:t>
            </a:r>
            <a:endParaRPr lang="en-US" sz="1050" dirty="0"/>
          </a:p>
        </p:txBody>
      </p:sp>
      <p:sp>
        <p:nvSpPr>
          <p:cNvPr id="28" name="hline"/>
          <p:cNvSpPr/>
          <p:nvPr/>
        </p:nvSpPr>
        <p:spPr>
          <a:xfrm>
            <a:off x="2319762" y="2697480"/>
            <a:ext cx="0" cy="731520"/>
          </a:xfrm>
          <a:prstGeom prst="line">
            <a:avLst/>
          </a:prstGeom>
          <a:noFill/>
          <a:ln w="19050">
            <a:solidFill>
              <a:srgbClr val="F0916A"/>
            </a:solidFill>
            <a:prstDash val="dash"/>
          </a:ln>
        </p:spPr>
      </p:sp>
      <p:sp>
        <p:nvSpPr>
          <p:cNvPr id="29" name="helium"/>
          <p:cNvSpPr/>
          <p:nvPr/>
        </p:nvSpPr>
        <p:spPr>
          <a:xfrm>
            <a:off x="2173458" y="3282696"/>
            <a:ext cx="292608" cy="292608"/>
          </a:xfrm>
          <a:prstGeom prst="ellipse">
            <a:avLst/>
          </a:prstGeom>
          <a:solidFill>
            <a:srgbClr val="F0916A"/>
          </a:solidFill>
          <a:ln w="19050">
            <a:solidFill>
              <a:srgbClr val="201C19"/>
            </a:solidFill>
            <a:prstDash val="solid"/>
          </a:ln>
        </p:spPr>
      </p:sp>
      <p:sp>
        <p:nvSpPr>
          <p:cNvPr id="30" name="text"/>
          <p:cNvSpPr txBox="1"/>
          <p:nvPr/>
        </p:nvSpPr>
        <p:spPr>
          <a:xfrm>
            <a:off x="2520930" y="2724912"/>
            <a:ext cx="2743200" cy="320040"/>
          </a:xfrm>
          <a:prstGeom prst="rect">
            <a:avLst/>
          </a:prstGeom>
          <a:noFill/>
          <a:ln/>
        </p:spPr>
        <p:txBody>
          <a:bodyPr wrap="square" lIns="0" tIns="0" rIns="0" bIns="0" rtlCol="0" anchor="t"/>
          <a:lstStyle/>
          <a:p>
            <a:pPr indent="0" marL="0">
              <a:buNone/>
            </a:pPr>
            <a:r>
              <a:rPr lang="en-US" sz="1300" b="1" dirty="0">
                <a:solidFill>
                  <a:srgbClr val="D9734F"/>
                </a:solidFill>
                <a:latin typeface="Georgia" pitchFamily="34" charset="0"/>
                <a:ea typeface="Georgia" pitchFamily="34" charset="-122"/>
                <a:cs typeface="Georgia" pitchFamily="34" charset="-120"/>
              </a:rPr>
              <a:t>Helium Premium 79 €</a:t>
            </a:r>
            <a:endParaRPr lang="en-US" sz="1300" dirty="0"/>
          </a:p>
        </p:txBody>
      </p:sp>
      <p:sp>
        <p:nvSpPr>
          <p:cNvPr id="31" name="text"/>
          <p:cNvSpPr txBox="1"/>
          <p:nvPr/>
        </p:nvSpPr>
        <p:spPr>
          <a:xfrm>
            <a:off x="2520930" y="3017520"/>
            <a:ext cx="3108960" cy="27432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Le couloir de 23 € à 250 € est vide.</a:t>
            </a:r>
            <a:endParaRPr lang="en-US" sz="950" dirty="0"/>
          </a:p>
        </p:txBody>
      </p:sp>
      <p:sp>
        <p:nvSpPr>
          <p:cNvPr id="32" name="card"/>
          <p:cNvSpPr/>
          <p:nvPr/>
        </p:nvSpPr>
        <p:spPr>
          <a:xfrm>
            <a:off x="822960" y="5029200"/>
            <a:ext cx="10789920" cy="1143000"/>
          </a:xfrm>
          <a:prstGeom prst="roundRect">
            <a:avLst>
              <a:gd name="adj" fmla="val 6400"/>
            </a:avLst>
          </a:prstGeom>
          <a:solidFill>
            <a:srgbClr val="EFE9E0"/>
          </a:solidFill>
          <a:ln w="9525">
            <a:solidFill>
              <a:srgbClr val="EFE9E0"/>
            </a:solidFill>
            <a:prstDash val="solid"/>
          </a:ln>
        </p:spPr>
      </p:sp>
      <p:sp>
        <p:nvSpPr>
          <p:cNvPr id="33" name="text"/>
          <p:cNvSpPr txBox="1"/>
          <p:nvPr/>
        </p:nvSpPr>
        <p:spPr>
          <a:xfrm>
            <a:off x="1005840" y="5102352"/>
            <a:ext cx="10424160" cy="100584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Lecture : à 79 €, Helium coûte trois à quatre fois un assistant généraliste et trois à huit fois moins qu'une conciergerie privée. La conciergerie d'entreprise (5 à 20 € par salarié, payée par l'employeur) est le prix de marché du canal B2B2C. Le client ne paiera l'écart avec les 23 € que s'il voit une mission exécutée de bout en bout, sous son contrôle, avec la mémoire de son foyer. Prix de retrait : 59 € (contribution Premium sous 32 €, payback au-delà de cinq mois).</a:t>
            </a:r>
            <a:endParaRPr lang="en-US" sz="1050" dirty="0"/>
          </a:p>
        </p:txBody>
      </p:sp>
      <p:sp>
        <p:nvSpPr>
          <p:cNvPr id="35"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Trois familles de concurrents, trois contraintes structurelles ; l'asymétrie Helium est l'exécution sous mandat</a:t>
            </a:r>
            <a:endParaRPr lang="en-US" sz="2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789920" cy="914400"/>
        </p:xfrm>
        <a:graphic>
          <a:graphicData uri="http://schemas.openxmlformats.org/drawingml/2006/table">
            <a:tbl>
              <a:tblPr/>
              <a:tblGrid>
                <a:gridCol w="2103120"/>
                <a:gridCol w="2560320"/>
                <a:gridCol w="2926080"/>
                <a:gridCol w="320040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Famille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Stratégie révélée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Contrainte structurelle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Asymétrie Helium</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Généralistes (OpenAI, Google, Anthropic, Microsoft, Mistral, Meta)</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Connecteurs Gmail et Agenda sous approbation à 18 à 23 € ; agents proactifs (dots, Spark, Duet, Muse, Siri AI) lancés aux États-Unis en 2026, tous exclus de l'EEE ; priorité au marché du travail</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Produits horizontaux mondiaux freinés en Europe par le DMA et les règles de consentement : pas de mandat par action, pas de séparation des sphères du foyer, pas de conformité France par conception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Mandat explicite, journal opposable, multi-profils, hébergement et gouvernance européens, douze à vingt-quatre mois d'avance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Conciergeries humaines (John Paul, Circles, privées)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Marché français &gt; 150 M€ (Xerfi 2025), 97 % de clients entreprises chez John Paul ; 5 à 20 € par salarié en entreprise, 250 à 600 € par mois en privé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Coût humain, capacité, horaires ; Yohana (humains, 249 $) a fermé en janvier 2026</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Prix divisé par quatre à huit, disponibilité, traçabilité ; partenariat possible comme couche d'exécution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Applications d'organisation familiale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Gratuit + premium à 5 €, volume, publicité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Pas d'exécution, pas de connecteurs profonds, ARPU trop faible pour la fiabilité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Exécution réelle financée par un prix premium</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Assistants IA personnels spécialisés (Martin, Ohai, Lindy, Fyxer ; Wiidii, TheAssistant en France)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Productivité professionnelle ou foyer américain ; 10 à 99 $ ; onboarding de 2 à 4 semaines et langues non anglaises en retard chez Martin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Petites équipes, dépendance aux mêmes modèles, pas de distribution ; aucun acteur français B2C avec prix public (inconnu)</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Vie personnelle et foyer, français, onboarding en dix minutes, conformité comme argument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4" name="text"/>
          <p:cNvSpPr txBox="1"/>
          <p:nvPr/>
        </p:nvSpPr>
        <p:spPr>
          <a:xfrm>
            <a:off x="822960" y="5943600"/>
            <a:ext cx="10789920" cy="41148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Sources publiques uniquement : pages tarifaires et centres d'aide des éditeurs, presse spécialisée, Xerfi, Toyo Keizai (octobre 2026). Profils complets dans l'analyse de marché, § 6.</a:t>
            </a:r>
            <a:endParaRPr lang="en-US" sz="900" dirty="0"/>
          </a:p>
        </p:txBody>
      </p:sp>
      <p:sp>
        <p:nvSpPr>
          <p:cNvPr id="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War-game : nous ne pouvons pas contrer un « ChatGPT vie perso » à 30 € en Europe ; la réponse est de ne pas jouer sur leur terrain</a:t>
            </a:r>
            <a:endParaRPr lang="en-US" sz="2400" dirty="0"/>
          </a:p>
        </p:txBody>
      </p:sp>
      <p:sp>
        <p:nvSpPr>
          <p:cNvPr id="3" name="card"/>
          <p:cNvSpPr/>
          <p:nvPr/>
        </p:nvSpPr>
        <p:spPr>
          <a:xfrm>
            <a:off x="822960" y="1463040"/>
            <a:ext cx="3383280" cy="2651760"/>
          </a:xfrm>
          <a:prstGeom prst="roundRect">
            <a:avLst>
              <a:gd name="adj" fmla="val 2759"/>
            </a:avLst>
          </a:prstGeom>
          <a:solidFill>
            <a:srgbClr val="EFE9E0"/>
          </a:solidFill>
          <a:ln w="9525">
            <a:solidFill>
              <a:srgbClr val="EFE9E0"/>
            </a:solidFill>
            <a:prstDash val="solid"/>
          </a:ln>
        </p:spPr>
      </p:sp>
      <p:sp>
        <p:nvSpPr>
          <p:cNvPr id="4" name="text"/>
          <p:cNvSpPr txBox="1"/>
          <p:nvPr/>
        </p:nvSpPr>
        <p:spPr>
          <a:xfrm>
            <a:off x="1005840" y="1600200"/>
            <a:ext cx="3017520" cy="36576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Round 1 : notre coup</a:t>
            </a:r>
            <a:endParaRPr lang="en-US" sz="1100" dirty="0"/>
          </a:p>
        </p:txBody>
      </p:sp>
      <p:sp>
        <p:nvSpPr>
          <p:cNvPr id="5" name="text"/>
          <p:cNvSpPr txBox="1"/>
          <p:nvPr/>
        </p:nvSpPr>
        <p:spPr>
          <a:xfrm>
            <a:off x="1005840" y="1965960"/>
            <a:ext cx="3017520" cy="201168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Lancement Helium Premium à 79 €, cadres pressés, dix missions, contrôle et journal. Visible sur LinkedIn et dans le réseau HEC.</a:t>
            </a:r>
            <a:endParaRPr lang="en-US" sz="1050" dirty="0"/>
          </a:p>
        </p:txBody>
      </p:sp>
      <p:sp>
        <p:nvSpPr>
          <p:cNvPr id="6" name="card"/>
          <p:cNvSpPr/>
          <p:nvPr/>
        </p:nvSpPr>
        <p:spPr>
          <a:xfrm>
            <a:off x="4434840" y="1463040"/>
            <a:ext cx="3383280" cy="2651760"/>
          </a:xfrm>
          <a:prstGeom prst="roundRect">
            <a:avLst>
              <a:gd name="adj" fmla="val 2759"/>
            </a:avLst>
          </a:prstGeom>
          <a:solidFill>
            <a:srgbClr val="EFE9E0"/>
          </a:solidFill>
          <a:ln w="9525">
            <a:solidFill>
              <a:srgbClr val="EFE9E0"/>
            </a:solidFill>
            <a:prstDash val="solid"/>
          </a:ln>
        </p:spPr>
      </p:sp>
      <p:sp>
        <p:nvSpPr>
          <p:cNvPr id="7" name="text"/>
          <p:cNvSpPr txBox="1"/>
          <p:nvPr/>
        </p:nvSpPr>
        <p:spPr>
          <a:xfrm>
            <a:off x="4617720" y="1600200"/>
            <a:ext cx="3017520" cy="36576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Round 2 : leur réponse</a:t>
            </a:r>
            <a:endParaRPr lang="en-US" sz="1100" dirty="0"/>
          </a:p>
        </p:txBody>
      </p:sp>
      <p:sp>
        <p:nvSpPr>
          <p:cNvPr id="8" name="text"/>
          <p:cNvSpPr txBox="1"/>
          <p:nvPr/>
        </p:nvSpPr>
        <p:spPr>
          <a:xfrm>
            <a:off x="4617720" y="1965960"/>
            <a:ext cx="3017520" cy="201168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Un généraliste ouvre en Europe son agent proactif (dots, Spark, Duet) avec connecteurs, mémoire et réservations, à 20 à 30 €. L'écart fonctionnel se referme en six mois ; la fenêtre européenne était de douze à vingt-quatre mois.</a:t>
            </a:r>
            <a:endParaRPr lang="en-US" sz="1050" dirty="0"/>
          </a:p>
        </p:txBody>
      </p:sp>
      <p:sp>
        <p:nvSpPr>
          <p:cNvPr id="9" name="card"/>
          <p:cNvSpPr/>
          <p:nvPr/>
        </p:nvSpPr>
        <p:spPr>
          <a:xfrm>
            <a:off x="8046720" y="1463040"/>
            <a:ext cx="3383280" cy="2651760"/>
          </a:xfrm>
          <a:prstGeom prst="roundRect">
            <a:avLst>
              <a:gd name="adj" fmla="val 2759"/>
            </a:avLst>
          </a:prstGeom>
          <a:solidFill>
            <a:srgbClr val="201C19"/>
          </a:solidFill>
          <a:ln w="9525">
            <a:solidFill>
              <a:srgbClr val="EFE9E0"/>
            </a:solidFill>
            <a:prstDash val="solid"/>
          </a:ln>
        </p:spPr>
      </p:sp>
      <p:sp>
        <p:nvSpPr>
          <p:cNvPr id="10" name="text"/>
          <p:cNvSpPr txBox="1"/>
          <p:nvPr/>
        </p:nvSpPr>
        <p:spPr>
          <a:xfrm>
            <a:off x="8229600" y="1600200"/>
            <a:ext cx="3017520" cy="36576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Round 3 : notre contre</a:t>
            </a:r>
            <a:endParaRPr lang="en-US" sz="1100" dirty="0"/>
          </a:p>
        </p:txBody>
      </p:sp>
      <p:sp>
        <p:nvSpPr>
          <p:cNvPr id="11" name="text"/>
          <p:cNvSpPr txBox="1"/>
          <p:nvPr/>
        </p:nvSpPr>
        <p:spPr>
          <a:xfrm>
            <a:off x="8229600" y="1965960"/>
            <a:ext cx="3017520" cy="2011680"/>
          </a:xfrm>
          <a:prstGeom prst="rect">
            <a:avLst/>
          </a:prstGeom>
          <a:noFill/>
          <a:ln/>
        </p:spPr>
        <p:txBody>
          <a:bodyPr wrap="square" lIns="0" tIns="0" rIns="0" bIns="0" rtlCol="0" anchor="t"/>
          <a:lstStyle/>
          <a:p>
            <a:pPr indent="0" marL="0">
              <a:buNone/>
            </a:pPr>
            <a:r>
              <a:rPr lang="en-US" sz="1050" dirty="0">
                <a:solidFill>
                  <a:srgbClr val="F7F3EC"/>
                </a:solidFill>
                <a:latin typeface="Arial" pitchFamily="34" charset="0"/>
                <a:ea typeface="Arial" pitchFamily="34" charset="-122"/>
                <a:cs typeface="Arial" pitchFamily="34" charset="-120"/>
              </a:rPr>
              <a:t>Nous ne pouvons pas gagner sur la fonctionnalité. Nous gagnons sur ce qu'ils ne feront pas : mandat par action, journal opposable, foyer multi-profils, hébergement européen, et le canal employeur où le DRH achète la conformité, pas la technologie.</a:t>
            </a:r>
            <a:endParaRPr lang="en-US" sz="1050" dirty="0"/>
          </a:p>
        </p:txBody>
      </p:sp>
      <p:sp>
        <p:nvSpPr>
          <p:cNvPr id="12" name="text"/>
          <p:cNvSpPr txBox="1"/>
          <p:nvPr/>
        </p:nvSpPr>
        <p:spPr>
          <a:xfrm>
            <a:off x="822960" y="4297680"/>
            <a:ext cx="1078992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Déclencheurs et réponses pré-décidées</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822960" y="4617720"/>
          <a:ext cx="10789920" cy="914400"/>
        </p:xfrm>
        <a:graphic>
          <a:graphicData uri="http://schemas.openxmlformats.org/drawingml/2006/table">
            <a:tbl>
              <a:tblPr/>
              <a:tblGrid>
                <a:gridCol w="4754880"/>
                <a:gridCol w="603504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Déclencheur observable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Réponse pré-décidée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Lancement dans l'EEE des dots sur Pro, de Gemini Spark ou de Claude Duet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Revue de prix en 30 jours ; accélération du canal employeur ; argumentaire recentré sur le mandat et la conformité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Un généraliste offre l'exécution proactive avec mémoire du foyer sous 30 € en Europe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Bascule vers l'option employeur ou la marque blanche ; arrêt des dépenses d'acquisition B2C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Google restreint les scopes Gmail aux partenaires certifiés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Mode dégradé par transfert de courriels ; priorité au connecteur Agenda ; évaluation de sécurité anticipée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Une conciergerie humaine lance une offre IA à 99 €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Proposer la couche d'exécution en marque blanche (option E) plutôt que la concurrencer</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Churn du pilote &gt; 5 % par mois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Pas de montée en charge ; retour aux entretiens de résiliation ; périmètre réduit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15"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15600" cy="1280160"/>
          </a:xfrm>
          <a:prstGeom prst="rect">
            <a:avLst/>
          </a:prstGeom>
          <a:noFill/>
          <a:ln/>
        </p:spPr>
        <p:txBody>
          <a:bodyPr wrap="square" lIns="0" tIns="0" rIns="0" bIns="0" rtlCol="0" anchor="ctr"/>
          <a:lstStyle/>
          <a:p>
            <a:pPr algn="l" indent="0" marL="0">
              <a:buNone/>
            </a:pPr>
            <a:r>
              <a:rPr lang="en-US" sz="3600" dirty="0">
                <a:solidFill>
                  <a:srgbClr val="201C19"/>
                </a:solidFill>
                <a:latin typeface="Georgia" pitchFamily="34" charset="0"/>
                <a:ea typeface="Georgia" pitchFamily="34" charset="-122"/>
                <a:cs typeface="Georgia" pitchFamily="34" charset="-120"/>
              </a:rPr>
              <a:t>2. Le modèle : segments, promesse, économie</a:t>
            </a:r>
            <a:endParaRPr lang="en-US" sz="3600" dirty="0"/>
          </a:p>
        </p:txBody>
      </p:sp>
      <p:sp>
        <p:nvSpPr>
          <p:cNvPr id="3" name="Text 0"/>
          <p:cNvSpPr/>
          <p:nvPr>
            <p:ph idx="101" type="body" hasCustomPrompt="1"/>
          </p:nvPr>
        </p:nvSpPr>
        <p:spPr>
          <a:xfrm>
            <a:off x="822960" y="3931920"/>
            <a:ext cx="10515600" cy="914400"/>
          </a:xfrm>
          <a:prstGeom prst="rect">
            <a:avLst/>
          </a:prstGeom>
          <a:noFill/>
          <a:ln/>
        </p:spPr>
        <p:txBody>
          <a:bodyPr wrap="square" lIns="0" tIns="0" rIns="0" bIns="0" rtlCol="0" anchor="t"/>
          <a:lstStyle/>
          <a:p>
            <a:pPr indent="0" marL="0">
              <a:buNone/>
            </a:pPr>
            <a:r>
              <a:rPr lang="en-US" sz="1600" dirty="0">
                <a:solidFill>
                  <a:srgbClr val="8A8178"/>
                </a:solidFill>
                <a:latin typeface="Arial" pitchFamily="34" charset="0"/>
                <a:ea typeface="Arial" pitchFamily="34" charset="-122"/>
                <a:cs typeface="Arial" pitchFamily="34" charset="-120"/>
              </a:rPr>
              <a:t>Qui paie, pour quoi, et ce que cela rapporte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Quatre segments, deux prioritaires : le cadre pressé porte le pilote, le couple bi-actif porte la valeur</a:t>
            </a:r>
            <a:endParaRPr lang="en-US" sz="2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789920" cy="914400"/>
        </p:xfrm>
        <a:graphic>
          <a:graphicData uri="http://schemas.openxmlformats.org/drawingml/2006/table">
            <a:tbl>
              <a:tblPr/>
              <a:tblGrid>
                <a:gridCol w="2377440"/>
                <a:gridCol w="1463040"/>
                <a:gridCol w="1371600"/>
                <a:gridCol w="1463040"/>
                <a:gridCol w="914400"/>
                <a:gridCol w="3200400"/>
              </a:tblGrid>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Segment</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Taille (ordre)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Prix accepté (hyp.)</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Coût de service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Marge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Action justifiée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Cadre supérieur très actif, 35 à 50 ans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4,7 M de 25 à 49 ans ; cœur ≈ 1,1 M</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Premium 79 €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18 € + support léger</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74 %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Cible du pilote : un seul utilisateur, MVP simple, réseau HEC</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Couple bi-actif aisé avec enfants, 35 à 55 ans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 1,2 M de ménages cadre et cadre (Insee)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Family 129 €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25 € (multi-profils)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78 %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Cible secondaire : tester la douleur, livrer après le multi-profil</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Dirigeants, professions libérales, 40 à 60 ans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 11 % des cadres, ≈ 0,8 M</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Premium + usage intensif</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30 € (exigence, sécurité)</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65 %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P2 : introductions qualifiées, périmètre d'accès limité</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Actifs confortables sensibles au prix</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Large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Personal 29 €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9 €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63 %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P3 : organique seulement ; payback 10 mois, ne pas acquérir</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4" name="text"/>
          <p:cNvSpPr txBox="1"/>
          <p:nvPr/>
        </p:nvSpPr>
        <p:spPr>
          <a:xfrm>
            <a:off x="822960" y="5760720"/>
            <a:ext cx="10789920" cy="54864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Tailles : Insee 2025 (cadres), 2019 (âge, ménages cadre et cadre 3,8 % des ménages, professions libérales ≈ 11 %), Apec 2022 (enfants) ; coefficient de délégation Ifop 2026. Estimations à remplacer par les entretiens. Marges : modèle financier, scénario central.</a:t>
            </a:r>
            <a:endParaRPr lang="en-US" sz="950" dirty="0"/>
          </a:p>
        </p:txBody>
      </p:sp>
      <p:sp>
        <p:nvSpPr>
          <p:cNvPr id="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La promesse est le contrôle : il anticipe, il agit sous votre mandat, vos données restent les vôtres</a:t>
            </a:r>
            <a:endParaRPr lang="en-US" sz="2400" dirty="0"/>
          </a:p>
        </p:txBody>
      </p:sp>
      <p:sp>
        <p:nvSpPr>
          <p:cNvPr id="3" name="card"/>
          <p:cNvSpPr/>
          <p:nvPr/>
        </p:nvSpPr>
        <p:spPr>
          <a:xfrm>
            <a:off x="822960" y="1463040"/>
            <a:ext cx="4846320" cy="4480560"/>
          </a:xfrm>
          <a:prstGeom prst="roundRect">
            <a:avLst>
              <a:gd name="adj" fmla="val 1633"/>
            </a:avLst>
          </a:prstGeom>
          <a:solidFill>
            <a:srgbClr val="201C19"/>
          </a:solidFill>
          <a:ln w="9525">
            <a:solidFill>
              <a:srgbClr val="EFE9E0"/>
            </a:solidFill>
            <a:prstDash val="solid"/>
          </a:ln>
        </p:spPr>
      </p:sp>
      <p:sp>
        <p:nvSpPr>
          <p:cNvPr id="4" name="text"/>
          <p:cNvSpPr txBox="1"/>
          <p:nvPr/>
        </p:nvSpPr>
        <p:spPr>
          <a:xfrm>
            <a:off x="1005840" y="1600200"/>
            <a:ext cx="448056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La promesse</a:t>
            </a:r>
            <a:endParaRPr lang="en-US" sz="1100" dirty="0"/>
          </a:p>
        </p:txBody>
      </p:sp>
      <p:sp>
        <p:nvSpPr>
          <p:cNvPr id="5" name="text"/>
          <p:cNvSpPr txBox="1"/>
          <p:nvPr/>
        </p:nvSpPr>
        <p:spPr>
          <a:xfrm>
            <a:off x="1005840" y="1965960"/>
            <a:ext cx="4480560" cy="1463040"/>
          </a:xfrm>
          <a:prstGeom prst="rect">
            <a:avLst/>
          </a:prstGeom>
          <a:noFill/>
          <a:ln/>
        </p:spPr>
        <p:txBody>
          <a:bodyPr wrap="square" lIns="0" tIns="0" rIns="0" bIns="0" rtlCol="0" anchor="t"/>
          <a:lstStyle/>
          <a:p>
            <a:pPr indent="0" marL="0">
              <a:buNone/>
            </a:pPr>
            <a:r>
              <a:rPr lang="en-US" sz="1500" dirty="0">
                <a:solidFill>
                  <a:srgbClr val="F7F3EC"/>
                </a:solidFill>
                <a:latin typeface="Georgia" pitchFamily="34" charset="0"/>
                <a:ea typeface="Georgia" pitchFamily="34" charset="-122"/>
                <a:cs typeface="Georgia" pitchFamily="34" charset="-120"/>
              </a:rPr>
              <a:t>« Votre quotidien personnel, organisé et anticipé. Vous gardez la main, il s'occupe du reste. »</a:t>
            </a:r>
            <a:endParaRPr lang="en-US" sz="1500" dirty="0"/>
          </a:p>
        </p:txBody>
      </p:sp>
      <p:sp>
        <p:nvSpPr>
          <p:cNvPr id="6" name="eng"/>
          <p:cNvSpPr txBox="1"/>
          <p:nvPr/>
        </p:nvSpPr>
        <p:spPr>
          <a:xfrm>
            <a:off x="1005840" y="3566160"/>
            <a:ext cx="4480560" cy="22860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F7F3EC"/>
                </a:solidFill>
                <a:latin typeface="Arial" pitchFamily="34" charset="0"/>
                <a:ea typeface="Arial" pitchFamily="34" charset="-122"/>
                <a:cs typeface="Arial" pitchFamily="34" charset="-120"/>
              </a:rPr>
              <a:t>Il anticipe : échéances et besoins repérés avant qu'ils deviennent urgents.</a:t>
            </a:r>
            <a:endParaRPr lang="en-US" sz="1100" dirty="0"/>
          </a:p>
          <a:p>
            <a:pPr marL="177800" indent="-177800">
              <a:spcAft>
                <a:spcPts val="500"/>
              </a:spcAft>
              <a:buSzPct val="100000"/>
              <a:buChar char="•"/>
            </a:pPr>
            <a:r>
              <a:rPr lang="en-US" sz="1100" dirty="0">
                <a:solidFill>
                  <a:srgbClr val="F7F3EC"/>
                </a:solidFill>
                <a:latin typeface="Arial" pitchFamily="34" charset="0"/>
                <a:ea typeface="Arial" pitchFamily="34" charset="-122"/>
                <a:cs typeface="Arial" pitchFamily="34" charset="-120"/>
              </a:rPr>
              <a:t>Il agit sous votre contrôle : rien de visible par un tiers sans votre validation ; chaque action est journalisée.</a:t>
            </a:r>
            <a:endParaRPr lang="en-US" sz="1100" dirty="0"/>
          </a:p>
          <a:p>
            <a:pPr marL="177800" indent="-177800">
              <a:spcAft>
                <a:spcPts val="500"/>
              </a:spcAft>
              <a:buSzPct val="100000"/>
              <a:buChar char="•"/>
            </a:pPr>
            <a:r>
              <a:rPr lang="en-US" sz="1100" dirty="0">
                <a:solidFill>
                  <a:srgbClr val="F7F3EC"/>
                </a:solidFill>
                <a:latin typeface="Arial" pitchFamily="34" charset="0"/>
                <a:ea typeface="Arial" pitchFamily="34" charset="-122"/>
                <a:cs typeface="Arial" pitchFamily="34" charset="-120"/>
              </a:rPr>
              <a:t>Vos données restent les vôtres : sphères séparées, hébergement et gouvernance européens, aucun entraînement sur vos contenus.</a:t>
            </a:r>
            <a:endParaRPr lang="en-US" sz="1100" dirty="0"/>
          </a:p>
        </p:txBody>
      </p:sp>
      <p:sp>
        <p:nvSpPr>
          <p:cNvPr id="7" name="text"/>
          <p:cNvSpPr txBox="1"/>
          <p:nvPr/>
        </p:nvSpPr>
        <p:spPr>
          <a:xfrm>
            <a:off x="5943600" y="1463040"/>
            <a:ext cx="566928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Dix missions, trois niveaux de validation</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943600" y="1783080"/>
          <a:ext cx="5669280" cy="914400"/>
        </p:xfrm>
        <a:graphic>
          <a:graphicData uri="http://schemas.openxmlformats.org/drawingml/2006/table">
            <a:tbl>
              <a:tblPr/>
              <a:tblGrid>
                <a:gridCol w="3383280"/>
                <a:gridCol w="1005840"/>
                <a:gridCol w="128016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Mission MVP</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Niveau</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Coût IA</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1. Briefing quotidien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2. Suivi des échéances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faible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3. Rendez-vous de service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4. Réservation de restaurant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5. Déplacement privé (préparation seule)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élevé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6. Brouillons de courriels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7. Agenda familial</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8. Suivi des abonnements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faible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9. Relances en attente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faible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10. Événement personnel</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moyen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10"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Le modèle : abonnement par foyer, trois offres, Premium porte l'économie, Personal n'est qu'une porte d'entrée</a:t>
            </a:r>
            <a:endParaRPr lang="en-US" sz="2400" dirty="0"/>
          </a:p>
        </p:txBody>
      </p:sp>
      <p:sp>
        <p:nvSpPr>
          <p:cNvPr id="3" name="card"/>
          <p:cNvSpPr/>
          <p:nvPr/>
        </p:nvSpPr>
        <p:spPr>
          <a:xfrm>
            <a:off x="822960" y="1463040"/>
            <a:ext cx="2057400" cy="2103120"/>
          </a:xfrm>
          <a:prstGeom prst="roundRect">
            <a:avLst>
              <a:gd name="adj" fmla="val 3556"/>
            </a:avLst>
          </a:prstGeom>
          <a:solidFill>
            <a:srgbClr val="EFE9E0"/>
          </a:solidFill>
          <a:ln w="9525">
            <a:solidFill>
              <a:srgbClr val="EFE9E0"/>
            </a:solidFill>
            <a:prstDash val="solid"/>
          </a:ln>
        </p:spPr>
      </p:sp>
      <p:sp>
        <p:nvSpPr>
          <p:cNvPr id="4" name="text"/>
          <p:cNvSpPr txBox="1"/>
          <p:nvPr/>
        </p:nvSpPr>
        <p:spPr>
          <a:xfrm>
            <a:off x="960120" y="1572768"/>
            <a:ext cx="1828800" cy="320040"/>
          </a:xfrm>
          <a:prstGeom prst="rect">
            <a:avLst/>
          </a:prstGeom>
          <a:noFill/>
          <a:ln/>
        </p:spPr>
        <p:txBody>
          <a:bodyPr wrap="square" lIns="0" tIns="0" rIns="0" bIns="0" rtlCol="0" anchor="t"/>
          <a:lstStyle/>
          <a:p>
            <a:pPr indent="0" marL="0">
              <a:buNone/>
            </a:pPr>
            <a:r>
              <a:rPr lang="en-US" sz="1100" b="1" dirty="0">
                <a:solidFill>
                  <a:srgbClr val="201C19"/>
                </a:solidFill>
                <a:latin typeface="Arial" pitchFamily="34" charset="0"/>
                <a:ea typeface="Arial" pitchFamily="34" charset="-122"/>
                <a:cs typeface="Arial" pitchFamily="34" charset="-120"/>
              </a:rPr>
              <a:t>Personal</a:t>
            </a:r>
            <a:endParaRPr lang="en-US" sz="1100" dirty="0"/>
          </a:p>
        </p:txBody>
      </p:sp>
      <p:sp>
        <p:nvSpPr>
          <p:cNvPr id="5" name="text"/>
          <p:cNvSpPr txBox="1"/>
          <p:nvPr/>
        </p:nvSpPr>
        <p:spPr>
          <a:xfrm>
            <a:off x="960120" y="1874520"/>
            <a:ext cx="1828800" cy="640080"/>
          </a:xfrm>
          <a:prstGeom prst="rect">
            <a:avLst/>
          </a:prstGeom>
          <a:noFill/>
          <a:ln/>
        </p:spPr>
        <p:txBody>
          <a:bodyPr wrap="square" lIns="0" tIns="0" rIns="0" bIns="0" rtlCol="0" anchor="t"/>
          <a:lstStyle/>
          <a:p>
            <a:pPr indent="0" marL="0">
              <a:buNone/>
            </a:pPr>
            <a:r>
              <a:rPr lang="en-US" sz="2600" dirty="0">
                <a:solidFill>
                  <a:srgbClr val="201C19"/>
                </a:solidFill>
                <a:latin typeface="Georgia" pitchFamily="34" charset="0"/>
                <a:ea typeface="Georgia" pitchFamily="34" charset="-122"/>
                <a:cs typeface="Georgia" pitchFamily="34" charset="-120"/>
              </a:rPr>
              <a:t>29 €</a:t>
            </a:r>
            <a:endParaRPr lang="en-US" sz="2600" dirty="0"/>
          </a:p>
        </p:txBody>
      </p:sp>
      <p:sp>
        <p:nvSpPr>
          <p:cNvPr id="6" name="text"/>
          <p:cNvSpPr txBox="1"/>
          <p:nvPr/>
        </p:nvSpPr>
        <p:spPr>
          <a:xfrm>
            <a:off x="960120" y="2514600"/>
            <a:ext cx="1828800" cy="100584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Agenda, rappels, démarches courantes. Payback 10 mois : acquisition organique seulement.</a:t>
            </a:r>
            <a:endParaRPr lang="en-US" sz="950" dirty="0"/>
          </a:p>
        </p:txBody>
      </p:sp>
      <p:sp>
        <p:nvSpPr>
          <p:cNvPr id="7" name="card"/>
          <p:cNvSpPr/>
          <p:nvPr/>
        </p:nvSpPr>
        <p:spPr>
          <a:xfrm>
            <a:off x="3063240" y="1463040"/>
            <a:ext cx="2057400" cy="2103120"/>
          </a:xfrm>
          <a:prstGeom prst="roundRect">
            <a:avLst>
              <a:gd name="adj" fmla="val 3556"/>
            </a:avLst>
          </a:prstGeom>
          <a:solidFill>
            <a:srgbClr val="F0916A"/>
          </a:solidFill>
          <a:ln w="9525">
            <a:solidFill>
              <a:srgbClr val="EFE9E0"/>
            </a:solidFill>
            <a:prstDash val="solid"/>
          </a:ln>
        </p:spPr>
      </p:sp>
      <p:sp>
        <p:nvSpPr>
          <p:cNvPr id="8" name="text"/>
          <p:cNvSpPr txBox="1"/>
          <p:nvPr/>
        </p:nvSpPr>
        <p:spPr>
          <a:xfrm>
            <a:off x="3200400" y="1572768"/>
            <a:ext cx="1828800" cy="320040"/>
          </a:xfrm>
          <a:prstGeom prst="rect">
            <a:avLst/>
          </a:prstGeom>
          <a:noFill/>
          <a:ln/>
        </p:spPr>
        <p:txBody>
          <a:bodyPr wrap="square" lIns="0" tIns="0" rIns="0" bIns="0" rtlCol="0" anchor="t"/>
          <a:lstStyle/>
          <a:p>
            <a:pPr indent="0" marL="0">
              <a:buNone/>
            </a:pPr>
            <a:r>
              <a:rPr lang="en-US" sz="1100" b="1" dirty="0">
                <a:solidFill>
                  <a:srgbClr val="201C19"/>
                </a:solidFill>
                <a:latin typeface="Arial" pitchFamily="34" charset="0"/>
                <a:ea typeface="Arial" pitchFamily="34" charset="-122"/>
                <a:cs typeface="Arial" pitchFamily="34" charset="-120"/>
              </a:rPr>
              <a:t>Premium (cible)</a:t>
            </a:r>
            <a:endParaRPr lang="en-US" sz="1100" dirty="0"/>
          </a:p>
        </p:txBody>
      </p:sp>
      <p:sp>
        <p:nvSpPr>
          <p:cNvPr id="9" name="text"/>
          <p:cNvSpPr txBox="1"/>
          <p:nvPr/>
        </p:nvSpPr>
        <p:spPr>
          <a:xfrm>
            <a:off x="3200400" y="1874520"/>
            <a:ext cx="1828800" cy="640080"/>
          </a:xfrm>
          <a:prstGeom prst="rect">
            <a:avLst/>
          </a:prstGeom>
          <a:noFill/>
          <a:ln/>
        </p:spPr>
        <p:txBody>
          <a:bodyPr wrap="square" lIns="0" tIns="0" rIns="0" bIns="0" rtlCol="0" anchor="t"/>
          <a:lstStyle/>
          <a:p>
            <a:pPr indent="0" marL="0">
              <a:buNone/>
            </a:pPr>
            <a:r>
              <a:rPr lang="en-US" sz="2600" dirty="0">
                <a:solidFill>
                  <a:srgbClr val="201C19"/>
                </a:solidFill>
                <a:latin typeface="Georgia" pitchFamily="34" charset="0"/>
                <a:ea typeface="Georgia" pitchFamily="34" charset="-122"/>
                <a:cs typeface="Georgia" pitchFamily="34" charset="-120"/>
              </a:rPr>
              <a:t>79 €</a:t>
            </a:r>
            <a:endParaRPr lang="en-US" sz="2600" dirty="0"/>
          </a:p>
        </p:txBody>
      </p:sp>
      <p:sp>
        <p:nvSpPr>
          <p:cNvPr id="10" name="text"/>
          <p:cNvSpPr txBox="1"/>
          <p:nvPr/>
        </p:nvSpPr>
        <p:spPr>
          <a:xfrm>
            <a:off x="3200400" y="2514600"/>
            <a:ext cx="1828800" cy="100584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Mémoire, anticipation, dix missions, journal. Contribution 48 € par mois.</a:t>
            </a:r>
            <a:endParaRPr lang="en-US" sz="950" dirty="0"/>
          </a:p>
        </p:txBody>
      </p:sp>
      <p:sp>
        <p:nvSpPr>
          <p:cNvPr id="11" name="card"/>
          <p:cNvSpPr/>
          <p:nvPr/>
        </p:nvSpPr>
        <p:spPr>
          <a:xfrm>
            <a:off x="5303520" y="1463040"/>
            <a:ext cx="2057400" cy="2103120"/>
          </a:xfrm>
          <a:prstGeom prst="roundRect">
            <a:avLst>
              <a:gd name="adj" fmla="val 3556"/>
            </a:avLst>
          </a:prstGeom>
          <a:solidFill>
            <a:srgbClr val="EFE9E0"/>
          </a:solidFill>
          <a:ln w="9525">
            <a:solidFill>
              <a:srgbClr val="EFE9E0"/>
            </a:solidFill>
            <a:prstDash val="solid"/>
          </a:ln>
        </p:spPr>
      </p:sp>
      <p:sp>
        <p:nvSpPr>
          <p:cNvPr id="12" name="text"/>
          <p:cNvSpPr txBox="1"/>
          <p:nvPr/>
        </p:nvSpPr>
        <p:spPr>
          <a:xfrm>
            <a:off x="5440680" y="1572768"/>
            <a:ext cx="1828800" cy="320040"/>
          </a:xfrm>
          <a:prstGeom prst="rect">
            <a:avLst/>
          </a:prstGeom>
          <a:noFill/>
          <a:ln/>
        </p:spPr>
        <p:txBody>
          <a:bodyPr wrap="square" lIns="0" tIns="0" rIns="0" bIns="0" rtlCol="0" anchor="t"/>
          <a:lstStyle/>
          <a:p>
            <a:pPr indent="0" marL="0">
              <a:buNone/>
            </a:pPr>
            <a:r>
              <a:rPr lang="en-US" sz="1100" b="1" dirty="0">
                <a:solidFill>
                  <a:srgbClr val="201C19"/>
                </a:solidFill>
                <a:latin typeface="Arial" pitchFamily="34" charset="0"/>
                <a:ea typeface="Arial" pitchFamily="34" charset="-122"/>
                <a:cs typeface="Arial" pitchFamily="34" charset="-120"/>
              </a:rPr>
              <a:t>Family</a:t>
            </a:r>
            <a:endParaRPr lang="en-US" sz="1100" dirty="0"/>
          </a:p>
        </p:txBody>
      </p:sp>
      <p:sp>
        <p:nvSpPr>
          <p:cNvPr id="13" name="text"/>
          <p:cNvSpPr txBox="1"/>
          <p:nvPr/>
        </p:nvSpPr>
        <p:spPr>
          <a:xfrm>
            <a:off x="5440680" y="1874520"/>
            <a:ext cx="1828800" cy="640080"/>
          </a:xfrm>
          <a:prstGeom prst="rect">
            <a:avLst/>
          </a:prstGeom>
          <a:noFill/>
          <a:ln/>
        </p:spPr>
        <p:txBody>
          <a:bodyPr wrap="square" lIns="0" tIns="0" rIns="0" bIns="0" rtlCol="0" anchor="t"/>
          <a:lstStyle/>
          <a:p>
            <a:pPr indent="0" marL="0">
              <a:buNone/>
            </a:pPr>
            <a:r>
              <a:rPr lang="en-US" sz="2600" dirty="0">
                <a:solidFill>
                  <a:srgbClr val="201C19"/>
                </a:solidFill>
                <a:latin typeface="Georgia" pitchFamily="34" charset="0"/>
                <a:ea typeface="Georgia" pitchFamily="34" charset="-122"/>
                <a:cs typeface="Georgia" pitchFamily="34" charset="-120"/>
              </a:rPr>
              <a:t>129 €</a:t>
            </a:r>
            <a:endParaRPr lang="en-US" sz="2600" dirty="0"/>
          </a:p>
        </p:txBody>
      </p:sp>
      <p:sp>
        <p:nvSpPr>
          <p:cNvPr id="14" name="text"/>
          <p:cNvSpPr txBox="1"/>
          <p:nvPr/>
        </p:nvSpPr>
        <p:spPr>
          <a:xfrm>
            <a:off x="5440680" y="2514600"/>
            <a:ext cx="1828800" cy="100584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Profils multiples, calendriers partagés. Après le multi-profil (post-pilote).</a:t>
            </a:r>
            <a:endParaRPr lang="en-US" sz="950" dirty="0"/>
          </a:p>
        </p:txBody>
      </p:sp>
      <p:sp>
        <p:nvSpPr>
          <p:cNvPr id="15" name="card"/>
          <p:cNvSpPr/>
          <p:nvPr/>
        </p:nvSpPr>
        <p:spPr>
          <a:xfrm>
            <a:off x="7680960" y="1463040"/>
            <a:ext cx="3931920" cy="2103120"/>
          </a:xfrm>
          <a:prstGeom prst="roundRect">
            <a:avLst>
              <a:gd name="adj" fmla="val 3478"/>
            </a:avLst>
          </a:prstGeom>
          <a:solidFill>
            <a:srgbClr val="EFE9E0"/>
          </a:solidFill>
          <a:ln w="9525">
            <a:solidFill>
              <a:srgbClr val="EFE9E0"/>
            </a:solidFill>
            <a:prstDash val="solid"/>
          </a:ln>
        </p:spPr>
      </p:sp>
      <p:sp>
        <p:nvSpPr>
          <p:cNvPr id="16" name="text"/>
          <p:cNvSpPr txBox="1"/>
          <p:nvPr/>
        </p:nvSpPr>
        <p:spPr>
          <a:xfrm>
            <a:off x="7863840" y="1572768"/>
            <a:ext cx="365760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Métrique et structure</a:t>
            </a:r>
            <a:endParaRPr lang="en-US" sz="1100" dirty="0"/>
          </a:p>
        </p:txBody>
      </p:sp>
      <p:sp>
        <p:nvSpPr>
          <p:cNvPr id="17" name="struct"/>
          <p:cNvSpPr txBox="1"/>
          <p:nvPr/>
        </p:nvSpPr>
        <p:spPr>
          <a:xfrm>
            <a:off x="7863840" y="1920240"/>
            <a:ext cx="3657600" cy="1600200"/>
          </a:xfrm>
          <a:prstGeom prst="rect">
            <a:avLst/>
          </a:prstGeom>
          <a:noFill/>
          <a:ln/>
        </p:spPr>
        <p:txBody>
          <a:bodyPr wrap="square" lIns="0" tIns="0" rIns="0" bIns="0" rtlCol="0" anchor="t"/>
          <a:lstStyle/>
          <a:p>
            <a:pPr marL="177800" indent="-177800">
              <a:spcAft>
                <a:spcPts val="400"/>
              </a:spcAft>
              <a:buSzPct val="100000"/>
              <a:buChar char="•"/>
            </a:pPr>
            <a:r>
              <a:rPr lang="en-US" sz="1000" dirty="0">
                <a:solidFill>
                  <a:srgbClr val="201C19"/>
                </a:solidFill>
                <a:latin typeface="Arial" pitchFamily="34" charset="0"/>
                <a:ea typeface="Arial" pitchFamily="34" charset="-122"/>
                <a:cs typeface="Arial" pitchFamily="34" charset="-120"/>
              </a:rPr>
              <a:t>Par foyer et par mois, jamais à la tâche ; limite d'usage raisonnable (100 missions)</a:t>
            </a:r>
            <a:endParaRPr lang="en-US" sz="1000" dirty="0"/>
          </a:p>
          <a:p>
            <a:pPr marL="177800" indent="-177800">
              <a:spcAft>
                <a:spcPts val="400"/>
              </a:spcAft>
              <a:buSzPct val="100000"/>
              <a:buChar char="•"/>
            </a:pPr>
            <a:r>
              <a:rPr lang="en-US" sz="1000" dirty="0">
                <a:solidFill>
                  <a:srgbClr val="201C19"/>
                </a:solidFill>
                <a:latin typeface="Arial" pitchFamily="34" charset="0"/>
                <a:ea typeface="Arial" pitchFamily="34" charset="-122"/>
                <a:cs typeface="Arial" pitchFamily="34" charset="-120"/>
              </a:rPr>
              <a:t>Mensuel sans engagement ; annuel à −15 % (trésorerie, churn)</a:t>
            </a:r>
            <a:endParaRPr lang="en-US" sz="1000" dirty="0"/>
          </a:p>
          <a:p>
            <a:pPr marL="177800" indent="-177800">
              <a:spcAft>
                <a:spcPts val="400"/>
              </a:spcAft>
              <a:buSzPct val="100000"/>
              <a:buChar char="•"/>
            </a:pPr>
            <a:r>
              <a:rPr lang="en-US" sz="1000" dirty="0">
                <a:solidFill>
                  <a:srgbClr val="201C19"/>
                </a:solidFill>
                <a:latin typeface="Arial" pitchFamily="34" charset="0"/>
                <a:ea typeface="Arial" pitchFamily="34" charset="-122"/>
                <a:cs typeface="Arial" pitchFamily="34" charset="-120"/>
              </a:rPr>
              <a:t>Pilote au prix public, 14 jours satisfait ou remboursé</a:t>
            </a:r>
            <a:endParaRPr lang="en-US" sz="1000" dirty="0"/>
          </a:p>
          <a:p>
            <a:pPr marL="177800" indent="-177800">
              <a:spcAft>
                <a:spcPts val="400"/>
              </a:spcAft>
              <a:buSzPct val="100000"/>
              <a:buChar char="•"/>
            </a:pPr>
            <a:r>
              <a:rPr lang="en-US" sz="1000" dirty="0">
                <a:solidFill>
                  <a:srgbClr val="201C19"/>
                </a:solidFill>
                <a:latin typeface="Arial" pitchFamily="34" charset="0"/>
                <a:ea typeface="Arial" pitchFamily="34" charset="-122"/>
                <a:cs typeface="Arial" pitchFamily="34" charset="-120"/>
              </a:rPr>
              <a:t>Services tiers payés par le client ; aucune commission dans le MVP</a:t>
            </a:r>
            <a:endParaRPr lang="en-US" sz="1000" dirty="0"/>
          </a:p>
        </p:txBody>
      </p:sp>
      <p:sp>
        <p:nvSpPr>
          <p:cNvPr id="18" name="text"/>
          <p:cNvSpPr txBox="1"/>
          <p:nvPr/>
        </p:nvSpPr>
        <p:spPr>
          <a:xfrm>
            <a:off x="822960" y="3749040"/>
            <a:ext cx="1078992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Canvas V3, ce qui change</a:t>
            </a:r>
            <a:endParaRPr lang="en-US" sz="11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822960" y="4069080"/>
          <a:ext cx="10789920" cy="914400"/>
        </p:xfrm>
        <a:graphic>
          <a:graphicData uri="http://schemas.openxmlformats.org/drawingml/2006/table">
            <a:tbl>
              <a:tblPr/>
              <a:tblGrid>
                <a:gridCol w="2011680"/>
                <a:gridCol w="4389120"/>
                <a:gridCol w="438912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Bloc</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Choix V3</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Pourquoi</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Canaux</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Réseau HEC et alumni, LinkedIn par douleur, parrainage, puis avantages salariés (RH, CSE)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Là où l'équipe est déjà ; CAC cible 150 €, canal arrêté au-delà de 240 €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Ressources clés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Orchestration multi-modèles, mémoire chiffrée, connecteurs Google, conformité (AIPD, charte)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La vérification Google des scopes Gmail est un délai critique (M2)</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Coûts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Inférence (variable), MVP externe 77 k€, salaires à partir de M13, audit annuel</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Fondateurs non rémunérés 12 mois : hypothèse Finance à confirmer dans D-01</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21"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Économie unitaire : 48 € de contribution par abonné Premium et un payback de 3 mois, si le coût par mission reste sous 0,18 €</a:t>
            </a:r>
            <a:endParaRPr lang="en-US" sz="2400" dirty="0"/>
          </a:p>
        </p:txBody>
      </p:sp>
      <p:sp>
        <p:nvSpPr>
          <p:cNvPr id="3" name="dot"/>
          <p:cNvSpPr/>
          <p:nvPr/>
        </p:nvSpPr>
        <p:spPr>
          <a:xfrm>
            <a:off x="822960" y="1463040"/>
            <a:ext cx="128016" cy="128016"/>
          </a:xfrm>
          <a:prstGeom prst="ellipse">
            <a:avLst/>
          </a:prstGeom>
          <a:solidFill>
            <a:srgbClr val="F0916A"/>
          </a:solidFill>
          <a:ln w="12700">
            <a:solidFill>
              <a:srgbClr val="F0916A"/>
            </a:solidFill>
            <a:prstDash val="solid"/>
          </a:ln>
        </p:spPr>
      </p:sp>
      <p:sp>
        <p:nvSpPr>
          <p:cNvPr id="4" name="stat"/>
          <p:cNvSpPr txBox="1"/>
          <p:nvPr/>
        </p:nvSpPr>
        <p:spPr>
          <a:xfrm>
            <a:off x="822960" y="1645920"/>
            <a:ext cx="256032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65,83 €</a:t>
            </a:r>
            <a:endParaRPr lang="en-US" sz="4000" dirty="0"/>
          </a:p>
        </p:txBody>
      </p:sp>
      <p:sp>
        <p:nvSpPr>
          <p:cNvPr id="5" name="statlabel"/>
          <p:cNvSpPr txBox="1"/>
          <p:nvPr/>
        </p:nvSpPr>
        <p:spPr>
          <a:xfrm>
            <a:off x="822960" y="2514600"/>
            <a:ext cx="256032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prix Premium HT par mois (79 € TTC)</a:t>
            </a:r>
            <a:endParaRPr lang="en-US" sz="1100" dirty="0"/>
          </a:p>
        </p:txBody>
      </p:sp>
      <p:sp>
        <p:nvSpPr>
          <p:cNvPr id="6" name="dot"/>
          <p:cNvSpPr/>
          <p:nvPr/>
        </p:nvSpPr>
        <p:spPr>
          <a:xfrm>
            <a:off x="3520440" y="1463040"/>
            <a:ext cx="128016" cy="128016"/>
          </a:xfrm>
          <a:prstGeom prst="ellipse">
            <a:avLst/>
          </a:prstGeom>
          <a:solidFill>
            <a:srgbClr val="F0916A"/>
          </a:solidFill>
          <a:ln w="12700">
            <a:solidFill>
              <a:srgbClr val="F0916A"/>
            </a:solidFill>
            <a:prstDash val="solid"/>
          </a:ln>
        </p:spPr>
      </p:sp>
      <p:sp>
        <p:nvSpPr>
          <p:cNvPr id="7" name="stat"/>
          <p:cNvSpPr txBox="1"/>
          <p:nvPr/>
        </p:nvSpPr>
        <p:spPr>
          <a:xfrm>
            <a:off x="3520440" y="1645920"/>
            <a:ext cx="256032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48 €</a:t>
            </a:r>
            <a:endParaRPr lang="en-US" sz="4000" dirty="0"/>
          </a:p>
        </p:txBody>
      </p:sp>
      <p:sp>
        <p:nvSpPr>
          <p:cNvPr id="8" name="statlabel"/>
          <p:cNvSpPr txBox="1"/>
          <p:nvPr/>
        </p:nvSpPr>
        <p:spPr>
          <a:xfrm>
            <a:off x="3520440" y="2514600"/>
            <a:ext cx="256032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contribution mensuelle après coûts variables, frais et impayés</a:t>
            </a:r>
            <a:endParaRPr lang="en-US" sz="1100" dirty="0"/>
          </a:p>
        </p:txBody>
      </p:sp>
      <p:sp>
        <p:nvSpPr>
          <p:cNvPr id="9" name="dot"/>
          <p:cNvSpPr/>
          <p:nvPr/>
        </p:nvSpPr>
        <p:spPr>
          <a:xfrm>
            <a:off x="6217920" y="1463040"/>
            <a:ext cx="128016" cy="128016"/>
          </a:xfrm>
          <a:prstGeom prst="ellipse">
            <a:avLst/>
          </a:prstGeom>
          <a:solidFill>
            <a:srgbClr val="F0916A"/>
          </a:solidFill>
          <a:ln w="12700">
            <a:solidFill>
              <a:srgbClr val="F0916A"/>
            </a:solidFill>
            <a:prstDash val="solid"/>
          </a:ln>
        </p:spPr>
      </p:sp>
      <p:sp>
        <p:nvSpPr>
          <p:cNvPr id="10" name="stat"/>
          <p:cNvSpPr txBox="1"/>
          <p:nvPr/>
        </p:nvSpPr>
        <p:spPr>
          <a:xfrm>
            <a:off x="6217920" y="1645920"/>
            <a:ext cx="256032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3,1 mois</a:t>
            </a:r>
            <a:endParaRPr lang="en-US" sz="4000" dirty="0"/>
          </a:p>
        </p:txBody>
      </p:sp>
      <p:sp>
        <p:nvSpPr>
          <p:cNvPr id="11" name="statlabel"/>
          <p:cNvSpPr txBox="1"/>
          <p:nvPr/>
        </p:nvSpPr>
        <p:spPr>
          <a:xfrm>
            <a:off x="6217920" y="2514600"/>
            <a:ext cx="256032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payback d'un CAC de 150 €</a:t>
            </a:r>
            <a:endParaRPr lang="en-US" sz="1100" dirty="0"/>
          </a:p>
        </p:txBody>
      </p:sp>
      <p:sp>
        <p:nvSpPr>
          <p:cNvPr id="12" name="dot"/>
          <p:cNvSpPr/>
          <p:nvPr/>
        </p:nvSpPr>
        <p:spPr>
          <a:xfrm>
            <a:off x="8915400" y="1463040"/>
            <a:ext cx="128016" cy="128016"/>
          </a:xfrm>
          <a:prstGeom prst="ellipse">
            <a:avLst/>
          </a:prstGeom>
          <a:solidFill>
            <a:srgbClr val="F0916A"/>
          </a:solidFill>
          <a:ln w="12700">
            <a:solidFill>
              <a:srgbClr val="F0916A"/>
            </a:solidFill>
            <a:prstDash val="solid"/>
          </a:ln>
        </p:spPr>
      </p:sp>
      <p:sp>
        <p:nvSpPr>
          <p:cNvPr id="13" name="stat"/>
          <p:cNvSpPr txBox="1"/>
          <p:nvPr/>
        </p:nvSpPr>
        <p:spPr>
          <a:xfrm>
            <a:off x="8915400" y="1645920"/>
            <a:ext cx="2560320" cy="822960"/>
          </a:xfrm>
          <a:prstGeom prst="rect">
            <a:avLst/>
          </a:prstGeom>
          <a:noFill/>
          <a:ln/>
        </p:spPr>
        <p:txBody>
          <a:bodyPr wrap="square" lIns="0" tIns="0" rIns="0" bIns="0" rtlCol="0" anchor="t"/>
          <a:lstStyle/>
          <a:p>
            <a:pPr indent="0" marL="0">
              <a:buNone/>
            </a:pPr>
            <a:r>
              <a:rPr lang="en-US" sz="4000" dirty="0">
                <a:solidFill>
                  <a:srgbClr val="201C19"/>
                </a:solidFill>
                <a:latin typeface="Georgia" pitchFamily="34" charset="0"/>
                <a:ea typeface="Georgia" pitchFamily="34" charset="-122"/>
                <a:cs typeface="Georgia" pitchFamily="34" charset="-120"/>
              </a:rPr>
              <a:t>10,8x</a:t>
            </a:r>
            <a:endParaRPr lang="en-US" sz="4000" dirty="0"/>
          </a:p>
        </p:txBody>
      </p:sp>
      <p:sp>
        <p:nvSpPr>
          <p:cNvPr id="14" name="statlabel"/>
          <p:cNvSpPr txBox="1"/>
          <p:nvPr/>
        </p:nvSpPr>
        <p:spPr>
          <a:xfrm>
            <a:off x="8915400" y="2514600"/>
            <a:ext cx="2560320" cy="822960"/>
          </a:xfrm>
          <a:prstGeom prst="rect">
            <a:avLst/>
          </a:prstGeom>
          <a:noFill/>
          <a:ln/>
        </p:spPr>
        <p:txBody>
          <a:bodyPr wrap="square" lIns="0" tIns="0" rIns="0" bIns="0" rtlCol="0" anchor="t"/>
          <a:lstStyle/>
          <a:p>
            <a:pPr indent="0" marL="0">
              <a:buNone/>
            </a:pPr>
            <a:r>
              <a:rPr lang="en-US" sz="1100" dirty="0">
                <a:solidFill>
                  <a:srgbClr val="8A8178"/>
                </a:solidFill>
                <a:latin typeface="Arial" pitchFamily="34" charset="0"/>
                <a:ea typeface="Arial" pitchFamily="34" charset="-122"/>
                <a:cs typeface="Arial" pitchFamily="34" charset="-120"/>
              </a:rPr>
              <a:t>LTV / CAC à 3 % de churn mensuel</a:t>
            </a:r>
            <a:endParaRPr lang="en-US" sz="1100" dirty="0"/>
          </a:p>
        </p:txBody>
      </p:sp>
      <p:graphicFrame>
        <p:nvGraphicFramePr>
          <p:cNvPr id="15" name="Chart 0" descr=""/>
          <p:cNvGraphicFramePr/>
          <p:nvPr/>
        </p:nvGraphicFramePr>
        <p:xfrm>
          <a:off x="822960" y="3291840"/>
          <a:ext cx="6035040" cy="2834640"/>
        </p:xfrm>
        <a:graphic xmlns:a="http://schemas.openxmlformats.org/drawingml/2006/main">
          <a:graphicData uri="http://schemas.openxmlformats.org/drawingml/2006/chart">
            <c:chart xmlns:c="http://schemas.openxmlformats.org/drawingml/2006/chart" r:id="rId1"/>
          </a:graphicData>
        </a:graphic>
      </p:graphicFrame>
      <p:sp>
        <p:nvSpPr>
          <p:cNvPr id="16" name="card"/>
          <p:cNvSpPr/>
          <p:nvPr/>
        </p:nvSpPr>
        <p:spPr>
          <a:xfrm>
            <a:off x="7223760" y="3291840"/>
            <a:ext cx="4389120" cy="2834640"/>
          </a:xfrm>
          <a:prstGeom prst="roundRect">
            <a:avLst>
              <a:gd name="adj" fmla="val 2581"/>
            </a:avLst>
          </a:prstGeom>
          <a:solidFill>
            <a:srgbClr val="EFE9E0"/>
          </a:solidFill>
          <a:ln w="9525">
            <a:solidFill>
              <a:srgbClr val="EFE9E0"/>
            </a:solidFill>
            <a:prstDash val="solid"/>
          </a:ln>
        </p:spPr>
      </p:sp>
      <p:sp>
        <p:nvSpPr>
          <p:cNvPr id="17" name="text"/>
          <p:cNvSpPr txBox="1"/>
          <p:nvPr/>
        </p:nvSpPr>
        <p:spPr>
          <a:xfrm>
            <a:off x="7406640" y="3401568"/>
            <a:ext cx="402336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Sensibilité : coût par mission</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7406640" y="3749040"/>
          <a:ext cx="4023360" cy="914400"/>
        </p:xfrm>
        <a:graphic>
          <a:graphicData uri="http://schemas.openxmlformats.org/drawingml/2006/table">
            <a:tbl>
              <a:tblPr/>
              <a:tblGrid>
                <a:gridCol w="1371600"/>
                <a:gridCol w="1325880"/>
                <a:gridCol w="132588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Coût / mission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Contribution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Payback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0,12 €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52 €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2,9 mois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0,18 €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48 €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3,1 mois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0,30 €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41 €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3,7 mois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0,50 €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29 €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5,2 mois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20"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Trois scénarios : le besoin de financement va de 92 k€ à 557 k€ ; le prudent n'atteint jamais l'équilibre en 36 mois</a:t>
            </a:r>
            <a:endParaRPr lang="en-US" sz="2400" dirty="0"/>
          </a:p>
        </p:txBody>
      </p:sp>
      <p:graphicFrame>
        <p:nvGraphicFramePr>
          <p:cNvPr id="3" name="Chart 0" descr=""/>
          <p:cNvGraphicFramePr/>
          <p:nvPr/>
        </p:nvGraphicFramePr>
        <p:xfrm>
          <a:off x="822960" y="1463040"/>
          <a:ext cx="658368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7680960" y="1463040"/>
          <a:ext cx="3931920" cy="914400"/>
        </p:xfrm>
        <a:graphic>
          <a:graphicData uri="http://schemas.openxmlformats.org/drawingml/2006/table">
            <a:tbl>
              <a:tblPr/>
              <a:tblGrid>
                <a:gridCol w="1737360"/>
                <a:gridCol w="731520"/>
                <a:gridCol w="731520"/>
                <a:gridCol w="731520"/>
              </a:tblGrid>
              <a:tr h="0">
                <a:tc>
                  <a:txBody>
                    <a:bodyPr/>
                    <a:lstStyle/>
                    <a:p>
                      <a:pPr algn="l" indent="0" marL="0">
                        <a:buNone/>
                      </a:pP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Prudent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Central</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Ambitieux</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Lancement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M10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M7</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M6</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Abonnés fin A3</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593</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2 664</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4 300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Point bas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-497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-130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-62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Besoin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557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170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92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EBITDA &gt; 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non atteint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M12</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M9</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Cash fin A3</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-497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464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r" indent="0" marL="0">
                        <a:buNone/>
                      </a:pPr>
                      <a:r>
                        <a:rPr lang="en-US" sz="950" dirty="0">
                          <a:solidFill>
                            <a:srgbClr val="201C19"/>
                          </a:solidFill>
                          <a:latin typeface="Arial" pitchFamily="34" charset="0"/>
                          <a:ea typeface="Arial" pitchFamily="34" charset="-122"/>
                          <a:cs typeface="Arial" pitchFamily="34" charset="-120"/>
                        </a:rPr>
                        <a:t>1 780 k€</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5" name="text"/>
          <p:cNvSpPr txBox="1"/>
          <p:nvPr/>
        </p:nvSpPr>
        <p:spPr>
          <a:xfrm>
            <a:off x="7680960" y="4663440"/>
            <a:ext cx="3931920" cy="1371600"/>
          </a:xfrm>
          <a:prstGeom prst="rect">
            <a:avLst/>
          </a:prstGeom>
          <a:noFill/>
          <a:ln/>
        </p:spPr>
        <p:txBody>
          <a:bodyPr wrap="square" lIns="0" tIns="0" rIns="0" bIns="0" rtlCol="0" anchor="t"/>
          <a:lstStyle/>
          <a:p>
            <a:pPr indent="0" marL="0">
              <a:buNone/>
            </a:pPr>
            <a:r>
              <a:rPr lang="en-US" sz="1050" dirty="0">
                <a:solidFill>
                  <a:srgbClr val="201C19"/>
                </a:solidFill>
                <a:latin typeface="Arial" pitchFamily="34" charset="0"/>
                <a:ea typeface="Arial" pitchFamily="34" charset="-122"/>
                <a:cs typeface="Arial" pitchFamily="34" charset="-120"/>
              </a:rPr>
              <a:t>Le prudent (lancement M10, CAC 240 €, churn 6 %, coût par mission 0,30 €) n'est pas une catastrophe : ce sont les valeurs des benchmarks B2C 2026 quand rien n'est prouvé. Le central est cohérent avec la trajectoire Finance V3 (150 / 800 / 2 500 abonnés).</a:t>
            </a:r>
            <a:endParaRPr lang="en-US" sz="1050" dirty="0"/>
          </a:p>
        </p:txBody>
      </p:sp>
      <p:sp>
        <p:nvSpPr>
          <p:cNvPr id="7"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Sensibilités : le CAC et le prix décident du besoin de financement ; le churn et le coût IA décident de la valeur à trois ans</a:t>
            </a:r>
            <a:endParaRPr lang="en-US" sz="2400" dirty="0"/>
          </a:p>
        </p:txBody>
      </p:sp>
      <p:graphicFrame>
        <p:nvGraphicFramePr>
          <p:cNvPr id="3" name="Chart 0" descr=""/>
          <p:cNvGraphicFramePr/>
          <p:nvPr/>
        </p:nvGraphicFramePr>
        <p:xfrm>
          <a:off x="822960" y="1463040"/>
          <a:ext cx="53035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463040"/>
          <a:ext cx="5303520" cy="4480560"/>
        </p:xfrm>
        <a:graphic xmlns:a="http://schemas.openxmlformats.org/drawingml/2006/main">
          <a:graphicData uri="http://schemas.openxmlformats.org/drawingml/2006/chart">
            <c:chart xmlns:c="http://schemas.openxmlformats.org/drawingml/2006/chart" r:id="rId2"/>
          </a:graphicData>
        </a:graphic>
      </p:graphicFrame>
      <p:sp>
        <p:nvSpPr>
          <p:cNvPr id="5" name="text"/>
          <p:cNvSpPr txBox="1"/>
          <p:nvPr/>
        </p:nvSpPr>
        <p:spPr>
          <a:xfrm>
            <a:off x="822960" y="5989320"/>
            <a:ext cx="10789920" cy="365760"/>
          </a:xfrm>
          <a:prstGeom prst="rect">
            <a:avLst/>
          </a:prstGeom>
          <a:noFill/>
          <a:ln/>
        </p:spPr>
        <p:txBody>
          <a:bodyPr wrap="square" lIns="0" tIns="0" rIns="0" bIns="0" rtlCol="0" anchor="t"/>
          <a:lstStyle/>
          <a:p>
            <a:pPr indent="0" marL="0">
              <a:buNone/>
            </a:pPr>
            <a:r>
              <a:rPr lang="en-US" sz="1000" dirty="0">
                <a:solidFill>
                  <a:srgbClr val="8A8178"/>
                </a:solidFill>
                <a:latin typeface="Arial" pitchFamily="34" charset="0"/>
                <a:ea typeface="Arial" pitchFamily="34" charset="-122"/>
                <a:cs typeface="Arial" pitchFamily="34" charset="-120"/>
              </a:rPr>
              <a:t>Écarts en k€ par rapport au scénario central (point bas −130 k€, cash fin A3 +464 k€). Un seul choc à la fois ; onglets S01 à S11 du modèle financier.</a:t>
            </a:r>
            <a:endParaRPr lang="en-US" sz="1000" dirty="0"/>
          </a:p>
        </p:txBody>
      </p:sp>
      <p:sp>
        <p:nvSpPr>
          <p:cNvPr id="7"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560320"/>
            <a:ext cx="10515600" cy="1280160"/>
          </a:xfrm>
          <a:prstGeom prst="rect">
            <a:avLst/>
          </a:prstGeom>
          <a:noFill/>
          <a:ln/>
        </p:spPr>
        <p:txBody>
          <a:bodyPr wrap="square" lIns="0" tIns="0" rIns="0" bIns="0" rtlCol="0" anchor="ctr"/>
          <a:lstStyle/>
          <a:p>
            <a:pPr algn="l" indent="0" marL="0">
              <a:buNone/>
            </a:pPr>
            <a:r>
              <a:rPr lang="en-US" sz="3600" dirty="0">
                <a:solidFill>
                  <a:srgbClr val="201C19"/>
                </a:solidFill>
                <a:latin typeface="Georgia" pitchFamily="34" charset="0"/>
                <a:ea typeface="Georgia" pitchFamily="34" charset="-122"/>
                <a:cs typeface="Georgia" pitchFamily="34" charset="-120"/>
              </a:rPr>
              <a:t>3. Les options, le plan, les risques</a:t>
            </a:r>
            <a:endParaRPr lang="en-US" sz="3600" dirty="0"/>
          </a:p>
        </p:txBody>
      </p:sp>
      <p:sp>
        <p:nvSpPr>
          <p:cNvPr id="3" name="Text 0"/>
          <p:cNvSpPr/>
          <p:nvPr>
            <p:ph idx="101" type="body" hasCustomPrompt="1"/>
          </p:nvPr>
        </p:nvSpPr>
        <p:spPr>
          <a:xfrm>
            <a:off x="822960" y="3931920"/>
            <a:ext cx="10515600" cy="914400"/>
          </a:xfrm>
          <a:prstGeom prst="rect">
            <a:avLst/>
          </a:prstGeom>
          <a:noFill/>
          <a:ln/>
        </p:spPr>
        <p:txBody>
          <a:bodyPr wrap="square" lIns="0" tIns="0" rIns="0" bIns="0" rtlCol="0" anchor="t"/>
          <a:lstStyle/>
          <a:p>
            <a:pPr indent="0" marL="0">
              <a:buNone/>
            </a:pPr>
            <a:r>
              <a:rPr lang="en-US" sz="1600" dirty="0">
                <a:solidFill>
                  <a:srgbClr val="8A8178"/>
                </a:solidFill>
                <a:latin typeface="Arial" pitchFamily="34" charset="0"/>
                <a:ea typeface="Arial" pitchFamily="34" charset="-122"/>
                <a:cs typeface="Arial" pitchFamily="34" charset="-120"/>
              </a:rPr>
              <a:t>Ce que nous choisissons, ce que nous écartons, ce qui nous arrêterait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Cinq options : le majordome B2C avec porte d'évidence gagne ; l'avantage salarié est le finaliste et le repli conçu dès maintenant</a:t>
            </a:r>
            <a:endParaRPr lang="en-US" sz="24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789920" cy="914400"/>
        </p:xfrm>
        <a:graphic>
          <a:graphicData uri="http://schemas.openxmlformats.org/drawingml/2006/table">
            <a:tbl>
              <a:tblPr/>
              <a:tblGrid>
                <a:gridCol w="2743200"/>
                <a:gridCol w="2651760"/>
                <a:gridCol w="2377440"/>
                <a:gridCol w="2103120"/>
                <a:gridCol w="914400"/>
              </a:tblGrid>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Option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Logique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Ce qu'elle engage et ferme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Coût de retour</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Score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A. Majordome premium B2C avec porte (recommandée)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Marque directe, abonnement, réseau et parrainage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Engage 170 k€ après la porte ; ferme peu avant le lancement</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Faible avant, élevé après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4,0</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B. Avantage salarié d'abord (B2B2C)</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L'employeur paie 15 à 25 € par salarié ; CAC proche de zéro ; cycles RH de 6 à 9 mois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Engage une vente RH et une séparation employeur / salarié ; ferme la relation directe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Moyen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3,5</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C. Organiseur à 29 €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Volume, organique, missions limitées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Engage une bataille de prix avec les généralistes ; ferme le premium</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Élevé (marque)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2,4</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D. Arrêt après HEC</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Livrable pédagogique, archivage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Rien ; apprentissage nul</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Nul</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E. Moteur d'exécution en marque blanche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Vendre la couche d'exécution aux conciergeries, assureurs, cartes premium</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Engage un développement B2B ; ferme la marque et la mémoire du foyer</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Moyen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3,2</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4" name="card"/>
          <p:cNvSpPr/>
          <p:nvPr/>
        </p:nvSpPr>
        <p:spPr>
          <a:xfrm>
            <a:off x="822960" y="5074920"/>
            <a:ext cx="10789920" cy="1005840"/>
          </a:xfrm>
          <a:prstGeom prst="roundRect">
            <a:avLst>
              <a:gd name="adj" fmla="val 7273"/>
            </a:avLst>
          </a:prstGeom>
          <a:solidFill>
            <a:srgbClr val="EFE9E0"/>
          </a:solidFill>
          <a:ln w="9525">
            <a:solidFill>
              <a:srgbClr val="EFE9E0"/>
            </a:solidFill>
            <a:prstDash val="solid"/>
          </a:ln>
        </p:spPr>
      </p:sp>
      <p:sp>
        <p:nvSpPr>
          <p:cNvPr id="5" name="text"/>
          <p:cNvSpPr txBox="1"/>
          <p:nvPr/>
        </p:nvSpPr>
        <p:spPr>
          <a:xfrm>
            <a:off x="1005840" y="5166360"/>
            <a:ext cx="10424160" cy="868680"/>
          </a:xfrm>
          <a:prstGeom prst="rect">
            <a:avLst/>
          </a:prstGeom>
          <a:noFill/>
          <a:ln/>
        </p:spPr>
        <p:txBody>
          <a:bodyPr wrap="square" lIns="0" tIns="0" rIns="0" bIns="0" rtlCol="0" anchor="t"/>
          <a:lstStyle/>
          <a:p>
            <a:pPr indent="0" marL="0">
              <a:buNone/>
            </a:pPr>
            <a:r>
              <a:rPr lang="en-US" sz="1100" dirty="0">
                <a:solidFill>
                  <a:srgbClr val="201C19"/>
                </a:solidFill>
                <a:latin typeface="Arial" pitchFamily="34" charset="0"/>
                <a:ea typeface="Arial" pitchFamily="34" charset="-122"/>
                <a:cs typeface="Arial" pitchFamily="34" charset="-120"/>
              </a:rPr>
              <a:t>Recommandation : A, avec B conçue comme repli (bascule si CAC B2C &gt; 240 € ou prix accepté &lt; 59 € au jour 90) et E comme piste de partenariat en année 2. B perd sur le délai jusqu'à la preuve et sur le contrôle des données ; elle garde le meilleur CAC. Critères pondérés avant notation : délai de preuve 30 %, CAC 25 %, marge 20 %, contrôle 15 %, réversibilité 10 %.</a:t>
            </a:r>
            <a:endParaRPr lang="en-US" sz="1100" dirty="0"/>
          </a:p>
        </p:txBody>
      </p:sp>
      <p:sp>
        <p:nvSpPr>
          <p:cNvPr id="7"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Plan à 90 jours : trois phases, douze livrables de preuve, moins de 15 k€, et des seuils fixés avant de voir les données</a:t>
            </a:r>
            <a:endParaRPr lang="en-US" sz="2400" dirty="0"/>
          </a:p>
        </p:txBody>
      </p:sp>
      <p:sp>
        <p:nvSpPr>
          <p:cNvPr id="3" name="card"/>
          <p:cNvSpPr/>
          <p:nvPr/>
        </p:nvSpPr>
        <p:spPr>
          <a:xfrm>
            <a:off x="822960" y="1463040"/>
            <a:ext cx="2560320" cy="3291840"/>
          </a:xfrm>
          <a:prstGeom prst="roundRect">
            <a:avLst>
              <a:gd name="adj" fmla="val 2857"/>
            </a:avLst>
          </a:prstGeom>
          <a:solidFill>
            <a:srgbClr val="EFE9E0"/>
          </a:solidFill>
          <a:ln w="9525">
            <a:solidFill>
              <a:srgbClr val="EFE9E0"/>
            </a:solidFill>
            <a:prstDash val="solid"/>
          </a:ln>
        </p:spPr>
      </p:sp>
      <p:sp>
        <p:nvSpPr>
          <p:cNvPr id="4" name="text"/>
          <p:cNvSpPr txBox="1"/>
          <p:nvPr/>
        </p:nvSpPr>
        <p:spPr>
          <a:xfrm>
            <a:off x="960120" y="1572768"/>
            <a:ext cx="228600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Phase 0 · semaine 1</a:t>
            </a:r>
            <a:endParaRPr lang="en-US" sz="1100" dirty="0"/>
          </a:p>
        </p:txBody>
      </p:sp>
      <p:sp>
        <p:nvSpPr>
          <p:cNvPr id="5" name="text"/>
          <p:cNvSpPr txBox="1"/>
          <p:nvPr/>
        </p:nvSpPr>
        <p:spPr>
          <a:xfrm>
            <a:off x="960120" y="1874520"/>
            <a:ext cx="2286000" cy="27432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0 €</a:t>
            </a:r>
            <a:endParaRPr lang="en-US" sz="950" dirty="0"/>
          </a:p>
        </p:txBody>
      </p:sp>
      <p:sp>
        <p:nvSpPr>
          <p:cNvPr id="6" name="phase"/>
          <p:cNvSpPr txBox="1"/>
          <p:nvPr/>
        </p:nvSpPr>
        <p:spPr>
          <a:xfrm>
            <a:off x="960120" y="2194560"/>
            <a:ext cx="2286000" cy="246888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D-01 au registre : nature du projet, fondateurs, PI</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Charte du projet, définition du succès, calendrier HEC</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Registre d'hypothèses consolidé</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Classement des sources (S01)</a:t>
            </a:r>
            <a:endParaRPr lang="en-US" sz="950" dirty="0"/>
          </a:p>
        </p:txBody>
      </p:sp>
      <p:sp>
        <p:nvSpPr>
          <p:cNvPr id="7" name="card"/>
          <p:cNvSpPr/>
          <p:nvPr/>
        </p:nvSpPr>
        <p:spPr>
          <a:xfrm>
            <a:off x="3547872" y="1463040"/>
            <a:ext cx="2560320" cy="3291840"/>
          </a:xfrm>
          <a:prstGeom prst="roundRect">
            <a:avLst>
              <a:gd name="adj" fmla="val 2857"/>
            </a:avLst>
          </a:prstGeom>
          <a:solidFill>
            <a:srgbClr val="EFE9E0"/>
          </a:solidFill>
          <a:ln w="9525">
            <a:solidFill>
              <a:srgbClr val="EFE9E0"/>
            </a:solidFill>
            <a:prstDash val="solid"/>
          </a:ln>
        </p:spPr>
      </p:sp>
      <p:sp>
        <p:nvSpPr>
          <p:cNvPr id="8" name="text"/>
          <p:cNvSpPr txBox="1"/>
          <p:nvPr/>
        </p:nvSpPr>
        <p:spPr>
          <a:xfrm>
            <a:off x="3685032" y="1572768"/>
            <a:ext cx="228600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Phase 1 · J+1 à J+30</a:t>
            </a:r>
            <a:endParaRPr lang="en-US" sz="1100" dirty="0"/>
          </a:p>
        </p:txBody>
      </p:sp>
      <p:sp>
        <p:nvSpPr>
          <p:cNvPr id="9" name="text"/>
          <p:cNvSpPr txBox="1"/>
          <p:nvPr/>
        </p:nvSpPr>
        <p:spPr>
          <a:xfrm>
            <a:off x="3685032" y="1874520"/>
            <a:ext cx="2286000" cy="27432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3 à 5 k€</a:t>
            </a:r>
            <a:endParaRPr lang="en-US" sz="950" dirty="0"/>
          </a:p>
        </p:txBody>
      </p:sp>
      <p:sp>
        <p:nvSpPr>
          <p:cNvPr id="10" name="phase"/>
          <p:cNvSpPr txBox="1"/>
          <p:nvPr/>
        </p:nvSpPr>
        <p:spPr>
          <a:xfrm>
            <a:off x="3685032" y="2194560"/>
            <a:ext cx="2286000" cy="246888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30 entretiens (12 cadres, 12 couples, 6 dirigeants)</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Prototype des missions 1 et 5 ; coût et réussite mesurés</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Dossier technique MVP avec devis</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Notes concurrents</a:t>
            </a:r>
            <a:endParaRPr lang="en-US" sz="950" dirty="0"/>
          </a:p>
        </p:txBody>
      </p:sp>
      <p:sp>
        <p:nvSpPr>
          <p:cNvPr id="11" name="card"/>
          <p:cNvSpPr/>
          <p:nvPr/>
        </p:nvSpPr>
        <p:spPr>
          <a:xfrm>
            <a:off x="6272784" y="1463040"/>
            <a:ext cx="2560320" cy="3291840"/>
          </a:xfrm>
          <a:prstGeom prst="roundRect">
            <a:avLst>
              <a:gd name="adj" fmla="val 2857"/>
            </a:avLst>
          </a:prstGeom>
          <a:solidFill>
            <a:srgbClr val="EFE9E0"/>
          </a:solidFill>
          <a:ln w="9525">
            <a:solidFill>
              <a:srgbClr val="EFE9E0"/>
            </a:solidFill>
            <a:prstDash val="solid"/>
          </a:ln>
        </p:spPr>
      </p:sp>
      <p:sp>
        <p:nvSpPr>
          <p:cNvPr id="12" name="text"/>
          <p:cNvSpPr txBox="1"/>
          <p:nvPr/>
        </p:nvSpPr>
        <p:spPr>
          <a:xfrm>
            <a:off x="6409944" y="1572768"/>
            <a:ext cx="228600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Phase 2 · J+31 à J+60</a:t>
            </a:r>
            <a:endParaRPr lang="en-US" sz="1100" dirty="0"/>
          </a:p>
        </p:txBody>
      </p:sp>
      <p:sp>
        <p:nvSpPr>
          <p:cNvPr id="13" name="text"/>
          <p:cNvSpPr txBox="1"/>
          <p:nvPr/>
        </p:nvSpPr>
        <p:spPr>
          <a:xfrm>
            <a:off x="6409944" y="1874520"/>
            <a:ext cx="2286000" cy="27432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5 à 8 k€</a:t>
            </a:r>
            <a:endParaRPr lang="en-US" sz="950" dirty="0"/>
          </a:p>
        </p:txBody>
      </p:sp>
      <p:sp>
        <p:nvSpPr>
          <p:cNvPr id="14" name="phase"/>
          <p:cNvSpPr txBox="1"/>
          <p:nvPr/>
        </p:nvSpPr>
        <p:spPr>
          <a:xfrm>
            <a:off x="6409944" y="2194560"/>
            <a:ext cx="2286000" cy="246888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10 pilotes payants au prix public</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Note de prix (59 / 79 / 99 €)</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Business case V1, mémo d'options</a:t>
            </a:r>
            <a:endParaRPr lang="en-US" sz="950" dirty="0"/>
          </a:p>
          <a:p>
            <a:pPr marL="177800" indent="-177800">
              <a:spcAft>
                <a:spcPts val="300"/>
              </a:spcAft>
              <a:buSzPct val="100000"/>
              <a:buChar char="•"/>
            </a:pPr>
            <a:r>
              <a:rPr lang="en-US" sz="950" dirty="0">
                <a:solidFill>
                  <a:srgbClr val="201C19"/>
                </a:solidFill>
                <a:latin typeface="Arial" pitchFamily="34" charset="0"/>
                <a:ea typeface="Arial" pitchFamily="34" charset="-122"/>
                <a:cs typeface="Arial" pitchFamily="34" charset="-120"/>
              </a:rPr>
              <a:t>Protocole et contrat de pilote</a:t>
            </a:r>
            <a:endParaRPr lang="en-US" sz="950" dirty="0"/>
          </a:p>
        </p:txBody>
      </p:sp>
      <p:sp>
        <p:nvSpPr>
          <p:cNvPr id="15" name="card"/>
          <p:cNvSpPr/>
          <p:nvPr/>
        </p:nvSpPr>
        <p:spPr>
          <a:xfrm>
            <a:off x="8997696" y="1463040"/>
            <a:ext cx="2560320" cy="3291840"/>
          </a:xfrm>
          <a:prstGeom prst="roundRect">
            <a:avLst>
              <a:gd name="adj" fmla="val 2857"/>
            </a:avLst>
          </a:prstGeom>
          <a:solidFill>
            <a:srgbClr val="201C19"/>
          </a:solidFill>
          <a:ln w="9525">
            <a:solidFill>
              <a:srgbClr val="EFE9E0"/>
            </a:solidFill>
            <a:prstDash val="solid"/>
          </a:ln>
        </p:spPr>
      </p:sp>
      <p:sp>
        <p:nvSpPr>
          <p:cNvPr id="16" name="text"/>
          <p:cNvSpPr txBox="1"/>
          <p:nvPr/>
        </p:nvSpPr>
        <p:spPr>
          <a:xfrm>
            <a:off x="9134856" y="1572768"/>
            <a:ext cx="228600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Phase 3 · J+61 à J+90</a:t>
            </a:r>
            <a:endParaRPr lang="en-US" sz="1100" dirty="0"/>
          </a:p>
        </p:txBody>
      </p:sp>
      <p:sp>
        <p:nvSpPr>
          <p:cNvPr id="17" name="text"/>
          <p:cNvSpPr txBox="1"/>
          <p:nvPr/>
        </p:nvSpPr>
        <p:spPr>
          <a:xfrm>
            <a:off x="9134856" y="1874520"/>
            <a:ext cx="2286000" cy="274320"/>
          </a:xfrm>
          <a:prstGeom prst="rect">
            <a:avLst/>
          </a:prstGeom>
          <a:noFill/>
          <a:ln/>
        </p:spPr>
        <p:txBody>
          <a:bodyPr wrap="square" lIns="0" tIns="0" rIns="0" bIns="0" rtlCol="0" anchor="t"/>
          <a:lstStyle/>
          <a:p>
            <a:pPr indent="0" marL="0">
              <a:buNone/>
            </a:pPr>
            <a:r>
              <a:rPr lang="en-US" sz="950" dirty="0">
                <a:solidFill>
                  <a:srgbClr val="E4DDD2"/>
                </a:solidFill>
                <a:latin typeface="Arial" pitchFamily="34" charset="0"/>
                <a:ea typeface="Arial" pitchFamily="34" charset="-122"/>
                <a:cs typeface="Arial" pitchFamily="34" charset="-120"/>
              </a:rPr>
              <a:t>1 à 2 k€</a:t>
            </a:r>
            <a:endParaRPr lang="en-US" sz="950" dirty="0"/>
          </a:p>
        </p:txBody>
      </p:sp>
      <p:sp>
        <p:nvSpPr>
          <p:cNvPr id="18" name="phase"/>
          <p:cNvSpPr txBox="1"/>
          <p:nvPr/>
        </p:nvSpPr>
        <p:spPr>
          <a:xfrm>
            <a:off x="9134856" y="2194560"/>
            <a:ext cx="2286000" cy="2468880"/>
          </a:xfrm>
          <a:prstGeom prst="rect">
            <a:avLst/>
          </a:prstGeom>
          <a:noFill/>
          <a:ln/>
        </p:spPr>
        <p:txBody>
          <a:bodyPr wrap="square" lIns="0" tIns="0" rIns="0" bIns="0" rtlCol="0" anchor="t"/>
          <a:lstStyle/>
          <a:p>
            <a:pPr marL="177800" indent="-177800">
              <a:spcAft>
                <a:spcPts val="300"/>
              </a:spcAft>
              <a:buSzPct val="100000"/>
              <a:buChar char="•"/>
            </a:pPr>
            <a:r>
              <a:rPr lang="en-US" sz="950" dirty="0">
                <a:solidFill>
                  <a:srgbClr val="F7F3EC"/>
                </a:solidFill>
                <a:latin typeface="Arial" pitchFamily="34" charset="0"/>
                <a:ea typeface="Arial" pitchFamily="34" charset="-122"/>
                <a:cs typeface="Arial" pitchFamily="34" charset="-120"/>
              </a:rPr>
              <a:t>Résultats du pilote</a:t>
            </a:r>
            <a:endParaRPr lang="en-US" sz="950" dirty="0"/>
          </a:p>
          <a:p>
            <a:pPr marL="177800" indent="-177800">
              <a:spcAft>
                <a:spcPts val="300"/>
              </a:spcAft>
              <a:buSzPct val="100000"/>
              <a:buChar char="•"/>
            </a:pPr>
            <a:r>
              <a:rPr lang="en-US" sz="950" dirty="0">
                <a:solidFill>
                  <a:srgbClr val="F7F3EC"/>
                </a:solidFill>
                <a:latin typeface="Arial" pitchFamily="34" charset="0"/>
                <a:ea typeface="Arial" pitchFamily="34" charset="-122"/>
                <a:cs typeface="Arial" pitchFamily="34" charset="-120"/>
              </a:rPr>
              <a:t>Mémo de décision go ou stop</a:t>
            </a:r>
            <a:endParaRPr lang="en-US" sz="950" dirty="0"/>
          </a:p>
          <a:p>
            <a:pPr marL="177800" indent="-177800">
              <a:spcAft>
                <a:spcPts val="300"/>
              </a:spcAft>
              <a:buSzPct val="100000"/>
              <a:buChar char="•"/>
            </a:pPr>
            <a:r>
              <a:rPr lang="en-US" sz="950" dirty="0">
                <a:solidFill>
                  <a:srgbClr val="F7F3EC"/>
                </a:solidFill>
                <a:latin typeface="Arial" pitchFamily="34" charset="0"/>
                <a:ea typeface="Arial" pitchFamily="34" charset="-122"/>
                <a:cs typeface="Arial" pitchFamily="34" charset="-120"/>
              </a:rPr>
              <a:t>Livrable HEC</a:t>
            </a:r>
            <a:endParaRPr lang="en-US" sz="950" dirty="0"/>
          </a:p>
          <a:p>
            <a:pPr marL="177800" indent="-177800">
              <a:spcAft>
                <a:spcPts val="300"/>
              </a:spcAft>
              <a:buSzPct val="100000"/>
              <a:buChar char="•"/>
            </a:pPr>
            <a:r>
              <a:rPr lang="en-US" sz="950" dirty="0">
                <a:solidFill>
                  <a:srgbClr val="F7F3EC"/>
                </a:solidFill>
                <a:latin typeface="Arial" pitchFamily="34" charset="0"/>
                <a:ea typeface="Arial" pitchFamily="34" charset="-122"/>
                <a:cs typeface="Arial" pitchFamily="34" charset="-120"/>
              </a:rPr>
              <a:t>Spécification KPI</a:t>
            </a:r>
            <a:endParaRPr lang="en-US" sz="950" dirty="0"/>
          </a:p>
        </p:txBody>
      </p:sp>
      <p:sp>
        <p:nvSpPr>
          <p:cNvPr id="19" name="text"/>
          <p:cNvSpPr txBox="1"/>
          <p:nvPr/>
        </p:nvSpPr>
        <p:spPr>
          <a:xfrm>
            <a:off x="822960" y="4937760"/>
            <a:ext cx="1078992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Portes de décision (seuils fixés avant de voir les données)</a:t>
            </a:r>
            <a:endParaRPr lang="en-US" sz="11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822960" y="5257800"/>
          <a:ext cx="10789920" cy="914400"/>
        </p:xfrm>
        <a:graphic>
          <a:graphicData uri="http://schemas.openxmlformats.org/drawingml/2006/table">
            <a:tbl>
              <a:tblPr/>
              <a:tblGrid>
                <a:gridCol w="1280160"/>
                <a:gridCol w="950976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Porte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Seuil (pré-fixé)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J+30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Douleur ≥ 60 % · délégation déjà payée ≥ 50 % · confiance ≥ 50 % · prix médian ≥ 79 €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J+60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0 action non autorisée (éliminatoire) · fiabilité ≥ 80 % · activation J7 ≥ 70 %</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J+90</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Rétention semaine 4 ≥ 7/10 · disposition à payer 79 € ≥ 5/10 · coût variable ≤ 18 € HT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22"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Comment Helium gagne : neuf méthodes, de la preuve avant la dépense à la cadence de décision</a:t>
            </a:r>
            <a:endParaRPr lang="en-US" sz="2400" dirty="0"/>
          </a:p>
        </p:txBody>
      </p:sp>
      <p:sp>
        <p:nvSpPr>
          <p:cNvPr id="3" name="num"/>
          <p:cNvSpPr/>
          <p:nvPr/>
        </p:nvSpPr>
        <p:spPr>
          <a:xfrm>
            <a:off x="822960" y="1508760"/>
            <a:ext cx="384048" cy="384048"/>
          </a:xfrm>
          <a:prstGeom prst="ellipse">
            <a:avLst/>
          </a:prstGeom>
          <a:solidFill>
            <a:srgbClr val="F0916A"/>
          </a:solidFill>
          <a:ln w="12700">
            <a:solidFill>
              <a:srgbClr val="F0916A"/>
            </a:solidFill>
            <a:prstDash val="solid"/>
          </a:ln>
        </p:spPr>
      </p:sp>
      <p:sp>
        <p:nvSpPr>
          <p:cNvPr id="4" name="text"/>
          <p:cNvSpPr txBox="1"/>
          <p:nvPr/>
        </p:nvSpPr>
        <p:spPr>
          <a:xfrm>
            <a:off x="822960" y="153619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1</a:t>
            </a:r>
            <a:endParaRPr lang="en-US" sz="1300" dirty="0"/>
          </a:p>
        </p:txBody>
      </p:sp>
      <p:sp>
        <p:nvSpPr>
          <p:cNvPr id="5" name="text"/>
          <p:cNvSpPr txBox="1"/>
          <p:nvPr/>
        </p:nvSpPr>
        <p:spPr>
          <a:xfrm>
            <a:off x="1325880" y="146304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La preuve avant la dépense</a:t>
            </a:r>
            <a:endParaRPr lang="en-US" sz="1150" dirty="0"/>
          </a:p>
        </p:txBody>
      </p:sp>
      <p:sp>
        <p:nvSpPr>
          <p:cNvPr id="6" name="text"/>
          <p:cNvSpPr txBox="1"/>
          <p:nvPr/>
        </p:nvSpPr>
        <p:spPr>
          <a:xfrm>
            <a:off x="1325880" y="187452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Aucun euro d'acquisition avant trente entretiens et un prototype mesuré.</a:t>
            </a:r>
            <a:endParaRPr lang="en-US" sz="950" dirty="0"/>
          </a:p>
        </p:txBody>
      </p:sp>
      <p:sp>
        <p:nvSpPr>
          <p:cNvPr id="7" name="num"/>
          <p:cNvSpPr/>
          <p:nvPr/>
        </p:nvSpPr>
        <p:spPr>
          <a:xfrm>
            <a:off x="4434840" y="1508760"/>
            <a:ext cx="384048" cy="384048"/>
          </a:xfrm>
          <a:prstGeom prst="ellipse">
            <a:avLst/>
          </a:prstGeom>
          <a:solidFill>
            <a:srgbClr val="F0916A"/>
          </a:solidFill>
          <a:ln w="12700">
            <a:solidFill>
              <a:srgbClr val="F0916A"/>
            </a:solidFill>
            <a:prstDash val="solid"/>
          </a:ln>
        </p:spPr>
      </p:sp>
      <p:sp>
        <p:nvSpPr>
          <p:cNvPr id="8" name="text"/>
          <p:cNvSpPr txBox="1"/>
          <p:nvPr/>
        </p:nvSpPr>
        <p:spPr>
          <a:xfrm>
            <a:off x="4434840" y="153619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2</a:t>
            </a:r>
            <a:endParaRPr lang="en-US" sz="1300" dirty="0"/>
          </a:p>
        </p:txBody>
      </p:sp>
      <p:sp>
        <p:nvSpPr>
          <p:cNvPr id="9" name="text"/>
          <p:cNvSpPr txBox="1"/>
          <p:nvPr/>
        </p:nvSpPr>
        <p:spPr>
          <a:xfrm>
            <a:off x="4937760" y="146304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Le pilote payant dès le premier jour</a:t>
            </a:r>
            <a:endParaRPr lang="en-US" sz="1150" dirty="0"/>
          </a:p>
        </p:txBody>
      </p:sp>
      <p:sp>
        <p:nvSpPr>
          <p:cNvPr id="10" name="text"/>
          <p:cNvSpPr txBox="1"/>
          <p:nvPr/>
        </p:nvSpPr>
        <p:spPr>
          <a:xfrm>
            <a:off x="4937760" y="187452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Dix foyers à 79 € disent plus que cent inscrits gratuits.</a:t>
            </a:r>
            <a:endParaRPr lang="en-US" sz="950" dirty="0"/>
          </a:p>
        </p:txBody>
      </p:sp>
      <p:sp>
        <p:nvSpPr>
          <p:cNvPr id="11" name="num"/>
          <p:cNvSpPr/>
          <p:nvPr/>
        </p:nvSpPr>
        <p:spPr>
          <a:xfrm>
            <a:off x="8046720" y="1508760"/>
            <a:ext cx="384048" cy="384048"/>
          </a:xfrm>
          <a:prstGeom prst="ellipse">
            <a:avLst/>
          </a:prstGeom>
          <a:solidFill>
            <a:srgbClr val="F0916A"/>
          </a:solidFill>
          <a:ln w="12700">
            <a:solidFill>
              <a:srgbClr val="F0916A"/>
            </a:solidFill>
            <a:prstDash val="solid"/>
          </a:ln>
        </p:spPr>
      </p:sp>
      <p:sp>
        <p:nvSpPr>
          <p:cNvPr id="12" name="text"/>
          <p:cNvSpPr txBox="1"/>
          <p:nvPr/>
        </p:nvSpPr>
        <p:spPr>
          <a:xfrm>
            <a:off x="8046720" y="153619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3</a:t>
            </a:r>
            <a:endParaRPr lang="en-US" sz="1300" dirty="0"/>
          </a:p>
        </p:txBody>
      </p:sp>
      <p:sp>
        <p:nvSpPr>
          <p:cNvPr id="13" name="text"/>
          <p:cNvSpPr txBox="1"/>
          <p:nvPr/>
        </p:nvSpPr>
        <p:spPr>
          <a:xfrm>
            <a:off x="8549640" y="146304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La sécurité comme critère éliminatoire</a:t>
            </a:r>
            <a:endParaRPr lang="en-US" sz="1150" dirty="0"/>
          </a:p>
        </p:txBody>
      </p:sp>
      <p:sp>
        <p:nvSpPr>
          <p:cNvPr id="14" name="text"/>
          <p:cNvSpPr txBox="1"/>
          <p:nvPr/>
        </p:nvSpPr>
        <p:spPr>
          <a:xfrm>
            <a:off x="8549640" y="187452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Une action non autorisée arrête le pilote. C'est la promesse, et les généralistes ne peuvent pas la tenir à l'échelle.</a:t>
            </a:r>
            <a:endParaRPr lang="en-US" sz="950" dirty="0"/>
          </a:p>
        </p:txBody>
      </p:sp>
      <p:sp>
        <p:nvSpPr>
          <p:cNvPr id="15" name="num"/>
          <p:cNvSpPr/>
          <p:nvPr/>
        </p:nvSpPr>
        <p:spPr>
          <a:xfrm>
            <a:off x="822960" y="3017520"/>
            <a:ext cx="384048" cy="384048"/>
          </a:xfrm>
          <a:prstGeom prst="ellipse">
            <a:avLst/>
          </a:prstGeom>
          <a:solidFill>
            <a:srgbClr val="F0916A"/>
          </a:solidFill>
          <a:ln w="12700">
            <a:solidFill>
              <a:srgbClr val="F0916A"/>
            </a:solidFill>
            <a:prstDash val="solid"/>
          </a:ln>
        </p:spPr>
      </p:sp>
      <p:sp>
        <p:nvSpPr>
          <p:cNvPr id="16" name="text"/>
          <p:cNvSpPr txBox="1"/>
          <p:nvPr/>
        </p:nvSpPr>
        <p:spPr>
          <a:xfrm>
            <a:off x="822960" y="304495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4</a:t>
            </a:r>
            <a:endParaRPr lang="en-US" sz="1300" dirty="0"/>
          </a:p>
        </p:txBody>
      </p:sp>
      <p:sp>
        <p:nvSpPr>
          <p:cNvPr id="17" name="text"/>
          <p:cNvSpPr txBox="1"/>
          <p:nvPr/>
        </p:nvSpPr>
        <p:spPr>
          <a:xfrm>
            <a:off x="1325880" y="297180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Dix missions fiables, pas un agent universel</a:t>
            </a:r>
            <a:endParaRPr lang="en-US" sz="1150" dirty="0"/>
          </a:p>
        </p:txBody>
      </p:sp>
      <p:sp>
        <p:nvSpPr>
          <p:cNvPr id="18" name="text"/>
          <p:cNvSpPr txBox="1"/>
          <p:nvPr/>
        </p:nvSpPr>
        <p:spPr>
          <a:xfrm>
            <a:off x="1325880" y="338328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Le périmètre étroit est la condition des 80 % de réussite et des 18 € de coût.</a:t>
            </a:r>
            <a:endParaRPr lang="en-US" sz="950" dirty="0"/>
          </a:p>
        </p:txBody>
      </p:sp>
      <p:sp>
        <p:nvSpPr>
          <p:cNvPr id="19" name="num"/>
          <p:cNvSpPr/>
          <p:nvPr/>
        </p:nvSpPr>
        <p:spPr>
          <a:xfrm>
            <a:off x="4434840" y="3017520"/>
            <a:ext cx="384048" cy="384048"/>
          </a:xfrm>
          <a:prstGeom prst="ellipse">
            <a:avLst/>
          </a:prstGeom>
          <a:solidFill>
            <a:srgbClr val="F0916A"/>
          </a:solidFill>
          <a:ln w="12700">
            <a:solidFill>
              <a:srgbClr val="F0916A"/>
            </a:solidFill>
            <a:prstDash val="solid"/>
          </a:ln>
        </p:spPr>
      </p:sp>
      <p:sp>
        <p:nvSpPr>
          <p:cNvPr id="20" name="text"/>
          <p:cNvSpPr txBox="1"/>
          <p:nvPr/>
        </p:nvSpPr>
        <p:spPr>
          <a:xfrm>
            <a:off x="4434840" y="304495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5</a:t>
            </a:r>
            <a:endParaRPr lang="en-US" sz="1300" dirty="0"/>
          </a:p>
        </p:txBody>
      </p:sp>
      <p:sp>
        <p:nvSpPr>
          <p:cNvPr id="21" name="text"/>
          <p:cNvSpPr txBox="1"/>
          <p:nvPr/>
        </p:nvSpPr>
        <p:spPr>
          <a:xfrm>
            <a:off x="4937760" y="297180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La mémoire du foyer comme coût de changement</a:t>
            </a:r>
            <a:endParaRPr lang="en-US" sz="1150" dirty="0"/>
          </a:p>
        </p:txBody>
      </p:sp>
      <p:sp>
        <p:nvSpPr>
          <p:cNvPr id="22" name="text"/>
          <p:cNvSpPr txBox="1"/>
          <p:nvPr/>
        </p:nvSpPr>
        <p:spPr>
          <a:xfrm>
            <a:off x="4937760" y="338328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Au bout de trois mois, partir coûte au client ce qu'il a appris à Helium.</a:t>
            </a:r>
            <a:endParaRPr lang="en-US" sz="950" dirty="0"/>
          </a:p>
        </p:txBody>
      </p:sp>
      <p:sp>
        <p:nvSpPr>
          <p:cNvPr id="23" name="num"/>
          <p:cNvSpPr/>
          <p:nvPr/>
        </p:nvSpPr>
        <p:spPr>
          <a:xfrm>
            <a:off x="8046720" y="3017520"/>
            <a:ext cx="384048" cy="384048"/>
          </a:xfrm>
          <a:prstGeom prst="ellipse">
            <a:avLst/>
          </a:prstGeom>
          <a:solidFill>
            <a:srgbClr val="F0916A"/>
          </a:solidFill>
          <a:ln w="12700">
            <a:solidFill>
              <a:srgbClr val="F0916A"/>
            </a:solidFill>
            <a:prstDash val="solid"/>
          </a:ln>
        </p:spPr>
      </p:sp>
      <p:sp>
        <p:nvSpPr>
          <p:cNvPr id="24" name="text"/>
          <p:cNvSpPr txBox="1"/>
          <p:nvPr/>
        </p:nvSpPr>
        <p:spPr>
          <a:xfrm>
            <a:off x="8046720" y="304495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6</a:t>
            </a:r>
            <a:endParaRPr lang="en-US" sz="1300" dirty="0"/>
          </a:p>
        </p:txBody>
      </p:sp>
      <p:sp>
        <p:nvSpPr>
          <p:cNvPr id="25" name="text"/>
          <p:cNvSpPr txBox="1"/>
          <p:nvPr/>
        </p:nvSpPr>
        <p:spPr>
          <a:xfrm>
            <a:off x="8549640" y="297180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Un canal qui commence là où l'équipe est</a:t>
            </a:r>
            <a:endParaRPr lang="en-US" sz="1150" dirty="0"/>
          </a:p>
        </p:txBody>
      </p:sp>
      <p:sp>
        <p:nvSpPr>
          <p:cNvPr id="26" name="text"/>
          <p:cNvSpPr txBox="1"/>
          <p:nvPr/>
        </p:nvSpPr>
        <p:spPr>
          <a:xfrm>
            <a:off x="8549640" y="338328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HEC, alumni, LinkedIn par douleur, parrainage, puis deux pilotes employeurs.</a:t>
            </a:r>
            <a:endParaRPr lang="en-US" sz="950" dirty="0"/>
          </a:p>
        </p:txBody>
      </p:sp>
      <p:sp>
        <p:nvSpPr>
          <p:cNvPr id="27" name="num"/>
          <p:cNvSpPr/>
          <p:nvPr/>
        </p:nvSpPr>
        <p:spPr>
          <a:xfrm>
            <a:off x="822960" y="4526280"/>
            <a:ext cx="384048" cy="384048"/>
          </a:xfrm>
          <a:prstGeom prst="ellipse">
            <a:avLst/>
          </a:prstGeom>
          <a:solidFill>
            <a:srgbClr val="F0916A"/>
          </a:solidFill>
          <a:ln w="12700">
            <a:solidFill>
              <a:srgbClr val="F0916A"/>
            </a:solidFill>
            <a:prstDash val="solid"/>
          </a:ln>
        </p:spPr>
      </p:sp>
      <p:sp>
        <p:nvSpPr>
          <p:cNvPr id="28" name="text"/>
          <p:cNvSpPr txBox="1"/>
          <p:nvPr/>
        </p:nvSpPr>
        <p:spPr>
          <a:xfrm>
            <a:off x="822960" y="455371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7</a:t>
            </a:r>
            <a:endParaRPr lang="en-US" sz="1300" dirty="0"/>
          </a:p>
        </p:txBody>
      </p:sp>
      <p:sp>
        <p:nvSpPr>
          <p:cNvPr id="29" name="text"/>
          <p:cNvSpPr txBox="1"/>
          <p:nvPr/>
        </p:nvSpPr>
        <p:spPr>
          <a:xfrm>
            <a:off x="1325880" y="448056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Le coût par mission comme discipline</a:t>
            </a:r>
            <a:endParaRPr lang="en-US" sz="1150" dirty="0"/>
          </a:p>
        </p:txBody>
      </p:sp>
      <p:sp>
        <p:nvSpPr>
          <p:cNvPr id="30" name="text"/>
          <p:cNvSpPr txBox="1"/>
          <p:nvPr/>
        </p:nvSpPr>
        <p:spPr>
          <a:xfrm>
            <a:off x="1325880" y="489204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Routage multi-modèles, budget de missions, mesure hebdomadaire.</a:t>
            </a:r>
            <a:endParaRPr lang="en-US" sz="950" dirty="0"/>
          </a:p>
        </p:txBody>
      </p:sp>
      <p:sp>
        <p:nvSpPr>
          <p:cNvPr id="31" name="num"/>
          <p:cNvSpPr/>
          <p:nvPr/>
        </p:nvSpPr>
        <p:spPr>
          <a:xfrm>
            <a:off x="4434840" y="4526280"/>
            <a:ext cx="384048" cy="384048"/>
          </a:xfrm>
          <a:prstGeom prst="ellipse">
            <a:avLst/>
          </a:prstGeom>
          <a:solidFill>
            <a:srgbClr val="F0916A"/>
          </a:solidFill>
          <a:ln w="12700">
            <a:solidFill>
              <a:srgbClr val="F0916A"/>
            </a:solidFill>
            <a:prstDash val="solid"/>
          </a:ln>
        </p:spPr>
      </p:sp>
      <p:sp>
        <p:nvSpPr>
          <p:cNvPr id="32" name="text"/>
          <p:cNvSpPr txBox="1"/>
          <p:nvPr/>
        </p:nvSpPr>
        <p:spPr>
          <a:xfrm>
            <a:off x="4434840" y="455371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8</a:t>
            </a:r>
            <a:endParaRPr lang="en-US" sz="1300" dirty="0"/>
          </a:p>
        </p:txBody>
      </p:sp>
      <p:sp>
        <p:nvSpPr>
          <p:cNvPr id="33" name="text"/>
          <p:cNvSpPr txBox="1"/>
          <p:nvPr/>
        </p:nvSpPr>
        <p:spPr>
          <a:xfrm>
            <a:off x="4937760" y="448056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La conformité comme argument</a:t>
            </a:r>
            <a:endParaRPr lang="en-US" sz="1150" dirty="0"/>
          </a:p>
        </p:txBody>
      </p:sp>
      <p:sp>
        <p:nvSpPr>
          <p:cNvPr id="34" name="text"/>
          <p:cNvSpPr txBox="1"/>
          <p:nvPr/>
        </p:nvSpPr>
        <p:spPr>
          <a:xfrm>
            <a:off x="4937760" y="489204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AIPD, charte des agents, hébergement européen, transparence IA : de la valeur pour la cible.</a:t>
            </a:r>
            <a:endParaRPr lang="en-US" sz="950" dirty="0"/>
          </a:p>
        </p:txBody>
      </p:sp>
      <p:sp>
        <p:nvSpPr>
          <p:cNvPr id="35" name="num"/>
          <p:cNvSpPr/>
          <p:nvPr/>
        </p:nvSpPr>
        <p:spPr>
          <a:xfrm>
            <a:off x="8046720" y="4526280"/>
            <a:ext cx="384048" cy="384048"/>
          </a:xfrm>
          <a:prstGeom prst="ellipse">
            <a:avLst/>
          </a:prstGeom>
          <a:solidFill>
            <a:srgbClr val="F0916A"/>
          </a:solidFill>
          <a:ln w="12700">
            <a:solidFill>
              <a:srgbClr val="F0916A"/>
            </a:solidFill>
            <a:prstDash val="solid"/>
          </a:ln>
        </p:spPr>
      </p:sp>
      <p:sp>
        <p:nvSpPr>
          <p:cNvPr id="36" name="text"/>
          <p:cNvSpPr txBox="1"/>
          <p:nvPr/>
        </p:nvSpPr>
        <p:spPr>
          <a:xfrm>
            <a:off x="8046720" y="4553712"/>
            <a:ext cx="384048" cy="347472"/>
          </a:xfrm>
          <a:prstGeom prst="rect">
            <a:avLst/>
          </a:prstGeom>
          <a:noFill/>
          <a:ln/>
        </p:spPr>
        <p:txBody>
          <a:bodyPr wrap="square" lIns="0" tIns="0" rIns="0" bIns="0" rtlCol="0" anchor="t"/>
          <a:lstStyle/>
          <a:p>
            <a:pPr algn="ctr" indent="0" marL="0">
              <a:buNone/>
            </a:pPr>
            <a:r>
              <a:rPr lang="en-US" sz="1300" b="1" dirty="0">
                <a:solidFill>
                  <a:srgbClr val="201C19"/>
                </a:solidFill>
                <a:latin typeface="Arial" pitchFamily="34" charset="0"/>
                <a:ea typeface="Arial" pitchFamily="34" charset="-122"/>
                <a:cs typeface="Arial" pitchFamily="34" charset="-120"/>
              </a:rPr>
              <a:t>9</a:t>
            </a:r>
            <a:endParaRPr lang="en-US" sz="1300" dirty="0"/>
          </a:p>
        </p:txBody>
      </p:sp>
      <p:sp>
        <p:nvSpPr>
          <p:cNvPr id="37" name="text"/>
          <p:cNvSpPr txBox="1"/>
          <p:nvPr/>
        </p:nvSpPr>
        <p:spPr>
          <a:xfrm>
            <a:off x="8549640" y="4480560"/>
            <a:ext cx="2880360" cy="411480"/>
          </a:xfrm>
          <a:prstGeom prst="rect">
            <a:avLst/>
          </a:prstGeom>
          <a:noFill/>
          <a:ln/>
        </p:spPr>
        <p:txBody>
          <a:bodyPr wrap="square" lIns="0" tIns="0" rIns="0" bIns="0" rtlCol="0" anchor="t"/>
          <a:lstStyle/>
          <a:p>
            <a:pPr indent="0" marL="0">
              <a:buNone/>
            </a:pPr>
            <a:r>
              <a:rPr lang="en-US" sz="1150" b="1" dirty="0">
                <a:solidFill>
                  <a:srgbClr val="201C19"/>
                </a:solidFill>
                <a:latin typeface="Georgia" pitchFamily="34" charset="0"/>
                <a:ea typeface="Georgia" pitchFamily="34" charset="-122"/>
                <a:cs typeface="Georgia" pitchFamily="34" charset="-120"/>
              </a:rPr>
              <a:t>Une cadence de décision</a:t>
            </a:r>
            <a:endParaRPr lang="en-US" sz="1150" dirty="0"/>
          </a:p>
        </p:txBody>
      </p:sp>
      <p:sp>
        <p:nvSpPr>
          <p:cNvPr id="38" name="text"/>
          <p:cNvSpPr txBox="1"/>
          <p:nvPr/>
        </p:nvSpPr>
        <p:spPr>
          <a:xfrm>
            <a:off x="8549640" y="4892040"/>
            <a:ext cx="2880360" cy="1051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Hebdo : leads, pilotes, incidents. Mensuel : CAC, churn, marge. J+90 : go ou stop au registre.</a:t>
            </a:r>
            <a:endParaRPr lang="en-US" sz="950" dirty="0"/>
          </a:p>
        </p:txBody>
      </p:sp>
      <p:sp>
        <p:nvSpPr>
          <p:cNvPr id="40"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Trois risques à traiter avant le pilote : l'accès Gmail, le coût par mission et la propriété du code</a:t>
            </a:r>
            <a:endParaRPr lang="en-US" sz="24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789920" cy="914400"/>
        </p:xfrm>
        <a:graphic>
          <a:graphicData uri="http://schemas.openxmlformats.org/drawingml/2006/table">
            <a:tbl>
              <a:tblPr/>
              <a:tblGrid>
                <a:gridCol w="3840480"/>
                <a:gridCol w="1737360"/>
                <a:gridCol w="2377440"/>
                <a:gridCol w="2834640"/>
              </a:tblGrid>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Risque (cause → événement → conséquence)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Type · impact</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Indicateur avancé</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Seuil et réponse pré-décidée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Parce que l'accès Gmail exige la vérification Google des scopes restreints et un audit annuel, l'accès aux courriels peut glisser de 2 à 4 mois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Incertitude · 2 à 4 mois, 5 à 15 k€</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Statut de la vérification (dossier déposé en M2)</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Pas d'approbation à M5 : lancer avec Agenda et transfert de courriels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Parce que le coût par mission n'est pas mesuré, le coût variable peut dépasser 25 €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Variance · marge &lt; 55 %, besoin +20 k€</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Coût par mission en pilote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&gt; 0,30 € : limites d'usage, routage, hausse de prix testée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Parce que la continuation et la PI ne sont pas décidées, la société peut ne pas posséder son code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Incertitude · financement impossible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D-01 au registre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Pas de D-01 à J+7 : escalade au Board</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Parce que les courriels contiennent des données de santé et de tiers, un incident peut entraîner sanction et perte de réputation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Ignorance · non plafonnée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Résultats d'audit, incidents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Toute action non autorisée : arrêt du parcours ; AIPD avant le pilote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Parce que six fondateurs à temps partiel ont 25 à 35 h par semaine, les jalons peuvent glisser</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Variance · +3 mois, +23 k€</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Heures hebdomadaires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1050" dirty="0">
                          <a:solidFill>
                            <a:srgbClr val="201C19"/>
                          </a:solidFill>
                          <a:latin typeface="Arial" pitchFamily="34" charset="0"/>
                          <a:ea typeface="Arial" pitchFamily="34" charset="-122"/>
                          <a:cs typeface="Arial" pitchFamily="34" charset="-120"/>
                        </a:rPr>
                        <a:t>Deux jalons manqués : périmètre réduit à 5 missions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4" name="text"/>
          <p:cNvSpPr txBox="1"/>
          <p:nvPr/>
        </p:nvSpPr>
        <p:spPr>
          <a:xfrm>
            <a:off x="822960" y="5897880"/>
            <a:ext cx="10789920" cy="457200"/>
          </a:xfrm>
          <a:prstGeom prst="rect">
            <a:avLst/>
          </a:prstGeom>
          <a:noFill/>
          <a:ln/>
        </p:spPr>
        <p:txBody>
          <a:bodyPr wrap="square" lIns="0" tIns="0" rIns="0" bIns="0" rtlCol="0" anchor="t"/>
          <a:lstStyle/>
          <a:p>
            <a:pPr indent="0" marL="0">
              <a:buNone/>
            </a:pPr>
            <a:r>
              <a:rPr lang="en-US" sz="950" dirty="0">
                <a:solidFill>
                  <a:srgbClr val="8A8178"/>
                </a:solidFill>
                <a:latin typeface="Arial" pitchFamily="34" charset="0"/>
                <a:ea typeface="Arial" pitchFamily="34" charset="-122"/>
                <a:cs typeface="Arial" pitchFamily="34" charset="-120"/>
              </a:rPr>
              <a:t>Registre complet (sept risques, types, coûts de mitigation, propriétaires) dans le document modèle d'affaires, § 9. Les risques sont des phrases causales ; chacun a un indicateur avancé et une réponse décidée aujourd'hui.</a:t>
            </a:r>
            <a:endParaRPr lang="en-US" sz="950" dirty="0"/>
          </a:p>
        </p:txBody>
      </p:sp>
      <p:sp>
        <p:nvSpPr>
          <p:cNvPr id="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Juridique : cinq projets de bonne facture, trois corrections bloquantes, douze documents manquants ; les V2 sont déposées</a:t>
            </a:r>
            <a:endParaRPr lang="en-US" sz="2400" dirty="0"/>
          </a:p>
        </p:txBody>
      </p:sp>
      <p:sp>
        <p:nvSpPr>
          <p:cNvPr id="3" name="card"/>
          <p:cNvSpPr/>
          <p:nvPr/>
        </p:nvSpPr>
        <p:spPr>
          <a:xfrm>
            <a:off x="822960" y="1463040"/>
            <a:ext cx="5212080" cy="4480560"/>
          </a:xfrm>
          <a:prstGeom prst="roundRect">
            <a:avLst>
              <a:gd name="adj" fmla="val 1633"/>
            </a:avLst>
          </a:prstGeom>
          <a:solidFill>
            <a:srgbClr val="EFE9E0"/>
          </a:solidFill>
          <a:ln w="9525">
            <a:solidFill>
              <a:srgbClr val="EFE9E0"/>
            </a:solidFill>
            <a:prstDash val="solid"/>
          </a:ln>
        </p:spPr>
      </p:sp>
      <p:sp>
        <p:nvSpPr>
          <p:cNvPr id="4" name="text"/>
          <p:cNvSpPr txBox="1"/>
          <p:nvPr/>
        </p:nvSpPr>
        <p:spPr>
          <a:xfrm>
            <a:off x="1005840" y="1572768"/>
            <a:ext cx="4846320" cy="320040"/>
          </a:xfrm>
          <a:prstGeom prst="rect">
            <a:avLst/>
          </a:prstGeom>
          <a:noFill/>
          <a:ln/>
        </p:spPr>
        <p:txBody>
          <a:bodyPr wrap="square" lIns="0" tIns="0" rIns="0" bIns="0" rtlCol="0" anchor="t"/>
          <a:lstStyle/>
          <a:p>
            <a:pPr indent="0" marL="0">
              <a:buNone/>
            </a:pPr>
            <a:r>
              <a:rPr lang="en-US" sz="1100" b="1" dirty="0">
                <a:solidFill>
                  <a:srgbClr val="D9734F"/>
                </a:solidFill>
                <a:latin typeface="Arial" pitchFamily="34" charset="0"/>
                <a:ea typeface="Arial" pitchFamily="34" charset="-122"/>
                <a:cs typeface="Arial" pitchFamily="34" charset="-120"/>
              </a:rPr>
              <a:t>État des cinq projets en dépôt</a:t>
            </a:r>
            <a:endParaRPr lang="en-US" sz="11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1005840" y="1920240"/>
          <a:ext cx="4846320" cy="914400"/>
        </p:xfrm>
        <a:graphic>
          <a:graphicData uri="http://schemas.openxmlformats.org/drawingml/2006/table">
            <a:tbl>
              <a:tblPr/>
              <a:tblGrid>
                <a:gridCol w="2377440"/>
                <a:gridCol w="2468880"/>
              </a:tblGrid>
              <a:tr h="0">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Document</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c>
                  <a:txBody>
                    <a:bodyPr/>
                    <a:lstStyle/>
                    <a:p>
                      <a:pPr algn="l" indent="0" marL="0">
                        <a:buNone/>
                      </a:pPr>
                      <a:r>
                        <a:rPr lang="en-US" sz="950" b="1" dirty="0">
                          <a:solidFill>
                            <a:srgbClr val="201C19"/>
                          </a:solidFill>
                          <a:latin typeface="Arial" pitchFamily="34" charset="0"/>
                          <a:ea typeface="Arial" pitchFamily="34" charset="-122"/>
                          <a:cs typeface="Arial" pitchFamily="34" charset="-120"/>
                        </a:rPr>
                        <a:t>Verdict après revue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EFE9E0"/>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Statuts (SASU)</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Contredit l'équipe de six : V2 en SAS, clauses d'agrément, préemption, inaliénabilité, exclusion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CGV / CGU</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Solides ; V2 ajoute mandat spécial, transparence IA, rétractation en ligne, résiliation sous 10 jours, mentions SREN</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Politique de confidentialité</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V2 : bases juridiques réécrites, données de santé incidentes, tiers informés, AIPD obligatoire, transferts tranchés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Politique interne</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V2 : registre, formation IA, clauses fournisseurs, 72 h, sécurité des jetons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r h="0">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Charte des agents IA</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c>
                  <a:txBody>
                    <a:bodyPr/>
                    <a:lstStyle/>
                    <a:p>
                      <a:pPr algn="l" indent="0" marL="0">
                        <a:buNone/>
                      </a:pPr>
                      <a:r>
                        <a:rPr lang="en-US" sz="950" dirty="0">
                          <a:solidFill>
                            <a:srgbClr val="201C19"/>
                          </a:solidFill>
                          <a:latin typeface="Arial" pitchFamily="34" charset="0"/>
                          <a:ea typeface="Arial" pitchFamily="34" charset="-122"/>
                          <a:cs typeface="Arial" pitchFamily="34" charset="-120"/>
                        </a:rPr>
                        <a:t>Excellente base ; V2 : lecture bornée, double validation, coupe-circuit, marquage des textes générés</a:t>
                      </a:r>
                      <a:endParaRPr lang="en-US" sz="9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F7F3EC"/>
                    </a:solidFill>
                  </a:tcPr>
                </a:tc>
              </a:tr>
            </a:tbl>
          </a:graphicData>
        </a:graphic>
      </p:graphicFrame>
      <p:sp>
        <p:nvSpPr>
          <p:cNvPr id="6" name="card"/>
          <p:cNvSpPr/>
          <p:nvPr/>
        </p:nvSpPr>
        <p:spPr>
          <a:xfrm>
            <a:off x="6309360" y="1463040"/>
            <a:ext cx="5303520" cy="4480560"/>
          </a:xfrm>
          <a:prstGeom prst="roundRect">
            <a:avLst>
              <a:gd name="adj" fmla="val 1633"/>
            </a:avLst>
          </a:prstGeom>
          <a:solidFill>
            <a:srgbClr val="201C19"/>
          </a:solidFill>
          <a:ln w="9525">
            <a:solidFill>
              <a:srgbClr val="EFE9E0"/>
            </a:solidFill>
            <a:prstDash val="solid"/>
          </a:ln>
        </p:spPr>
      </p:sp>
      <p:sp>
        <p:nvSpPr>
          <p:cNvPr id="7" name="text"/>
          <p:cNvSpPr txBox="1"/>
          <p:nvPr/>
        </p:nvSpPr>
        <p:spPr>
          <a:xfrm>
            <a:off x="6492240" y="1572768"/>
            <a:ext cx="4937760" cy="320040"/>
          </a:xfrm>
          <a:prstGeom prst="rect">
            <a:avLst/>
          </a:prstGeom>
          <a:noFill/>
          <a:ln/>
        </p:spPr>
        <p:txBody>
          <a:bodyPr wrap="square" lIns="0" tIns="0" rIns="0" bIns="0" rtlCol="0" anchor="t"/>
          <a:lstStyle/>
          <a:p>
            <a:pPr indent="0" marL="0">
              <a:buNone/>
            </a:pPr>
            <a:r>
              <a:rPr lang="en-US" sz="1100" b="1" dirty="0">
                <a:solidFill>
                  <a:srgbClr val="F0916A"/>
                </a:solidFill>
                <a:latin typeface="Arial" pitchFamily="34" charset="0"/>
                <a:ea typeface="Arial" pitchFamily="34" charset="-122"/>
                <a:cs typeface="Arial" pitchFamily="34" charset="-120"/>
              </a:rPr>
              <a:t>Corrections bloquantes avant tout pilote</a:t>
            </a:r>
            <a:endParaRPr lang="en-US" sz="1100" dirty="0"/>
          </a:p>
        </p:txBody>
      </p:sp>
      <p:sp>
        <p:nvSpPr>
          <p:cNvPr id="8" name="blocking"/>
          <p:cNvSpPr txBox="1"/>
          <p:nvPr/>
        </p:nvSpPr>
        <p:spPr>
          <a:xfrm>
            <a:off x="6492240" y="1920240"/>
            <a:ext cx="4937760" cy="393192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F7F3EC"/>
                </a:solidFill>
                <a:latin typeface="Arial" pitchFamily="34" charset="0"/>
                <a:ea typeface="Arial" pitchFamily="34" charset="-122"/>
                <a:cs typeface="Arial" pitchFamily="34" charset="-120"/>
              </a:rPr>
              <a:t>D-01 : SASU à associé unique ou SAS à six ? Sans décision, les statuts sont un gabarit et le code appartient à ceux qui l'écrivent (CPI L. 111-1 ; L. 113-9 ne vise que les salariés).</a:t>
            </a:r>
            <a:endParaRPr lang="en-US" sz="1050" dirty="0"/>
          </a:p>
          <a:p>
            <a:pPr marL="177800" indent="-177800">
              <a:spcAft>
                <a:spcPts val="500"/>
              </a:spcAft>
              <a:buSzPct val="100000"/>
              <a:buChar char="•"/>
            </a:pPr>
            <a:r>
              <a:rPr lang="en-US" sz="1050" dirty="0">
                <a:solidFill>
                  <a:srgbClr val="F7F3EC"/>
                </a:solidFill>
                <a:latin typeface="Arial" pitchFamily="34" charset="0"/>
                <a:ea typeface="Arial" pitchFamily="34" charset="-122"/>
                <a:cs typeface="Arial" pitchFamily="34" charset="-120"/>
              </a:rPr>
              <a:t>Hébergement européen promis par Marketing, fournisseurs d'IA non choisis : trancher UE ou États-Unis sous DPF avant toute promesse.</a:t>
            </a:r>
            <a:endParaRPr lang="en-US" sz="1050" dirty="0"/>
          </a:p>
          <a:p>
            <a:pPr marL="177800" indent="-177800">
              <a:spcAft>
                <a:spcPts val="500"/>
              </a:spcAft>
              <a:buSzPct val="100000"/>
              <a:buChar char="•"/>
            </a:pPr>
            <a:r>
              <a:rPr lang="en-US" sz="1050" dirty="0">
                <a:solidFill>
                  <a:srgbClr val="F7F3EC"/>
                </a:solidFill>
                <a:latin typeface="Arial" pitchFamily="34" charset="0"/>
                <a:ea typeface="Arial" pitchFamily="34" charset="-122"/>
                <a:cs typeface="Arial" pitchFamily="34" charset="-120"/>
              </a:rPr>
              <a:t>La lecture des courriels est le traitement le plus lourd : base contrat dans le périmètre paramétré, consentement explicite pour les données particulières incidentes, AIPD et registre avant le pilote, même à dix utilisateurs.</a:t>
            </a:r>
            <a:endParaRPr lang="en-US" sz="1050" dirty="0"/>
          </a:p>
          <a:p>
            <a:pPr marL="177800" indent="-177800">
              <a:spcAft>
                <a:spcPts val="500"/>
              </a:spcAft>
              <a:buSzPct val="100000"/>
              <a:buChar char="•"/>
            </a:pPr>
            <a:r>
              <a:rPr lang="en-US" sz="1050" dirty="0">
                <a:solidFill>
                  <a:srgbClr val="F7F3EC"/>
                </a:solidFill>
                <a:latin typeface="Arial" pitchFamily="34" charset="0"/>
                <a:ea typeface="Arial" pitchFamily="34" charset="-122"/>
                <a:cs typeface="Arial" pitchFamily="34" charset="-120"/>
              </a:rPr>
              <a:t>Mission 5 (voyages) : préparer est libre ; réserver train et hôtel dans une même session peut faire de Helium un opérateur de voyages (C. tourisme L. 211-1 et L. 211-2). Le client réserve et paie lui-même.</a:t>
            </a:r>
            <a:endParaRPr lang="en-US" sz="1050" dirty="0"/>
          </a:p>
          <a:p>
            <a:pPr marL="177800" indent="-177800">
              <a:spcAft>
                <a:spcPts val="500"/>
              </a:spcAft>
              <a:buSzPct val="100000"/>
              <a:buChar char="•"/>
            </a:pPr>
            <a:r>
              <a:rPr lang="en-US" sz="1050" dirty="0">
                <a:solidFill>
                  <a:srgbClr val="F7F3EC"/>
                </a:solidFill>
                <a:latin typeface="Arial" pitchFamily="34" charset="0"/>
                <a:ea typeface="Arial" pitchFamily="34" charset="-122"/>
                <a:cs typeface="Arial" pitchFamily="34" charset="-120"/>
              </a:rPr>
              <a:t>Manquants prioritaires : accord fondateurs confidentialité et PI (semaine 1), conditions du pilote, consentement aux entretiens, AIPD, registre, contrats art. 28, mentions légales, pacte, cession de PI, dossier Google.</a:t>
            </a:r>
            <a:endParaRPr lang="en-US" sz="1050" dirty="0"/>
          </a:p>
        </p:txBody>
      </p:sp>
      <p:sp>
        <p:nvSpPr>
          <p:cNvPr id="10"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F7F3EC"/>
                </a:solidFill>
                <a:latin typeface="Georgia" pitchFamily="34" charset="0"/>
                <a:ea typeface="Georgia" pitchFamily="34" charset="-122"/>
                <a:cs typeface="Georgia" pitchFamily="34" charset="-120"/>
              </a:rPr>
              <a:t>Cinq décisions à inscrire au registre, dans cet ordre</a:t>
            </a:r>
            <a:endParaRPr lang="en-US" sz="24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789920" cy="914400"/>
        </p:xfrm>
        <a:graphic>
          <a:graphicData uri="http://schemas.openxmlformats.org/drawingml/2006/table">
            <a:tbl>
              <a:tblPr/>
              <a:tblGrid>
                <a:gridCol w="731520"/>
                <a:gridCol w="6035040"/>
                <a:gridCol w="2194560"/>
                <a:gridCol w="1828800"/>
              </a:tblGrid>
              <a:tr h="0">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ID</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8A8178"/>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Décision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8A8178"/>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Qui décide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8A8178"/>
                    </a:solidFill>
                  </a:tcPr>
                </a:tc>
                <a:tc>
                  <a:txBody>
                    <a:bodyPr/>
                    <a:lstStyle/>
                    <a:p>
                      <a:pPr algn="l" indent="0" marL="0">
                        <a:buNone/>
                      </a:pPr>
                      <a:r>
                        <a:rPr lang="en-US" sz="1050" b="1" dirty="0">
                          <a:solidFill>
                            <a:srgbClr val="201C19"/>
                          </a:solidFill>
                          <a:latin typeface="Arial" pitchFamily="34" charset="0"/>
                          <a:ea typeface="Arial" pitchFamily="34" charset="-122"/>
                          <a:cs typeface="Arial" pitchFamily="34" charset="-120"/>
                        </a:rPr>
                        <a:t>Quand</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8A8178"/>
                    </a:solidFill>
                  </a:tcPr>
                </a:tc>
              </a:tr>
              <a:tr h="0">
                <a:tc>
                  <a:txBody>
                    <a:bodyPr/>
                    <a:lstStyle/>
                    <a:p>
                      <a:pPr algn="l" indent="0" marL="0">
                        <a:buNone/>
                      </a:pPr>
                      <a:r>
                        <a:rPr lang="en-US" sz="1050" b="1" dirty="0">
                          <a:solidFill>
                            <a:srgbClr val="F7F3EC"/>
                          </a:solidFill>
                          <a:latin typeface="Arial" pitchFamily="34" charset="0"/>
                          <a:ea typeface="Arial" pitchFamily="34" charset="-122"/>
                          <a:cs typeface="Arial" pitchFamily="34" charset="-120"/>
                        </a:rPr>
                        <a:t>D-01</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Nature du projet (pédagogique ou création), fondateurs qui continuent, principe de répartition du capital et de la propriété intellectuelle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Board, unanimité des six</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Semaine du 3 novembre</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r>
              <a:tr h="0">
                <a:tc>
                  <a:txBody>
                    <a:bodyPr/>
                    <a:lstStyle/>
                    <a:p>
                      <a:pPr algn="l" indent="0" marL="0">
                        <a:buNone/>
                      </a:pPr>
                      <a:r>
                        <a:rPr lang="en-US" sz="1050" b="1" dirty="0">
                          <a:solidFill>
                            <a:srgbClr val="F7F3EC"/>
                          </a:solidFill>
                          <a:latin typeface="Arial" pitchFamily="34" charset="0"/>
                          <a:ea typeface="Arial" pitchFamily="34" charset="-122"/>
                          <a:cs typeface="Arial" pitchFamily="34" charset="-120"/>
                        </a:rPr>
                        <a:t>D-02</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Nom : Helium sous réserve de la recherche d'antériorité ; abandon de « Super Majordome IA »</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Malik, sur avis de Tiffany</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J+15</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r>
              <a:tr h="0">
                <a:tc>
                  <a:txBody>
                    <a:bodyPr/>
                    <a:lstStyle/>
                    <a:p>
                      <a:pPr algn="l" indent="0" marL="0">
                        <a:buNone/>
                      </a:pPr>
                      <a:r>
                        <a:rPr lang="en-US" sz="1050" b="1" dirty="0">
                          <a:solidFill>
                            <a:srgbClr val="F7F3EC"/>
                          </a:solidFill>
                          <a:latin typeface="Arial" pitchFamily="34" charset="0"/>
                          <a:ea typeface="Arial" pitchFamily="34" charset="-122"/>
                          <a:cs typeface="Arial" pitchFamily="34" charset="-120"/>
                        </a:rPr>
                        <a:t>D-03</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Cible du pilote et seuils de validation (critères Marketing § 2 et Produit § 5)</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Board</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J+7</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r>
              <a:tr h="0">
                <a:tc>
                  <a:txBody>
                    <a:bodyPr/>
                    <a:lstStyle/>
                    <a:p>
                      <a:pPr algn="l" indent="0" marL="0">
                        <a:buNone/>
                      </a:pPr>
                      <a:r>
                        <a:rPr lang="en-US" sz="1050" b="1" dirty="0">
                          <a:solidFill>
                            <a:srgbClr val="F7F3EC"/>
                          </a:solidFill>
                          <a:latin typeface="Arial" pitchFamily="34" charset="0"/>
                          <a:ea typeface="Arial" pitchFamily="34" charset="-122"/>
                          <a:cs typeface="Arial" pitchFamily="34" charset="-120"/>
                        </a:rPr>
                        <a:t>D-04</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Porte d'évidence : budget ≤ 15 k€, calendrier, propriétaires</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Board</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J+7</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r>
              <a:tr h="0">
                <a:tc>
                  <a:txBody>
                    <a:bodyPr/>
                    <a:lstStyle/>
                    <a:p>
                      <a:pPr algn="l" indent="0" marL="0">
                        <a:buNone/>
                      </a:pPr>
                      <a:r>
                        <a:rPr lang="en-US" sz="1050" b="1" dirty="0">
                          <a:solidFill>
                            <a:srgbClr val="F7F3EC"/>
                          </a:solidFill>
                          <a:latin typeface="Arial" pitchFamily="34" charset="0"/>
                          <a:ea typeface="Arial" pitchFamily="34" charset="-122"/>
                          <a:cs typeface="Arial" pitchFamily="34" charset="-120"/>
                        </a:rPr>
                        <a:t>D-05</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Go ou stop sur le lancement et le financement de phase 1</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Board, sur mémo de décision</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c>
                  <a:txBody>
                    <a:bodyPr/>
                    <a:lstStyle/>
                    <a:p>
                      <a:pPr algn="l" indent="0" marL="0">
                        <a:buNone/>
                      </a:pPr>
                      <a:r>
                        <a:rPr lang="en-US" sz="1050" dirty="0">
                          <a:solidFill>
                            <a:srgbClr val="F7F3EC"/>
                          </a:solidFill>
                          <a:latin typeface="Arial" pitchFamily="34" charset="0"/>
                          <a:ea typeface="Arial" pitchFamily="34" charset="-122"/>
                          <a:cs typeface="Arial" pitchFamily="34" charset="-120"/>
                        </a:rPr>
                        <a:t>J+90, 1er février 2027</a:t>
                      </a:r>
                      <a:endParaRPr lang="en-US" sz="1050" dirty="0">
                        <a:latin typeface="Arial" charset="0"/>
                        <a:ea typeface="Arial" charset="0"/>
                        <a:cs typeface="Arial" charset="0"/>
                      </a:endParaRPr>
                    </a:p>
                  </a:txBody>
                  <a:tcPr marL="54864" marR="54864" marT="36576" marB="36576" anchor="ctr">
                    <a:lnL w="6350" cap="flat" cmpd="sng" algn="ctr">
                      <a:solidFill>
                        <a:srgbClr val="E4DDD2"/>
                      </a:solidFill>
                      <a:prstDash val="solid"/>
                      <a:round/>
                      <a:headEnd type="none" w="med" len="med"/>
                      <a:tailEnd type="none" w="med" len="med"/>
                    </a:lnL>
                    <a:lnR w="6350" cap="flat" cmpd="sng" algn="ctr">
                      <a:solidFill>
                        <a:srgbClr val="E4DDD2"/>
                      </a:solidFill>
                      <a:prstDash val="solid"/>
                      <a:round/>
                      <a:headEnd type="none" w="med" len="med"/>
                      <a:tailEnd type="none" w="med" len="med"/>
                    </a:lnR>
                    <a:lnT w="6350" cap="flat" cmpd="sng" algn="ctr">
                      <a:solidFill>
                        <a:srgbClr val="E4DDD2"/>
                      </a:solidFill>
                      <a:prstDash val="solid"/>
                      <a:round/>
                      <a:headEnd type="none" w="med" len="med"/>
                      <a:tailEnd type="none" w="med" len="med"/>
                    </a:lnT>
                    <a:lnB w="6350" cap="flat" cmpd="sng" algn="ctr">
                      <a:solidFill>
                        <a:srgbClr val="E4DDD2"/>
                      </a:solidFill>
                      <a:prstDash val="solid"/>
                      <a:round/>
                      <a:headEnd type="none" w="med" len="med"/>
                      <a:tailEnd type="none" w="med" len="med"/>
                    </a:lnB>
                    <a:solidFill>
                      <a:srgbClr val="201C19"/>
                    </a:solidFill>
                  </a:tcPr>
                </a:tc>
              </a:tr>
            </a:tbl>
          </a:graphicData>
        </a:graphic>
      </p:graphicFrame>
      <p:sp>
        <p:nvSpPr>
          <p:cNvPr id="4" name="text"/>
          <p:cNvSpPr txBox="1"/>
          <p:nvPr/>
        </p:nvSpPr>
        <p:spPr>
          <a:xfrm>
            <a:off x="822960" y="5394960"/>
            <a:ext cx="10789920" cy="822960"/>
          </a:xfrm>
          <a:prstGeom prst="rect">
            <a:avLst/>
          </a:prstGeom>
          <a:noFill/>
          <a:ln/>
        </p:spPr>
        <p:txBody>
          <a:bodyPr wrap="square" lIns="0" tIns="0" rIns="0" bIns="0" rtlCol="0" anchor="t"/>
          <a:lstStyle/>
          <a:p>
            <a:pPr indent="0" marL="0">
              <a:buNone/>
            </a:pPr>
            <a:r>
              <a:rPr lang="en-US" sz="1300" dirty="0">
                <a:solidFill>
                  <a:srgbClr val="F0916A"/>
                </a:solidFill>
                <a:latin typeface="Georgia" pitchFamily="34" charset="0"/>
                <a:ea typeface="Georgia" pitchFamily="34" charset="-122"/>
                <a:cs typeface="Georgia" pitchFamily="34" charset="-120"/>
              </a:rPr>
              <a:t>Les assistants proposent, les humains décident. Rien dans ce deck n'est acté tant qu'il n'est pas écrit au registre avec les mots de la source, la date, la pièce et qui a décidé.</a:t>
            </a:r>
            <a:endParaRPr lang="en-US" sz="1300" dirty="0"/>
          </a:p>
        </p:txBody>
      </p:sp>
      <p:sp>
        <p:nvSpPr>
          <p:cNvPr id="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822960" y="365760"/>
            <a:ext cx="10789920" cy="914400"/>
          </a:xfrm>
          <a:prstGeom prst="rect">
            <a:avLst/>
          </a:prstGeom>
          <a:noFill/>
          <a:ln/>
        </p:spPr>
        <p:txBody>
          <a:bodyPr wrap="square" lIns="0" tIns="0" rIns="0" bIns="0" rtlCol="0" anchor="ctr"/>
          <a:lstStyle/>
          <a:p>
            <a:pPr algn="l" indent="0" marL="0">
              <a:buNone/>
            </a:pPr>
            <a:r>
              <a:rPr lang="en-US" sz="2400" dirty="0">
                <a:solidFill>
                  <a:srgbClr val="201C19"/>
                </a:solidFill>
                <a:latin typeface="Georgia" pitchFamily="34" charset="0"/>
                <a:ea typeface="Georgia" pitchFamily="34" charset="-122"/>
                <a:cs typeface="Georgia" pitchFamily="34" charset="-120"/>
              </a:rPr>
              <a:t>Sources et nature des chiffres</a:t>
            </a:r>
            <a:endParaRPr lang="en-US" sz="2400" dirty="0"/>
          </a:p>
        </p:txBody>
      </p:sp>
      <p:sp>
        <p:nvSpPr>
          <p:cNvPr id="3" name="text"/>
          <p:cNvSpPr txBox="1"/>
          <p:nvPr/>
        </p:nvSpPr>
        <p:spPr>
          <a:xfrm>
            <a:off x="822960" y="1463040"/>
            <a:ext cx="5212080" cy="4480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Sources internes (dépôt HEC-Group4-Brain, 27 octobre 2026) :</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0 INBOX : Business Model Canvas V2</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2 FINANCE : Business plan Lean V1 ; Registre des hypothèses (H01 à H08) ; Acquisition et économie unitaire V1 ; Cadre de financement et trésorerie V1 ; Synthèse trésorerie V3 et scénario prudent ; Stratégie de financement V1</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3 MARKETING : Validation de la cible et guide d'entretien ; Promesse client ; Taille de marché ; Vue d'ensemble de la concurrence</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4 VENTES : Synthèse exécutive ; Segmentation ; Argumentaires ; Organisation ; Objectifs et dashboard</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5 PRODUIT : Contribution marketing au cadrage MVP</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7 JURIDIQUE RH : cinq projets juridiques</a:t>
            </a:r>
            <a:endParaRPr lang="en-US" sz="950" dirty="0"/>
          </a:p>
          <a:p>
            <a:pPr indent="0" marL="0">
              <a:buNone/>
            </a:pP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Productions du 27 octobre (PRODUCTIONS ASSISTANTS) : analyse de marché, modèle d'affaires et étude de cas, modèle financier 36 mois, revue juridique et V2, charte de marque.</a:t>
            </a:r>
            <a:endParaRPr lang="en-US" sz="950" dirty="0"/>
          </a:p>
        </p:txBody>
      </p:sp>
      <p:sp>
        <p:nvSpPr>
          <p:cNvPr id="4" name="text"/>
          <p:cNvSpPr txBox="1"/>
          <p:nvPr/>
        </p:nvSpPr>
        <p:spPr>
          <a:xfrm>
            <a:off x="6309360" y="1463040"/>
            <a:ext cx="5303520" cy="4480560"/>
          </a:xfrm>
          <a:prstGeom prst="rect">
            <a:avLst/>
          </a:prstGeom>
          <a:noFill/>
          <a:ln/>
        </p:spPr>
        <p:txBody>
          <a:bodyPr wrap="square" lIns="0" tIns="0" rIns="0" bIns="0" rtlCol="0" anchor="t"/>
          <a:lstStyle/>
          <a:p>
            <a:pPr indent="0" marL="0">
              <a:buNone/>
            </a:pPr>
            <a:r>
              <a:rPr lang="en-US" sz="950" dirty="0">
                <a:solidFill>
                  <a:srgbClr val="201C19"/>
                </a:solidFill>
                <a:latin typeface="Arial" pitchFamily="34" charset="0"/>
                <a:ea typeface="Arial" pitchFamily="34" charset="-122"/>
                <a:cs typeface="Arial" pitchFamily="34" charset="-120"/>
              </a:rPr>
              <a:t>Sources externes (122 références, consultées le 27 octobre 2026, listées dans l'analyse de marché) :</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Insee : enquête Emploi 2025, Références 2024, Focus 205, ménages par CSP, salaires 2024 ; Apec 2022 à 2025 ; CCI Paris IDF 2026</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Sondages : Ifop pour Converteo (mars 2026), OpinionWay pour LG (août 2026) et pour l'Unaf (2022), Domaliance (2026), CREDOC pour l'Arcep (Baromètre du numérique 2026)</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Pages tarifaires et centres d'aide d'OpenAI, Google, Anthropic, Microsoft, Apple, Mistral, Meta ; presse spécialisée ; Xerfi (conciergerie, 2025) ; Toyo Keizai (Yohana)</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Benchmarks : RevenueCat 2026, Recurly, ProfitWell, Adapty, Semnexus ; grilles API des fournisseurs de modèles ; HAL tau-bench</a:t>
            </a:r>
            <a:endParaRPr lang="en-US" sz="950" dirty="0"/>
          </a:p>
          <a:p>
            <a:pPr indent="0" marL="0">
              <a:buNone/>
            </a:pPr>
            <a:r>
              <a:rPr lang="en-US" sz="950" dirty="0">
                <a:solidFill>
                  <a:srgbClr val="201C19"/>
                </a:solidFill>
                <a:latin typeface="Arial" pitchFamily="34" charset="0"/>
                <a:ea typeface="Arial" pitchFamily="34" charset="-122"/>
                <a:cs typeface="Arial" pitchFamily="34" charset="-120"/>
              </a:rPr>
              <a:t>• Droit : codes consolidés (octobre 2026), RGPD, règlement (UE) 2024/1689 et omnibus 2026/1744, note CNIL et CIANum de juillet 2026, conditions des API Google et des magasins Apple et Google Play.</a:t>
            </a:r>
            <a:endParaRPr lang="en-US" sz="950" dirty="0"/>
          </a:p>
        </p:txBody>
      </p:sp>
      <p:sp>
        <p:nvSpPr>
          <p:cNvPr id="5" name="text"/>
          <p:cNvSpPr txBox="1"/>
          <p:nvPr/>
        </p:nvSpPr>
        <p:spPr>
          <a:xfrm>
            <a:off x="822960" y="5897880"/>
            <a:ext cx="10789920" cy="457200"/>
          </a:xfrm>
          <a:prstGeom prst="rect">
            <a:avLst/>
          </a:prstGeom>
          <a:noFill/>
          <a:ln/>
        </p:spPr>
        <p:txBody>
          <a:bodyPr wrap="square" lIns="0" tIns="0" rIns="0" bIns="0" rtlCol="0" anchor="t"/>
          <a:lstStyle/>
          <a:p>
            <a:pPr indent="0" marL="0">
              <a:buNone/>
            </a:pPr>
            <a:r>
              <a:rPr lang="en-US" sz="900" dirty="0">
                <a:solidFill>
                  <a:srgbClr val="8A8178"/>
                </a:solidFill>
                <a:latin typeface="Arial" pitchFamily="34" charset="0"/>
                <a:ea typeface="Arial" pitchFamily="34" charset="-122"/>
                <a:cs typeface="Arial" pitchFamily="34" charset="-120"/>
              </a:rPr>
              <a:t>Fait = sourcé et vérifiable. Estimation = dérivé d'un modèle, sensibilité connue. Assertion = cru, non testé. Les documents complets (analyse de marché, étude de cas, modèle financier, revue juridique, charte de marque) sont dans PRODUCTIONS ASSISTANTS.</a:t>
            </a:r>
            <a:endParaRPr lang="en-US" sz="900" dirty="0"/>
          </a:p>
        </p:txBody>
      </p:sp>
      <p:sp>
        <p:nvSpPr>
          <p:cNvPr id="6" name="Text 0"/>
          <p:cNvSpPr/>
          <p:nvPr>
            <p:ph idx="102" type="body" hasCustomPrompt="1"/>
          </p:nvPr>
        </p:nvSpPr>
        <p:spPr>
          <a:xfrm>
            <a:off x="822960" y="1463040"/>
            <a:ext cx="10789920" cy="457200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178"/>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Helium">
  <a:themeElements>
    <a:clrScheme name="Helium">
      <a:dk1>
        <a:srgbClr val="201C19"/>
      </a:dk1>
      <a:lt1>
        <a:srgbClr val="F7F3EC"/>
      </a:lt1>
      <a:dk2>
        <a:srgbClr val="8A8178"/>
      </a:dk2>
      <a:lt2>
        <a:srgbClr val="EFE9E0"/>
      </a:lt2>
      <a:accent1>
        <a:srgbClr val="F0916A"/>
      </a:accent1>
      <a:accent2>
        <a:srgbClr val="6B8F7A"/>
      </a:accent2>
      <a:accent3>
        <a:srgbClr val="E9C46A"/>
      </a:accent3>
      <a:accent4>
        <a:srgbClr val="D9734F"/>
      </a:accent4>
      <a:accent5>
        <a:srgbClr val="E4DDD2"/>
      </a:accent5>
      <a:accent6>
        <a:srgbClr val="8A8178"/>
      </a:accent6>
      <a:hlink>
        <a:srgbClr val="D9734F"/>
      </a:hlink>
      <a:folHlink>
        <a:srgbClr val="8A8178"/>
      </a:folHlink>
    </a:clrScheme>
    <a:fontScheme name="Helium">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Helium, HEC GEMM Group 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Helium : lancer un majordome IA sous contrôle</dc:title>
  <dc:subject>PptxGenJS Presentation</dc:subject>
  <dc:creator>Assistant IA Direction, Helium</dc:creator>
  <cp:lastModifiedBy>Assistant IA Direction, Helium</cp:lastModifiedBy>
  <cp:revision>1</cp:revision>
  <dcterms:created xsi:type="dcterms:W3CDTF">2026-10-27T22:47:26Z</dcterms:created>
  <dcterms:modified xsi:type="dcterms:W3CDTF">2026-10-27T22:47:26Z</dcterms:modified>
</cp:coreProperties>
</file>