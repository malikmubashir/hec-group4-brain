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Conciergerie humaine (250 à 600 €)</c:v>
                </c:pt>
              </c:strCache>
            </c:strRef>
          </c:tx>
          <c:spPr>
            <a:ln w="31750">
              <a:solidFill>
                <a:srgbClr val="6B8F7A"/>
              </a:solidFill>
            </a:ln>
          </c:spPr>
          <c:marker>
            <c:spPr>
              <a:solidFill>
                <a:srgbClr val="6B8F7A"/>
              </a:solidFill>
              <a:ln>
                <a:solidFill>
                  <a:srgbClr val="6B8F7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Temps gagné</c:v>
                </c:pt>
                <c:pt idx="1">
                  <c:v>Exécution réelle</c:v>
                </c:pt>
                <c:pt idx="2">
                  <c:v>Prix attractif</c:v>
                </c:pt>
                <c:pt idx="3">
                  <c:v>Contrôle et mandat</c:v>
                </c:pt>
                <c:pt idx="4">
                  <c:v>Mémoire du foyer</c:v>
                </c:pt>
                <c:pt idx="5">
                  <c:v>Disponibilité</c:v>
                </c:pt>
                <c:pt idx="6">
                  <c:v>Traçabilité</c:v>
                </c:pt>
                <c:pt idx="7">
                  <c:v>Données en Europe</c:v>
                </c:pt>
                <c:pt idx="8">
                  <c:v>Variété des démarches</c:v>
                </c:pt>
                <c:pt idx="9">
                  <c:v>Effort de mise en route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Assistant IA généraliste (18 à 23 €)</c:v>
                </c:pt>
              </c:strCache>
            </c:strRef>
          </c:tx>
          <c:spPr>
            <a:ln w="31750">
              <a:solidFill>
                <a:srgbClr val="8A8178"/>
              </a:solidFill>
            </a:ln>
          </c:spPr>
          <c:marker>
            <c:spPr>
              <a:solidFill>
                <a:srgbClr val="8A8178"/>
              </a:solidFill>
              <a:ln>
                <a:solidFill>
                  <a:srgbClr val="8A817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Temps gagné</c:v>
                </c:pt>
                <c:pt idx="1">
                  <c:v>Exécution réelle</c:v>
                </c:pt>
                <c:pt idx="2">
                  <c:v>Prix attractif</c:v>
                </c:pt>
                <c:pt idx="3">
                  <c:v>Contrôle et mandat</c:v>
                </c:pt>
                <c:pt idx="4">
                  <c:v>Mémoire du foyer</c:v>
                </c:pt>
                <c:pt idx="5">
                  <c:v>Disponibilité</c:v>
                </c:pt>
                <c:pt idx="6">
                  <c:v>Traçabilité</c:v>
                </c:pt>
                <c:pt idx="7">
                  <c:v>Données en Europe</c:v>
                </c:pt>
                <c:pt idx="8">
                  <c:v>Variété des démarches</c:v>
                </c:pt>
                <c:pt idx="9">
                  <c:v>Effort de mise en route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Helium Foyer</c:v>
                </c:pt>
              </c:strCache>
            </c:strRef>
          </c:tx>
          <c:spPr>
            <a:ln w="50800">
              <a:solidFill>
                <a:srgbClr val="D9734F"/>
              </a:solidFill>
            </a:ln>
          </c:spPr>
          <c:marker>
            <c:spPr>
              <a:solidFill>
                <a:srgbClr val="D9734F"/>
              </a:solidFill>
              <a:ln>
                <a:solidFill>
                  <a:srgbClr val="D9734F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Temps gagné</c:v>
                </c:pt>
                <c:pt idx="1">
                  <c:v>Exécution réelle</c:v>
                </c:pt>
                <c:pt idx="2">
                  <c:v>Prix attractif</c:v>
                </c:pt>
                <c:pt idx="3">
                  <c:v>Contrôle et mandat</c:v>
                </c:pt>
                <c:pt idx="4">
                  <c:v>Mémoire du foyer</c:v>
                </c:pt>
                <c:pt idx="5">
                  <c:v>Disponibilité</c:v>
                </c:pt>
                <c:pt idx="6">
                  <c:v>Traçabilité</c:v>
                </c:pt>
                <c:pt idx="7">
                  <c:v>Données en Europe</c:v>
                </c:pt>
                <c:pt idx="8">
                  <c:v>Variété des démarches</c:v>
                </c:pt>
                <c:pt idx="9">
                  <c:v>Effort de mise en route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Conciergerie humaine</c:v>
                </c:pt>
              </c:strCache>
            </c:strRef>
          </c:tx>
          <c:spPr>
            <a:ln w="25400">
              <a:solidFill>
                <a:srgbClr val="6B8F7A"/>
              </a:solidFill>
            </a:ln>
          </c:spPr>
          <c:marker>
            <c:spPr>
              <a:solidFill>
                <a:srgbClr val="6B8F7A"/>
              </a:solidFill>
              <a:ln>
                <a:solidFill>
                  <a:srgbClr val="6B8F7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Temps gagné</c:v>
                </c:pt>
                <c:pt idx="1">
                  <c:v>Exécution réelle</c:v>
                </c:pt>
                <c:pt idx="2">
                  <c:v>Prix attractif</c:v>
                </c:pt>
                <c:pt idx="3">
                  <c:v>Contrôle et mandat</c:v>
                </c:pt>
                <c:pt idx="4">
                  <c:v>Mémoire du foyer</c:v>
                </c:pt>
                <c:pt idx="5">
                  <c:v>Disponibilité</c:v>
                </c:pt>
                <c:pt idx="6">
                  <c:v>Traçabilité</c:v>
                </c:pt>
                <c:pt idx="7">
                  <c:v>Données en Europe</c:v>
                </c:pt>
                <c:pt idx="8">
                  <c:v>Variété des démarches</c:v>
                </c:pt>
                <c:pt idx="9">
                  <c:v>Effort de mise en route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Assistant IA généraliste</c:v>
                </c:pt>
              </c:strCache>
            </c:strRef>
          </c:tx>
          <c:spPr>
            <a:ln w="25400">
              <a:solidFill>
                <a:srgbClr val="8A8178"/>
              </a:solidFill>
            </a:ln>
          </c:spPr>
          <c:marker>
            <c:spPr>
              <a:solidFill>
                <a:srgbClr val="8A8178"/>
              </a:solidFill>
              <a:ln>
                <a:solidFill>
                  <a:srgbClr val="8A817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Temps gagné</c:v>
                </c:pt>
                <c:pt idx="1">
                  <c:v>Exécution réelle</c:v>
                </c:pt>
                <c:pt idx="2">
                  <c:v>Prix attractif</c:v>
                </c:pt>
                <c:pt idx="3">
                  <c:v>Contrôle et mandat</c:v>
                </c:pt>
                <c:pt idx="4">
                  <c:v>Mémoire du foyer</c:v>
                </c:pt>
                <c:pt idx="5">
                  <c:v>Disponibilité</c:v>
                </c:pt>
                <c:pt idx="6">
                  <c:v>Traçabilité</c:v>
                </c:pt>
                <c:pt idx="7">
                  <c:v>Données en Europe</c:v>
                </c:pt>
                <c:pt idx="8">
                  <c:v>Variété des démarches</c:v>
                </c:pt>
                <c:pt idx="9">
                  <c:v>Effort de mise en route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916A"/>
                </a:solidFill>
                <a:latin typeface="Calibri"/>
              </a:rPr>
              <a:t>HEC PARIS GEMM, GROUPE 4, RÈGLES DU JEU BLUE OCEAN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7F3EC"/>
                </a:solidFill>
                <a:latin typeface="Georgia"/>
              </a:rPr>
              <a:t>Helium Foyer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7F3EC"/>
                </a:solidFill>
                <a:latin typeface="Calibri"/>
              </a:rPr>
              <a:t>Un majordome IA sous mandat pour les cadres pressés : la courbe de valeur, le business model et l'équation de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4DDD2"/>
                </a:solidFill>
                <a:latin typeface="Calibri"/>
              </a:rPr>
              <a:t>Présentation de 8 minutes. Chiffres issus du modèle financier V1 (27 octobre 2026) ; tout est hypothèse tant que le Board n'a pas décidé.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POINT DE DÉPART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Partir du problème : les démarches personnelles d'un cadre pressé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7,3 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Cadres en France (Insee, 2025). Le cœur de cible, cadres de 25 à 49 ans avec enfants, est estimé à 1,1 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76 %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Des cadres utilisent déjà une IA générative. Elle conseille, rédige, résume, mais ne réserve, ne relance et n'exécute rien.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250 à 600 €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Prix mensuel d'une conciergerie humaine : la solution qui marche coûte le salaire d'une personne.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1C19"/>
                </a:solidFill>
                <a:latin typeface="Calibri"/>
              </a:rPr>
              <a:t>La frustration à résoudre : des démarches qui s'accumulent, des échéances oubliées, des rendez-vous à prendre à 19 h, et aucun service abordable qui les fasse vraiment.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1C19"/>
                </a:solidFill>
                <a:latin typeface="Calibri"/>
              </a:rPr>
              <a:t>Yohana, majordome humain à 249 $ soutenu par Panasonic, a fermé en janvier 2026. Le marché du majordome n'est pas prouvé ; c'est ce que la porte de 90 jours doit établir.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1 : OFFRE EXISTANTE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La courbe de valeur de l'offre existante : elle est haute en exécution, basse en prix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498079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645920"/>
            <a:ext cx="329184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Lecture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Scores de 1 à 5, attribués par l'équipe : estimation, pas mesure.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La conciergerie domine l'exécution et le temps gagné, et coûte entre 10 et 20 fois l'assistant.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L'assistant est bon marché et disponible, mais il ne fait rien à votre place.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Aucune offre ne combine exécution, mandat explicite et prix d'abonnement. C'est l'espace vide.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1 : BUSINESS MODEL EXISTANT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Qui, quoi, comment : deux modèles qui ne se rencontrent pas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Conciergerie humaine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Qui : dirigeants et cadres supérieurs prêts à payer un service de confiance.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Quoi : exécuter les démarches du foyer, rendez-vous, réservations, relances.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Comment : un prestataire humain, horaires limités, mémoire peu structurée.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Assistant IA généraliste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Qui : tout le monde, mais surtout les actifs qui testent l'IA.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Quoi : conseiller, rédiger, résumer. Très peu d'exécution réelle.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Comment : abonnement à 18 à 23 € ; prix ancré à 20 €, produit mondial, horizontal.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Équation de profit, prestataire humain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Prix mensuel moins salaire, charges et déplacements, plus marge.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Profit plafonné par le nombre d'heures d'un humain. Pas de levier.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Équation de profit, assistant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Abonnés multipliés par (prix moins coût d'inférence).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Levier fort, mais aucune différenciation de prix : la concurrence tire le prix vers le bas.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3 : EXPLORER LES 14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Quatorze leviers testés : sept retenus, quatre reportés, trois écartés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1. Réduire les coûts pour le client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79 € contre 250 à 600 €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2. Simplifier la vie du client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exécution de bout en bout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3. Trouver des non-clients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cadres qui ne paient pas une conciergerie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4. Développer la fonctionnalité ou l'émotion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confiance, mandat, journal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5. Explorer d'autres segments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Reportée : Family et multi-profils après le pilote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6. S'ouvrir à d'autres parties prenantes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Reportée : employeurs (B2B2C) en repli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7. Modifier les sources de revenus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abonnement au foyer, pas à la tâche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8. Introduire une technologie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orchestration multi-modèles, mandats A, C, X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9. Remanier des étapes de la chaîne de valeur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réservation et validation intégrées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10. Éliminer ou ajouter des étapes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Écartée pour le MVP : pas de paiement par le majordome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11. Identifier de nouveaux entrants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Explorée : les assistants généralistes sont le vrai concurrent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12. S'associer à d'autres acteurs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Reportée : plateformes de réservation sous licence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13. Identifier des supplémenteurs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Écartée : aucun fournisseur de contenu nécessaire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01C19"/>
                </a:solidFill>
                <a:latin typeface="Calibri"/>
              </a:rPr>
              <a:t>14. Explorer ses ressources stratégiques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Retenue : confiance, mémoire du foyer, conformité 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3 : NOUVELLE COURBE DE VALEUR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Helium monte là où l'offre existante est basse : contrôle, mémoire, traçabilité, données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645920"/>
            <a:ext cx="384048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Ce que la courbe dit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Helium prend l'exécution d'un humain, à un prix qu'un humain ne peut pas atteindre.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Il accepte un prix plus élevé que l'assistant (2 contre 4) pour gagner sur le mandat et la mémoire du foyer.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Il renonce à la variété : dix missions au MVP, pas un catalogue.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Le score de prix (2) est le point le plus fragile : il se mesure avec le seuil de 59 € TTC.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3 : ÉLIMINER, RÉDUIRE, AUGMENTER, CRÉER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Quatre mouvements pour sortir de la comparaison avec la conciergerie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Éliminer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Dépendre d'un humain pour chaque tâche et de ses horaires.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Attendre une réponse : chaque action passe par une validation en un geste.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Réduire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Le prix : 79 € TTC contre 250 à 600 € pour une conciergerie.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La variété des démarches : dix missions au MVP, plafond de 100 missions par mois.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6908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Augmenter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Le contrôle : mandat explicite par action, rien n'est envoyé sans accord.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La traçabilité : journal des actions consultable à tout moment.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La mémoire du foyer et l'hébergement en Europe.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6908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D9734F"/>
                </a:solidFill>
                <a:latin typeface="Georgia"/>
              </a:rPr>
              <a:t>Créer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Un service d'exécution 100 % IA sous contrôle, à prix d'abonnement.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La séparation des sphères du foyer : pro, perso, enfants.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Un journal opposable comme argument commercial.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3 : NOUVEAU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Qui, quoi, comment : vendre l'exécution sous mandat au foyer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Qui ?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Cadres supérieurs très actifs, 35 à 50 ans.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Couples bi-actifs aisés avec enfants.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Dirigeants et professions libérales (segment 2).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Canaux : réseau HEC, alumni, LinkedIn, parrainage ; puis avantages salariés.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Quoi ?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Exécution proactive des démarches du foyer.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Mandat explicite : rien n'est fait sans validation.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Mémoire du foyer et journal des actions.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Trois engagements : il anticipe, il agit sous votre contrôle, vos données restent les vôtres.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74320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Comment ?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Offres sans engagement : Personal 29 €, Premium 79 €, Family 129 € TTC.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Annuel à moins 15 %.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Onboarding en 10 minutes, briefing quotidien.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Ressources : orchestration IA multi-modèles, connecteurs Google, conformité (AIPD, charte agents).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645920"/>
            <a:ext cx="237744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Coûts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Inférence IA, variable.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Hébergement UE, support.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Acquisition par cohortes.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Salaires à partir de M13, MVP externe 77 k€.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4 : ÉQUATION DE PROFIT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Le profit d'un abonné Premium tient si le coût par mission reste sous 0,30 €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Contribution par abonné Premium, par mois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01C19"/>
                </a:solidFill>
                <a:latin typeface="Calibri"/>
              </a:rPr>
              <a:t>65,83 € HT, moins 60 missions à 0,18 €, moins 4,50 € hébergement et support, moins 2,08 € paiement = 48 € de contribution (marge variable 74 %).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Profit de Helium, à trente-six mois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Abonnés actifs × contribution, moins abonnés acquis × CAC, moins coûts fixes (salaires à partir de M13, MVP, conformité, audit).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Ce qui fait basculer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Coût par mission à 0,30 € : contribution 41 €. À 0,50 € : 29 €.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1C19"/>
                </a:solidFill>
                <a:latin typeface="Calibri"/>
              </a:rPr>
              <a:t>Prix à 59 € TTC : contribution sous 32 €, payback au-delà de cinq mois.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Scénario central : 2 664 abonnés fin A3, EBITDA positif au mois 12, point bas de trésorerie de −130 k€ au mois 19, besoin de financement de 170 k€. Scénario prudent : 557 k€, jamais à l'équilibre sur 36 mois.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Calibri"/>
              </a:rPr>
              <a:t>Ces chiffres dérivent d'hypothèses non mesurées (CAC 150 €, coût de service 18 €, churn 3 %).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4 : LA DÉCISION À PRENDRE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Ne pas lancer avant la preuve : porte de 90 jours, moins de 15 k€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Porte d'évidence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3 novembre 2026 au 1er février 2027.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30 entretiens (Van Westendorp) pour le prix.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10 pilotes payants.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Coût mesuré sur les missions 1 et 5.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Trois pages d'atterrissage pour le CAC.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Go ou stop au jour 90, sur les mesures.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Si personne n'agit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Les six fondateurs travaillent sur des chiffres non mesurés.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Le registre des décisions reste vide.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Les généralistes ouvrent leurs agents en Europe : la fenêtre de 12 à 24 mois se ferme.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Coût du retard : le temps, pas l'argent.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47472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Ce qui me ferait changer d'avis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Consentement à payer médian sous 59 € TTC.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Coût mesuré au-dessus de 0,30 € par mission.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Agent généraliste ouvert en Europe, sous 30 €, avec mémoire du foyer, avant notre lancement.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Second choix : employeur (B2B2C), score 3,5 contre 4,0. Il perd pour son cycle RH long ; il reste le repli si le CAC B2C dépasse 240 €.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ÉTAPE 4 : NOM ET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Helium Foyer : le nom désigne l'unité vendue, le foyer, et non l'individu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Pourquoi « Foyer »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Le produit se vend au foyer, avec sa mémoire partagée et ses sphères séparées : c'est la promesse.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Court en français et en anglais.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Second choix : « Helium Mandat ». Il dit le contrôle, mais il sonne juridique et B2B.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Réserve : le nom n'est pas cleared. Helium existe déjà (Helium Network, Helium 10, Helium Health). Recherche INPI et EUIPO avant tout usage public (D-02).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760720" cy="4480560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01C19"/>
                </a:solidFill>
                <a:latin typeface="Georgia"/>
              </a:rPr>
              <a:t>Plan des 8 minutes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1 min : le problème, sept millions de cadres, 250 à 600 € pour une solution humaine.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1,5 min : l'offre existante, deux courbes et deux business models.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2 min : les quatorze directions, la nouvelle courbe, le quatre actions.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2 min : le business model et l'équation de profit, 48 € de contribution.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1,5 min : la porte de 90 jours, ce qui la fait échouer, le second choix.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201C19"/>
                </a:solidFill>
                <a:latin typeface="Calibri"/>
              </a:rPr>
              <a:t>Réserve : 0 min. Ne pas dépasser 8 minutes ; la méthode ne se présente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QUESTIONS PROBABLES DU JURY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Réponses préparées : les chiffres sont ceux du modèle V1, les réserves sont dites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Pourquoi ce segment et pas tout le monde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Le cœur est estimé à 1,1 M de cadres (estimation à trois coefficients). Le prix suit la valeur de la conciergerie, pas le budget moyen.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Pourquoi 79 € quand l'assistant coûte 20 €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Nous ne vendons pas un chatbot, mais l'exécution sous mandat. Seuil de prix retenu : 59 € TTC, sous lequel la contribution tombe sous 32 €.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Que se passe-t-il quand ChatGPT ou Gemini ouvrent un agent en Europe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C'est le risque principal, attendu dans 12 à 24 mois (estimation). Réponse : tenir le prix, défendre le mandat, le journal et le foyer, activer le canal employeur.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Votre coût par mission tient-il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Nous retenons 0,18 € par prudence. Le plan technique estime 0,073 € pour le Premium, à mesurer sur les missions 1 et 5 avant le 3 décembre. Seuil d'alerte : 0,30 €.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734F"/>
                </a:solidFill>
                <a:latin typeface="Calibri"/>
              </a:rPr>
              <a:t>QUESTIONS PROBABLES DU JURY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01C19"/>
                </a:solidFill>
                <a:latin typeface="Georgia"/>
              </a:rPr>
              <a:t>Réponses préparées : les chiffres sont ceux du modèle V1, les réserves sont dites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E4D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Que savez-vous, concrètement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Rien de mesuré aujourd'hui : le prix, le CAC et le coût de service sont des hypothèses. C'est précisément ce que la porte de 90 jours doit établir.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Qui possède le projet et qui décide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La Direction tranche, au registre des décisions. Les statuts en dépôt (SASU à associé unique) ne correspondent pas à une équipe de six : ce point doit être réglé (D-01) avant tout pitch.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Pourquoi pas le B2B seul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Le B2B2C employeur a un CAC proche de zéro, mais un cycle RH long et une relation indirecte. Score 3,5 contre 4,0. Repli si le CAC B2C dépasse 240 €.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01C19"/>
                </a:solidFill>
                <a:latin typeface="Georgia"/>
              </a:rPr>
              <a:t>Que deviennent les données personnelles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01C19"/>
                </a:solidFill>
                <a:latin typeface="Calibri"/>
              </a:rPr>
              <a:t>Hébergement UE (Scaleway Paris proposé, non signé), mandat par action, journal consultable, AIPD et registre avant le pilote. Le paiement par le majordome est exclu du MVP.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1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