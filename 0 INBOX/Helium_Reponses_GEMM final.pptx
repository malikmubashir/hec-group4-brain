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334" r:id="rId2"/>
    <p:sldId id="312" r:id="rId3"/>
    <p:sldId id="313" r:id="rId4"/>
    <p:sldId id="327" r:id="rId5"/>
    <p:sldId id="305" r:id="rId6"/>
    <p:sldId id="317" r:id="rId7"/>
    <p:sldId id="320" r:id="rId8"/>
    <p:sldId id="318" r:id="rId9"/>
    <p:sldId id="321" r:id="rId10"/>
    <p:sldId id="333" r:id="rId11"/>
    <p:sldId id="325" r:id="rId12"/>
    <p:sldId id="323" r:id="rId13"/>
    <p:sldId id="32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81"/>
  </p:normalViewPr>
  <p:slideViewPr>
    <p:cSldViewPr snapToGrid="0" snapToObjects="1">
      <p:cViewPr varScale="1">
        <p:scale>
          <a:sx n="114" d="100"/>
          <a:sy n="114" d="100"/>
        </p:scale>
        <p:origin x="60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Conciergerie humaine (250 à 600 €)</c:v>
                </c:pt>
              </c:strCache>
            </c:strRef>
          </c:tx>
          <c:spPr>
            <a:ln w="31750">
              <a:solidFill>
                <a:srgbClr val="6E9BC9"/>
              </a:solidFill>
            </a:ln>
          </c:spPr>
          <c:marker>
            <c:spPr>
              <a:solidFill>
                <a:srgbClr val="6E9BC9"/>
              </a:solidFill>
              <a:ln>
                <a:solidFill>
                  <a:srgbClr val="6E9BC9"/>
                </a:solidFill>
              </a:ln>
            </c:spPr>
          </c:marker>
          <c:cat>
            <c:strRef>
              <c:f>(Sheet1!$A$2,Sheet1!$A$4,Sheet1!$A$6:$A$11)</c:f>
              <c:strCache>
                <c:ptCount val="8"/>
                <c:pt idx="0">
                  <c:v>Temps gagné</c:v>
                </c:pt>
                <c:pt idx="1">
                  <c:v>Prix attractif</c:v>
                </c:pt>
                <c:pt idx="2">
                  <c:v>Mémoire du foyer</c:v>
                </c:pt>
                <c:pt idx="3">
                  <c:v>Disponibilité</c:v>
                </c:pt>
                <c:pt idx="4">
                  <c:v>Traçabilité</c:v>
                </c:pt>
                <c:pt idx="5">
                  <c:v>Données en Europe</c:v>
                </c:pt>
                <c:pt idx="6">
                  <c:v>Variété des démarches</c:v>
                </c:pt>
                <c:pt idx="7">
                  <c:v>Effort de mise en route</c:v>
                </c:pt>
              </c:strCache>
            </c:strRef>
          </c:cat>
          <c:val>
            <c:numRef>
              <c:f>(Sheet1!$B$2,Sheet1!$B$4,Sheet1!$B$6:$B$11)</c:f>
              <c:numCache>
                <c:formatCode>General</c:formatCode>
                <c:ptCount val="8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86-994A-978D-ABE372EE2F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Assistant IA généraliste (18 à 23 €)</c:v>
                </c:pt>
              </c:strCache>
            </c:strRef>
          </c:tx>
          <c:spPr>
            <a:ln w="31750">
              <a:solidFill>
                <a:srgbClr val="6B7785"/>
              </a:solidFill>
            </a:ln>
          </c:spPr>
          <c:marker>
            <c:spPr>
              <a:solidFill>
                <a:srgbClr val="6B7785"/>
              </a:solidFill>
              <a:ln>
                <a:solidFill>
                  <a:srgbClr val="6B7785"/>
                </a:solidFill>
              </a:ln>
            </c:spPr>
          </c:marker>
          <c:cat>
            <c:strRef>
              <c:f>(Sheet1!$A$2,Sheet1!$A$4,Sheet1!$A$6:$A$11)</c:f>
              <c:strCache>
                <c:ptCount val="8"/>
                <c:pt idx="0">
                  <c:v>Temps gagné</c:v>
                </c:pt>
                <c:pt idx="1">
                  <c:v>Prix attractif</c:v>
                </c:pt>
                <c:pt idx="2">
                  <c:v>Mémoire du foyer</c:v>
                </c:pt>
                <c:pt idx="3">
                  <c:v>Disponibilité</c:v>
                </c:pt>
                <c:pt idx="4">
                  <c:v>Traçabilité</c:v>
                </c:pt>
                <c:pt idx="5">
                  <c:v>Données en Europe</c:v>
                </c:pt>
                <c:pt idx="6">
                  <c:v>Variété des démarches</c:v>
                </c:pt>
                <c:pt idx="7">
                  <c:v>Effort de mise en route</c:v>
                </c:pt>
              </c:strCache>
            </c:strRef>
          </c:cat>
          <c:val>
            <c:numRef>
              <c:f>(Sheet1!$C$2,Sheet1!$C$4,Sheet1!$C$6:$C$11)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86-994A-978D-ABE372EE2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  <c:majorUnit val="1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Helium Foyer</c:v>
                </c:pt>
              </c:strCache>
            </c:strRef>
          </c:tx>
          <c:spPr>
            <a:ln w="50800">
              <a:solidFill>
                <a:srgbClr val="0380A5"/>
              </a:solidFill>
            </a:ln>
          </c:spPr>
          <c:marker>
            <c:spPr>
              <a:solidFill>
                <a:srgbClr val="0380A5"/>
              </a:solidFill>
              <a:ln>
                <a:solidFill>
                  <a:srgbClr val="0380A5"/>
                </a:solidFill>
              </a:ln>
            </c:spPr>
          </c:marker>
          <c:cat>
            <c:strRef>
              <c:f>(Sheet1!$A$2,Sheet1!$A$4,Sheet1!$A$6:$A$11)</c:f>
              <c:strCache>
                <c:ptCount val="8"/>
                <c:pt idx="0">
                  <c:v>Temps gagné</c:v>
                </c:pt>
                <c:pt idx="1">
                  <c:v>Prix attractif</c:v>
                </c:pt>
                <c:pt idx="2">
                  <c:v>Mémoire du foyer</c:v>
                </c:pt>
                <c:pt idx="3">
                  <c:v>Disponibilité</c:v>
                </c:pt>
                <c:pt idx="4">
                  <c:v>Traçabilité</c:v>
                </c:pt>
                <c:pt idx="5">
                  <c:v>Données en Europe</c:v>
                </c:pt>
                <c:pt idx="6">
                  <c:v>Variété des démarches</c:v>
                </c:pt>
                <c:pt idx="7">
                  <c:v>Effort de mise en route</c:v>
                </c:pt>
              </c:strCache>
            </c:strRef>
          </c:cat>
          <c:val>
            <c:numRef>
              <c:f>(Sheet1!$B$2,Sheet1!$B$4,Sheet1!$B$6:$B$11)</c:f>
              <c:numCache>
                <c:formatCode>General</c:formatCode>
                <c:ptCount val="8"/>
                <c:pt idx="0">
                  <c:v>4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3</c:v>
                </c:pt>
                <c:pt idx="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2B-EE4F-AADF-BBB54FFAAE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Conciergerie humaine</c:v>
                </c:pt>
              </c:strCache>
            </c:strRef>
          </c:tx>
          <c:spPr>
            <a:ln w="25400">
              <a:solidFill>
                <a:srgbClr val="6E9BC9"/>
              </a:solidFill>
            </a:ln>
          </c:spPr>
          <c:marker>
            <c:spPr>
              <a:solidFill>
                <a:srgbClr val="6E9BC9"/>
              </a:solidFill>
              <a:ln>
                <a:solidFill>
                  <a:srgbClr val="6E9BC9"/>
                </a:solidFill>
              </a:ln>
            </c:spPr>
          </c:marker>
          <c:cat>
            <c:strRef>
              <c:f>(Sheet1!$A$2,Sheet1!$A$4,Sheet1!$A$6:$A$11)</c:f>
              <c:strCache>
                <c:ptCount val="8"/>
                <c:pt idx="0">
                  <c:v>Temps gagné</c:v>
                </c:pt>
                <c:pt idx="1">
                  <c:v>Prix attractif</c:v>
                </c:pt>
                <c:pt idx="2">
                  <c:v>Mémoire du foyer</c:v>
                </c:pt>
                <c:pt idx="3">
                  <c:v>Disponibilité</c:v>
                </c:pt>
                <c:pt idx="4">
                  <c:v>Traçabilité</c:v>
                </c:pt>
                <c:pt idx="5">
                  <c:v>Données en Europe</c:v>
                </c:pt>
                <c:pt idx="6">
                  <c:v>Variété des démarches</c:v>
                </c:pt>
                <c:pt idx="7">
                  <c:v>Effort de mise en route</c:v>
                </c:pt>
              </c:strCache>
            </c:strRef>
          </c:cat>
          <c:val>
            <c:numRef>
              <c:f>(Sheet1!$C$2,Sheet1!$C$4,Sheet1!$C$6:$C$11)</c:f>
              <c:numCache>
                <c:formatCode>General</c:formatCode>
                <c:ptCount val="8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2B-EE4F-AADF-BBB54FFAAE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Assistant IA généraliste</c:v>
                </c:pt>
              </c:strCache>
            </c:strRef>
          </c:tx>
          <c:spPr>
            <a:ln w="25400">
              <a:solidFill>
                <a:srgbClr val="6B7785"/>
              </a:solidFill>
            </a:ln>
          </c:spPr>
          <c:marker>
            <c:spPr>
              <a:solidFill>
                <a:srgbClr val="6B7785"/>
              </a:solidFill>
              <a:ln>
                <a:solidFill>
                  <a:srgbClr val="6B7785"/>
                </a:solidFill>
              </a:ln>
            </c:spPr>
          </c:marker>
          <c:cat>
            <c:strRef>
              <c:f>(Sheet1!$A$2,Sheet1!$A$4,Sheet1!$A$6:$A$11)</c:f>
              <c:strCache>
                <c:ptCount val="8"/>
                <c:pt idx="0">
                  <c:v>Temps gagné</c:v>
                </c:pt>
                <c:pt idx="1">
                  <c:v>Prix attractif</c:v>
                </c:pt>
                <c:pt idx="2">
                  <c:v>Mémoire du foyer</c:v>
                </c:pt>
                <c:pt idx="3">
                  <c:v>Disponibilité</c:v>
                </c:pt>
                <c:pt idx="4">
                  <c:v>Traçabilité</c:v>
                </c:pt>
                <c:pt idx="5">
                  <c:v>Données en Europe</c:v>
                </c:pt>
                <c:pt idx="6">
                  <c:v>Variété des démarches</c:v>
                </c:pt>
                <c:pt idx="7">
                  <c:v>Effort de mise en route</c:v>
                </c:pt>
              </c:strCache>
            </c:strRef>
          </c:cat>
          <c:val>
            <c:numRef>
              <c:f>(Sheet1!$D$2,Sheet1!$D$4,Sheet1!$D$6:$D$11)</c:f>
              <c:numCache>
                <c:formatCode>General</c:formatCode>
                <c:ptCount val="8"/>
                <c:pt idx="0">
                  <c:v>2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4</c:v>
                </c:pt>
                <c:pt idx="7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2B-EE4F-AADF-BBB54FFAAE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18791784"/>
        <c:crosses val="autoZero"/>
        <c:crossBetween val="between"/>
        <c:majorUnit val="1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283464566929134"/>
          <c:y val="0.06"/>
          <c:w val="0.66970602028978343"/>
          <c:h val="0.84736452061139422"/>
        </c:manualLayout>
      </c:layout>
      <c:lineChart>
        <c:grouping val="standard"/>
        <c:varyColors val="0"/>
        <c:ser>
          <c:idx val="0"/>
          <c:order val="0"/>
          <c:tx>
            <c:v>Revenus</c:v>
          </c:tx>
          <c:spPr>
            <a:ln w="28575">
              <a:solidFill>
                <a:srgbClr val="0380A5"/>
              </a:solidFill>
            </a:ln>
          </c:spPr>
          <c:marker>
            <c:symbol val="none"/>
          </c:marker>
          <c:dPt>
            <c:idx val="10"/>
            <c:marker>
              <c:symbol val="circle"/>
              <c:size val="7"/>
              <c:spPr>
                <a:solidFill>
                  <a:srgbClr val="0380A5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C17-FB42-9B35-E0DE3C222243}"/>
              </c:ext>
            </c:extLst>
          </c:dPt>
          <c:dLbls>
            <c:dLbl>
              <c:idx val="1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0380A5"/>
                        </a:solidFill>
                        <a:latin typeface="Arial"/>
                      </a:rPr>
                      <a:t>65,8 k€ Revenus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C17-FB42-9B35-E0DE3C2222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</c:strLit>
          </c:cat>
          <c:val>
            <c:numLit>
              <c:formatCode>General</c:formatCode>
              <c:ptCount val="11"/>
              <c:pt idx="0">
                <c:v>0</c:v>
              </c:pt>
              <c:pt idx="1">
                <c:v>6.6</c:v>
              </c:pt>
              <c:pt idx="2">
                <c:v>13.2</c:v>
              </c:pt>
              <c:pt idx="3">
                <c:v>19.7</c:v>
              </c:pt>
              <c:pt idx="4">
                <c:v>26.3</c:v>
              </c:pt>
              <c:pt idx="5">
                <c:v>32.9</c:v>
              </c:pt>
              <c:pt idx="6">
                <c:v>39.5</c:v>
              </c:pt>
              <c:pt idx="7">
                <c:v>46.1</c:v>
              </c:pt>
              <c:pt idx="8">
                <c:v>52.7</c:v>
              </c:pt>
              <c:pt idx="9">
                <c:v>59.2</c:v>
              </c:pt>
              <c:pt idx="10">
                <c:v>65.8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6C17-FB42-9B35-E0DE3C222243}"/>
            </c:ext>
          </c:extLst>
        </c:ser>
        <c:ser>
          <c:idx val="1"/>
          <c:order val="1"/>
          <c:tx>
            <c:v>Coûts</c:v>
          </c:tx>
          <c:spPr>
            <a:ln w="19050">
              <a:solidFill>
                <a:srgbClr val="033A70"/>
              </a:solidFill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rgbClr val="033A7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6C17-FB42-9B35-E0DE3C222243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033A70"/>
                </a:solidFill>
                <a:ln>
                  <a:noFill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6C17-FB42-9B35-E0DE3C22224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033A70"/>
                        </a:solidFill>
                        <a:latin typeface="Arial"/>
                      </a:rPr>
                      <a:t>19,8 k€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C17-FB42-9B35-E0DE3C222243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033A70"/>
                        </a:solidFill>
                        <a:latin typeface="Arial"/>
                      </a:rPr>
                      <a:t>37,2 k€ Coûts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C17-FB42-9B35-E0DE3C2222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1"/>
              <c:pt idx="0">
                <c:v>0</c:v>
              </c:pt>
              <c:pt idx="1">
                <c:v>100</c:v>
              </c:pt>
              <c:pt idx="2">
                <c:v>200</c:v>
              </c:pt>
              <c:pt idx="3">
                <c:v>300</c:v>
              </c:pt>
              <c:pt idx="4">
                <c:v>400</c:v>
              </c:pt>
              <c:pt idx="5">
                <c:v>500</c:v>
              </c:pt>
              <c:pt idx="6">
                <c:v>600</c:v>
              </c:pt>
              <c:pt idx="7">
                <c:v>700</c:v>
              </c:pt>
              <c:pt idx="8">
                <c:v>800</c:v>
              </c:pt>
              <c:pt idx="9">
                <c:v>900</c:v>
              </c:pt>
              <c:pt idx="10">
                <c:v>1000</c:v>
              </c:pt>
            </c:strLit>
          </c:cat>
          <c:val>
            <c:numLit>
              <c:formatCode>General</c:formatCode>
              <c:ptCount val="11"/>
              <c:pt idx="0">
                <c:v>19.8</c:v>
              </c:pt>
              <c:pt idx="1">
                <c:v>21.6</c:v>
              </c:pt>
              <c:pt idx="2">
                <c:v>23.3</c:v>
              </c:pt>
              <c:pt idx="3">
                <c:v>25.1</c:v>
              </c:pt>
              <c:pt idx="4">
                <c:v>26.8</c:v>
              </c:pt>
              <c:pt idx="5">
                <c:v>28.5</c:v>
              </c:pt>
              <c:pt idx="6">
                <c:v>30.3</c:v>
              </c:pt>
              <c:pt idx="7">
                <c:v>32</c:v>
              </c:pt>
              <c:pt idx="8">
                <c:v>33.700000000000003</c:v>
              </c:pt>
              <c:pt idx="9">
                <c:v>35.5</c:v>
              </c:pt>
              <c:pt idx="10">
                <c:v>37.200000000000003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6C17-FB42-9B35-E0DE3C2222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ACE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F2A3C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70"/>
          <c:min val="0"/>
        </c:scaling>
        <c:delete val="0"/>
        <c:axPos val="l"/>
        <c:majorGridlines>
          <c:spPr>
            <a:ln w="9525">
              <a:solidFill>
                <a:srgbClr val="E9EAEC"/>
              </a:solidFill>
            </a:ln>
          </c:spPr>
        </c:majorGridlines>
        <c:numFmt formatCode="#,##0&quot; k€&quot;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400" b="0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1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96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3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91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74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63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1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3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95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46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80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3205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4434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935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68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34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8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2329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08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68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3161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3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96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828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895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309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4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 dirty="0">
                <a:solidFill>
                  <a:srgbClr val="FFFFFF"/>
                </a:solidFill>
                <a:latin typeface="Arial"/>
              </a:rPr>
              <a:t>Helium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dirty="0">
                <a:solidFill>
                  <a:srgbClr val="FFFFFF"/>
                </a:solidFill>
                <a:latin typeface="Arial"/>
              </a:rPr>
              <a:t>Un majordome IA qui prend en charge les démarches du foyer des cadres : courbe de valeur, business model et équation de profit</a:t>
            </a:r>
          </a:p>
        </p:txBody>
      </p:sp>
      <p:sp>
        <p:nvSpPr>
          <p:cNvPr id="50" name="Barre accent"/>
          <p:cNvSpPr/>
          <p:nvPr/>
        </p:nvSpPr>
        <p:spPr>
          <a:xfrm>
            <a:off x="914400" y="1783080"/>
            <a:ext cx="914400" cy="76200"/>
          </a:xfrm>
          <a:prstGeom prst="rect">
            <a:avLst/>
          </a:prstGeom>
          <a:solidFill>
            <a:srgbClr val="0380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8" name="Logo Helium (atome)" descr="Logo : atome d'hélium, 2 protons, 2 neutrons, 2 électrons"/>
          <p:cNvGrpSpPr/>
          <p:nvPr/>
        </p:nvGrpSpPr>
        <p:grpSpPr>
          <a:xfrm>
            <a:off x="838200" y="482600"/>
            <a:ext cx="1168400" cy="1168400"/>
            <a:chOff x="838200" y="482600"/>
            <a:chExt cx="1168400" cy="1168400"/>
          </a:xfrm>
        </p:grpSpPr>
        <p:sp>
          <p:nvSpPr>
            <p:cNvPr id="60" name="Orbite 1"/>
            <p:cNvSpPr/>
            <p:nvPr/>
          </p:nvSpPr>
          <p:spPr>
            <a:xfrm rot="3600000">
              <a:off x="863600" y="876300"/>
              <a:ext cx="1117600" cy="381000"/>
            </a:xfrm>
            <a:prstGeom prst="ellipse">
              <a:avLst/>
            </a:prstGeom>
            <a:noFill/>
            <a:ln w="22225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rbite 2"/>
            <p:cNvSpPr/>
            <p:nvPr/>
          </p:nvSpPr>
          <p:spPr>
            <a:xfrm rot="-3600000">
              <a:off x="863600" y="876300"/>
              <a:ext cx="1117600" cy="381000"/>
            </a:xfrm>
            <a:prstGeom prst="ellipse">
              <a:avLst/>
            </a:prstGeom>
            <a:noFill/>
            <a:ln w="22225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Neutron 1"/>
            <p:cNvSpPr/>
            <p:nvPr/>
          </p:nvSpPr>
          <p:spPr>
            <a:xfrm>
              <a:off x="1276350" y="920750"/>
              <a:ext cx="152400" cy="152400"/>
            </a:xfrm>
            <a:prstGeom prst="ellipse">
              <a:avLst/>
            </a:prstGeom>
            <a:solidFill>
              <a:srgbClr val="DBEAF9"/>
            </a:solidFill>
            <a:ln w="12700">
              <a:solidFill>
                <a:srgbClr val="033A7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Proton 1"/>
            <p:cNvSpPr/>
            <p:nvPr/>
          </p:nvSpPr>
          <p:spPr>
            <a:xfrm>
              <a:off x="1416050" y="920750"/>
              <a:ext cx="152400" cy="152400"/>
            </a:xfrm>
            <a:prstGeom prst="ellipse">
              <a:avLst/>
            </a:prstGeom>
            <a:solidFill>
              <a:srgbClr val="0380A5"/>
            </a:solidFill>
            <a:ln w="12700">
              <a:solidFill>
                <a:srgbClr val="033A7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Proton 2"/>
            <p:cNvSpPr/>
            <p:nvPr/>
          </p:nvSpPr>
          <p:spPr>
            <a:xfrm>
              <a:off x="1276350" y="1060450"/>
              <a:ext cx="152400" cy="152400"/>
            </a:xfrm>
            <a:prstGeom prst="ellipse">
              <a:avLst/>
            </a:prstGeom>
            <a:solidFill>
              <a:srgbClr val="0380A5"/>
            </a:solidFill>
            <a:ln w="12700">
              <a:solidFill>
                <a:srgbClr val="033A7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Neutron 2"/>
            <p:cNvSpPr/>
            <p:nvPr/>
          </p:nvSpPr>
          <p:spPr>
            <a:xfrm>
              <a:off x="1416050" y="1060450"/>
              <a:ext cx="152400" cy="152400"/>
            </a:xfrm>
            <a:prstGeom prst="ellipse">
              <a:avLst/>
            </a:prstGeom>
            <a:solidFill>
              <a:srgbClr val="DBEAF9"/>
            </a:solidFill>
            <a:ln w="12700">
              <a:solidFill>
                <a:srgbClr val="033A7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Électron 1"/>
            <p:cNvSpPr/>
            <p:nvPr/>
          </p:nvSpPr>
          <p:spPr>
            <a:xfrm>
              <a:off x="1644650" y="1493585"/>
              <a:ext cx="114300" cy="114300"/>
            </a:xfrm>
            <a:prstGeom prst="ellipse">
              <a:avLst/>
            </a:prstGeom>
            <a:solidFill>
              <a:srgbClr val="0380A5"/>
            </a:solidFill>
            <a:ln w="15875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Électron 2"/>
            <p:cNvSpPr/>
            <p:nvPr/>
          </p:nvSpPr>
          <p:spPr>
            <a:xfrm>
              <a:off x="1085850" y="1493585"/>
              <a:ext cx="114300" cy="114300"/>
            </a:xfrm>
            <a:prstGeom prst="ellipse">
              <a:avLst/>
            </a:prstGeom>
            <a:solidFill>
              <a:srgbClr val="0380A5"/>
            </a:solidFill>
            <a:ln w="15875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9791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fr-FR" sz="2200" b="1" dirty="0">
                <a:solidFill>
                  <a:srgbClr val="033A70"/>
                </a:solidFill>
                <a:latin typeface="Arial"/>
              </a:rPr>
              <a:t>Le problème : les cadres croulent sous les tâches quotidiennes du foyer</a:t>
            </a:r>
            <a:endParaRPr sz="2200" b="1" dirty="0">
              <a:solidFill>
                <a:srgbClr val="1F2A3C"/>
              </a:solidFill>
              <a:latin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3566160" cy="2377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33A70"/>
                </a:solidFill>
                <a:latin typeface="Arial"/>
              </a:rPr>
              <a:t>7,3 M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F2A3C"/>
                </a:solidFill>
                <a:latin typeface="Arial"/>
              </a:rPr>
              <a:t>Cadres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en</a:t>
            </a:r>
            <a:r>
              <a:rPr sz="1300" dirty="0">
                <a:solidFill>
                  <a:srgbClr val="1F2A3C"/>
                </a:solidFill>
                <a:latin typeface="Arial"/>
              </a:rPr>
              <a:t> France (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Insee</a:t>
            </a:r>
            <a:r>
              <a:rPr sz="1300" dirty="0">
                <a:solidFill>
                  <a:srgbClr val="1F2A3C"/>
                </a:solidFill>
                <a:latin typeface="Arial"/>
              </a:rPr>
              <a:t>, 2025).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Ceux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que</a:t>
            </a:r>
            <a:r>
              <a:rPr sz="1300" dirty="0">
                <a:solidFill>
                  <a:srgbClr val="1F2A3C"/>
                </a:solidFill>
                <a:latin typeface="Arial"/>
              </a:rPr>
              <a:t> nous visons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d'abord</a:t>
            </a:r>
            <a:r>
              <a:rPr sz="1300" dirty="0">
                <a:solidFill>
                  <a:srgbClr val="1F2A3C"/>
                </a:solidFill>
                <a:latin typeface="Arial"/>
              </a:rPr>
              <a:t>, les 25 à 49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ans</a:t>
            </a:r>
            <a:r>
              <a:rPr sz="1300" dirty="0">
                <a:solidFill>
                  <a:srgbClr val="1F2A3C"/>
                </a:solidFill>
                <a:latin typeface="Arial"/>
              </a:rPr>
              <a:t> avec enfants,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sont</a:t>
            </a:r>
            <a:r>
              <a:rPr sz="1300" dirty="0">
                <a:solidFill>
                  <a:srgbClr val="1F2A3C"/>
                </a:solidFill>
                <a:latin typeface="Arial"/>
              </a:rPr>
              <a:t> environ 1,1 M (estimation).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566160" cy="2377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4400" b="1" dirty="0">
                <a:solidFill>
                  <a:srgbClr val="033A70"/>
                </a:solidFill>
                <a:latin typeface="Arial"/>
              </a:rPr>
              <a:t>76 %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F2A3C"/>
                </a:solidFill>
                <a:latin typeface="Arial"/>
              </a:rPr>
              <a:t>Des cadres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utilisent</a:t>
            </a:r>
            <a:r>
              <a:rPr sz="1300" dirty="0">
                <a:solidFill>
                  <a:srgbClr val="1F2A3C"/>
                </a:solidFill>
                <a:latin typeface="Arial"/>
              </a:rPr>
              <a:t> déjà un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outil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comme</a:t>
            </a:r>
            <a:r>
              <a:rPr sz="1300" dirty="0">
                <a:solidFill>
                  <a:srgbClr val="1F2A3C"/>
                </a:solidFill>
                <a:latin typeface="Arial"/>
              </a:rPr>
              <a:t> ChatGPT. Il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conseille</a:t>
            </a:r>
            <a:r>
              <a:rPr sz="1300" dirty="0">
                <a:solidFill>
                  <a:srgbClr val="1F2A3C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rédige</a:t>
            </a:r>
            <a:r>
              <a:rPr sz="1300" dirty="0">
                <a:solidFill>
                  <a:srgbClr val="1F2A3C"/>
                </a:solidFill>
                <a:latin typeface="Arial"/>
              </a:rPr>
              <a:t> et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résume</a:t>
            </a:r>
            <a:r>
              <a:rPr sz="1300" dirty="0">
                <a:solidFill>
                  <a:srgbClr val="1F2A3C"/>
                </a:solidFill>
                <a:latin typeface="Arial"/>
              </a:rPr>
              <a:t>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mais</a:t>
            </a:r>
            <a:r>
              <a:rPr sz="1300" dirty="0">
                <a:solidFill>
                  <a:srgbClr val="1F2A3C"/>
                </a:solidFill>
                <a:latin typeface="Arial"/>
              </a:rPr>
              <a:t> ne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réserve</a:t>
            </a:r>
            <a:r>
              <a:rPr sz="1300" dirty="0">
                <a:solidFill>
                  <a:srgbClr val="1F2A3C"/>
                </a:solidFill>
                <a:latin typeface="Arial"/>
              </a:rPr>
              <a:t> rien, ne relance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personne</a:t>
            </a:r>
            <a:r>
              <a:rPr sz="1300" dirty="0">
                <a:solidFill>
                  <a:srgbClr val="1F2A3C"/>
                </a:solidFill>
                <a:latin typeface="Arial"/>
              </a:rPr>
              <a:t> et ne fait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aucune</a:t>
            </a:r>
            <a:r>
              <a:rPr sz="1300" dirty="0">
                <a:solidFill>
                  <a:srgbClr val="1F2A3C"/>
                </a:solidFill>
                <a:latin typeface="Arial"/>
              </a:rPr>
              <a:t> démarche.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566160" cy="2377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4000" b="1" dirty="0">
                <a:solidFill>
                  <a:srgbClr val="033A70"/>
                </a:solidFill>
                <a:latin typeface="Arial"/>
              </a:rPr>
              <a:t>250 à 600 €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F2A3C"/>
                </a:solidFill>
                <a:latin typeface="Arial"/>
              </a:rPr>
              <a:t>Prix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mensuel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d'une</a:t>
            </a:r>
            <a:r>
              <a:rPr sz="1300" dirty="0">
                <a:solidFill>
                  <a:srgbClr val="1F2A3C"/>
                </a:solidFill>
                <a:latin typeface="Arial"/>
              </a:rPr>
              <a:t> conciergerie humaine : le seul service qui fait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vraiment</a:t>
            </a:r>
            <a:r>
              <a:rPr sz="1300" dirty="0">
                <a:solidFill>
                  <a:srgbClr val="1F2A3C"/>
                </a:solidFill>
                <a:latin typeface="Arial"/>
              </a:rPr>
              <a:t> le travail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coûte</a:t>
            </a:r>
            <a:r>
              <a:rPr sz="1300" dirty="0">
                <a:solidFill>
                  <a:srgbClr val="1F2A3C"/>
                </a:solidFill>
                <a:latin typeface="Arial"/>
              </a:rPr>
              <a:t> le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salaire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d'une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personne</a:t>
            </a:r>
            <a:r>
              <a:rPr sz="1300" dirty="0">
                <a:solidFill>
                  <a:srgbClr val="1F2A3C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1F2A3C"/>
                </a:solidFill>
                <a:latin typeface="Arial"/>
              </a:rPr>
              <a:t>Au quotidien : des démarches qui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s'accumulent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, des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échéances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oubliées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, des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rendez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-vous à prendre à 19 h, et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aucun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 service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abordable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 qui les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fasse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A3C"/>
                </a:solidFill>
                <a:latin typeface="Arial"/>
              </a:rPr>
              <a:t>vraiment</a:t>
            </a:r>
            <a:r>
              <a:rPr sz="1600" b="0" dirty="0">
                <a:solidFill>
                  <a:srgbClr val="1F2A3C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2058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dirty="0">
                <a:solidFill>
                  <a:srgbClr val="033A70"/>
                </a:solidFill>
                <a:latin typeface="Arial"/>
              </a:rPr>
              <a:t>La </a:t>
            </a:r>
            <a:r>
              <a:rPr sz="2200" b="1" dirty="0" err="1">
                <a:solidFill>
                  <a:srgbClr val="033A70"/>
                </a:solidFill>
                <a:latin typeface="Arial"/>
              </a:rPr>
              <a:t>courbe</a:t>
            </a:r>
            <a:r>
              <a:rPr sz="2200" b="1" dirty="0">
                <a:solidFill>
                  <a:srgbClr val="033A70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033A70"/>
                </a:solidFill>
                <a:latin typeface="Arial"/>
              </a:rPr>
              <a:t>valeur</a:t>
            </a:r>
            <a:r>
              <a:rPr sz="2200" b="1" dirty="0">
                <a:solidFill>
                  <a:srgbClr val="033A70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033A70"/>
                </a:solidFill>
                <a:latin typeface="Arial"/>
              </a:rPr>
              <a:t>l'offre</a:t>
            </a:r>
            <a:r>
              <a:rPr sz="2200" b="1" dirty="0">
                <a:solidFill>
                  <a:srgbClr val="033A70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033A70"/>
                </a:solidFill>
                <a:latin typeface="Arial"/>
              </a:rPr>
              <a:t>existante</a:t>
            </a:r>
            <a:endParaRPr sz="2200" b="1" dirty="0">
              <a:solidFill>
                <a:srgbClr val="1F2A3C"/>
              </a:solidFill>
              <a:latin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498079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21040" y="1645920"/>
            <a:ext cx="3291840" cy="2098302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La conciergerie fait vraiment les démarches et fait gagner du temps, et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coûte</a:t>
            </a:r>
            <a:r>
              <a:rPr sz="1250" dirty="0">
                <a:solidFill>
                  <a:srgbClr val="1F2A3C"/>
                </a:solidFill>
                <a:latin typeface="Arial"/>
              </a:rPr>
              <a:t> entre 10 et 20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fois</a:t>
            </a:r>
            <a:r>
              <a:rPr sz="1250" dirty="0">
                <a:solidFill>
                  <a:srgbClr val="1F2A3C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l'assistant</a:t>
            </a:r>
            <a:r>
              <a:rPr sz="1250" dirty="0">
                <a:solidFill>
                  <a:srgbClr val="1F2A3C"/>
                </a:solidFill>
                <a:latin typeface="Arial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250" dirty="0" err="1">
                <a:solidFill>
                  <a:srgbClr val="1F2A3C"/>
                </a:solidFill>
                <a:latin typeface="Arial"/>
              </a:rPr>
              <a:t>L'assistant</a:t>
            </a:r>
            <a:r>
              <a:rPr sz="1250" dirty="0">
                <a:solidFill>
                  <a:srgbClr val="1F2A3C"/>
                </a:solidFill>
                <a:latin typeface="Arial"/>
              </a:rPr>
              <a:t> est bon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marché</a:t>
            </a:r>
            <a:r>
              <a:rPr sz="1250" dirty="0">
                <a:solidFill>
                  <a:srgbClr val="1F2A3C"/>
                </a:solidFill>
                <a:latin typeface="Arial"/>
              </a:rPr>
              <a:t> et disponible,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mais</a:t>
            </a:r>
            <a:r>
              <a:rPr sz="1250" dirty="0">
                <a:solidFill>
                  <a:srgbClr val="1F2A3C"/>
                </a:solidFill>
                <a:latin typeface="Arial"/>
              </a:rPr>
              <a:t> il ne fait rien à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votre</a:t>
            </a:r>
            <a:r>
              <a:rPr sz="1250" dirty="0">
                <a:solidFill>
                  <a:srgbClr val="1F2A3C"/>
                </a:solidFill>
                <a:latin typeface="Arial"/>
              </a:rPr>
              <a:t> place.</a:t>
            </a:r>
          </a:p>
          <a:p>
            <a:pPr algn="l">
              <a:spcAft>
                <a:spcPts val="400"/>
              </a:spcAft>
            </a:pPr>
            <a:r>
              <a:rPr sz="1250" dirty="0" err="1">
                <a:solidFill>
                  <a:srgbClr val="1F2A3C"/>
                </a:solidFill>
                <a:latin typeface="Arial"/>
              </a:rPr>
              <a:t>Aucune offre ne fait les démarches, avec votre accord à chaque étape, pour le prix d'un abonnement. C'est là que nous nous plaçons.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80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46100" y="609600"/>
            <a:ext cx="11061700" cy="8255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2200" b="1" dirty="0">
                <a:solidFill>
                  <a:srgbClr val="033A70"/>
                </a:solidFill>
                <a:latin typeface="Arial"/>
              </a:rPr>
              <a:t>Business Model existants</a:t>
            </a:r>
          </a:p>
        </p:txBody>
      </p:sp>
      <p:cxnSp>
        <p:nvCxnSpPr>
          <p:cNvPr id="3" name="Filet titre"/>
          <p:cNvCxnSpPr/>
          <p:nvPr/>
        </p:nvCxnSpPr>
        <p:spPr>
          <a:xfrm>
            <a:off x="546100" y="1485900"/>
            <a:ext cx="11061700" cy="0"/>
          </a:xfrm>
          <a:prstGeom prst="line">
            <a:avLst/>
          </a:prstGeom>
          <a:ln w="15875">
            <a:solidFill>
              <a:srgbClr val="D0DCEA"/>
            </a:solidFill>
          </a:ln>
        </p:spPr>
      </p:cxnSp>
      <p:cxnSp>
        <p:nvCxnSpPr>
          <p:cNvPr id="4" name="Séparateur"/>
          <p:cNvCxnSpPr/>
          <p:nvPr/>
        </p:nvCxnSpPr>
        <p:spPr>
          <a:xfrm>
            <a:off x="6045200" y="1752600"/>
            <a:ext cx="0" cy="4445000"/>
          </a:xfrm>
          <a:prstGeom prst="line">
            <a:avLst/>
          </a:prstGeom>
          <a:ln w="12700">
            <a:solidFill>
              <a:srgbClr val="D0DCEA"/>
            </a:solidFill>
          </a:ln>
        </p:spPr>
      </p:cxnSp>
      <p:sp>
        <p:nvSpPr>
          <p:cNvPr id="5" name="Modèle Conciergerie humaine"/>
          <p:cNvSpPr txBox="1"/>
          <p:nvPr/>
        </p:nvSpPr>
        <p:spPr>
          <a:xfrm>
            <a:off x="546100" y="16764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fr-FR" sz="1500" b="1" dirty="0">
                <a:solidFill>
                  <a:srgbClr val="033A70"/>
                </a:solidFill>
                <a:latin typeface="Arial"/>
              </a:rPr>
              <a:t>Conciergerie humaine</a:t>
            </a:r>
            <a:r>
              <a:rPr lang="fr-FR" sz="1200" dirty="0">
                <a:solidFill>
                  <a:srgbClr val="6B7785"/>
                </a:solidFill>
                <a:latin typeface="Arial"/>
              </a:rPr>
              <a:t>   250 à 600 € par mois</a:t>
            </a:r>
          </a:p>
        </p:txBody>
      </p:sp>
      <p:sp>
        <p:nvSpPr>
          <p:cNvPr id="6" name="Pilier VP"/>
          <p:cNvSpPr/>
          <p:nvPr/>
        </p:nvSpPr>
        <p:spPr>
          <a:xfrm>
            <a:off x="2540000" y="2971800"/>
            <a:ext cx="1422400" cy="142240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033A70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ilier Architecture"/>
          <p:cNvSpPr/>
          <p:nvPr/>
        </p:nvSpPr>
        <p:spPr>
          <a:xfrm>
            <a:off x="2540000" y="2971800"/>
            <a:ext cx="1422400" cy="142240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296297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Pilier Contributions"/>
          <p:cNvSpPr/>
          <p:nvPr/>
        </p:nvSpPr>
        <p:spPr>
          <a:xfrm>
            <a:off x="2540000" y="2971800"/>
            <a:ext cx="1422400" cy="142240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0380A5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" name="Filet VP"/>
          <p:cNvCxnSpPr/>
          <p:nvPr/>
        </p:nvCxnSpPr>
        <p:spPr>
          <a:xfrm>
            <a:off x="546100" y="2184400"/>
            <a:ext cx="1778000" cy="0"/>
          </a:xfrm>
          <a:prstGeom prst="line">
            <a:avLst/>
          </a:prstGeom>
          <a:ln w="19050">
            <a:solidFill>
              <a:srgbClr val="033A70"/>
            </a:solidFill>
          </a:ln>
        </p:spPr>
      </p:cxnSp>
      <p:sp>
        <p:nvSpPr>
          <p:cNvPr id="10" name="Proposition de valeur"/>
          <p:cNvSpPr txBox="1"/>
          <p:nvPr/>
        </p:nvSpPr>
        <p:spPr>
          <a:xfrm>
            <a:off x="546100" y="2260600"/>
            <a:ext cx="1778000" cy="222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3A70"/>
                </a:solidFill>
                <a:latin typeface="Arial"/>
              </a:rPr>
              <a:t>Proposition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3A70"/>
                </a:solidFill>
                <a:latin typeface="Arial"/>
              </a:rPr>
              <a:t>L'offre faite au client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Quoi ? Exécuter les démarches du foyer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qui ? Dirigeants et cadres supérieurs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quel prix ? 250 à 600 € par mois</a:t>
            </a:r>
          </a:p>
        </p:txBody>
      </p:sp>
      <p:cxnSp>
        <p:nvCxnSpPr>
          <p:cNvPr id="11" name="Filet Architecture"/>
          <p:cNvCxnSpPr/>
          <p:nvPr/>
        </p:nvCxnSpPr>
        <p:spPr>
          <a:xfrm>
            <a:off x="4178300" y="2184400"/>
            <a:ext cx="1752600" cy="0"/>
          </a:xfrm>
          <a:prstGeom prst="line">
            <a:avLst/>
          </a:prstGeom>
          <a:ln w="19050">
            <a:solidFill>
              <a:srgbClr val="296297"/>
            </a:solidFill>
          </a:ln>
        </p:spPr>
      </p:cxnSp>
      <p:sp>
        <p:nvSpPr>
          <p:cNvPr id="12" name="Architecture de valeur"/>
          <p:cNvSpPr txBox="1"/>
          <p:nvPr/>
        </p:nvSpPr>
        <p:spPr>
          <a:xfrm>
            <a:off x="4178300" y="2260600"/>
            <a:ext cx="1752600" cy="222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296297"/>
                </a:solidFill>
                <a:latin typeface="Arial"/>
              </a:rPr>
              <a:t>Architecture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296297"/>
                </a:solidFill>
                <a:latin typeface="Arial"/>
              </a:rPr>
              <a:t>Comment l'offre est produite et livrée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Une personne par client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Horaires limités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Peu de suivi de ce qui a été fait</a:t>
            </a:r>
          </a:p>
        </p:txBody>
      </p:sp>
      <p:cxnSp>
        <p:nvCxnSpPr>
          <p:cNvPr id="13" name="Filet Contributions"/>
          <p:cNvCxnSpPr/>
          <p:nvPr/>
        </p:nvCxnSpPr>
        <p:spPr>
          <a:xfrm>
            <a:off x="1054100" y="4673600"/>
            <a:ext cx="4368800" cy="0"/>
          </a:xfrm>
          <a:prstGeom prst="line">
            <a:avLst/>
          </a:prstGeom>
          <a:ln w="19050">
            <a:solidFill>
              <a:srgbClr val="0380A5"/>
            </a:solidFill>
          </a:ln>
        </p:spPr>
      </p:cxnSp>
      <p:sp>
        <p:nvSpPr>
          <p:cNvPr id="14" name="Contributions"/>
          <p:cNvSpPr txBox="1"/>
          <p:nvPr/>
        </p:nvSpPr>
        <p:spPr>
          <a:xfrm>
            <a:off x="1054100" y="4749800"/>
            <a:ext cx="43688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80A5"/>
                </a:solidFill>
                <a:latin typeface="Arial"/>
              </a:rPr>
              <a:t>Contributions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80A5"/>
                </a:solidFill>
                <a:latin typeface="Arial"/>
              </a:rPr>
              <a:t>Évaluation de la performance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Financière : prix moins salaire, charges et déplacements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Profit limité aux heures de travail d'une personne</a:t>
            </a:r>
          </a:p>
        </p:txBody>
      </p:sp>
      <p:sp>
        <p:nvSpPr>
          <p:cNvPr id="15" name="Modèle Assistant IA généraliste"/>
          <p:cNvSpPr txBox="1"/>
          <p:nvPr/>
        </p:nvSpPr>
        <p:spPr>
          <a:xfrm>
            <a:off x="6223000" y="16764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fr-FR" sz="1500" b="1" dirty="0">
                <a:solidFill>
                  <a:srgbClr val="033A70"/>
                </a:solidFill>
                <a:latin typeface="Arial"/>
              </a:rPr>
              <a:t>Assistant IA généraliste</a:t>
            </a:r>
            <a:r>
              <a:rPr lang="fr-FR" sz="1200" dirty="0">
                <a:solidFill>
                  <a:srgbClr val="6B7785"/>
                </a:solidFill>
                <a:latin typeface="Arial"/>
              </a:rPr>
              <a:t>   18 à 23 € par mois</a:t>
            </a:r>
          </a:p>
        </p:txBody>
      </p:sp>
      <p:sp>
        <p:nvSpPr>
          <p:cNvPr id="16" name="Pilier VP"/>
          <p:cNvSpPr/>
          <p:nvPr/>
        </p:nvSpPr>
        <p:spPr>
          <a:xfrm>
            <a:off x="8216900" y="2971800"/>
            <a:ext cx="1422400" cy="142240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033A70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Pilier Architecture"/>
          <p:cNvSpPr/>
          <p:nvPr/>
        </p:nvSpPr>
        <p:spPr>
          <a:xfrm>
            <a:off x="8216900" y="2971800"/>
            <a:ext cx="1422400" cy="142240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296297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Pilier Contributions"/>
          <p:cNvSpPr/>
          <p:nvPr/>
        </p:nvSpPr>
        <p:spPr>
          <a:xfrm>
            <a:off x="8216900" y="2971800"/>
            <a:ext cx="1422400" cy="142240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0380A5"/>
          </a:solidFill>
          <a:ln w="508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9" name="Filet VP"/>
          <p:cNvCxnSpPr/>
          <p:nvPr/>
        </p:nvCxnSpPr>
        <p:spPr>
          <a:xfrm>
            <a:off x="6223000" y="2184400"/>
            <a:ext cx="1778000" cy="0"/>
          </a:xfrm>
          <a:prstGeom prst="line">
            <a:avLst/>
          </a:prstGeom>
          <a:ln w="19050">
            <a:solidFill>
              <a:srgbClr val="033A70"/>
            </a:solidFill>
          </a:ln>
        </p:spPr>
      </p:cxnSp>
      <p:sp>
        <p:nvSpPr>
          <p:cNvPr id="20" name="Proposition de valeur"/>
          <p:cNvSpPr txBox="1"/>
          <p:nvPr/>
        </p:nvSpPr>
        <p:spPr>
          <a:xfrm>
            <a:off x="6223000" y="2260600"/>
            <a:ext cx="1778000" cy="222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3A70"/>
                </a:solidFill>
                <a:latin typeface="Arial"/>
              </a:rPr>
              <a:t>Proposition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3A70"/>
                </a:solidFill>
                <a:latin typeface="Arial"/>
              </a:rPr>
              <a:t>L'offre faite au client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Quoi ? Conseiller, rédiger, résumer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qui ? Les actifs qui testent l'IA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quel prix ? 18 à 23 €, souvent 20 €</a:t>
            </a:r>
          </a:p>
        </p:txBody>
      </p:sp>
      <p:cxnSp>
        <p:nvCxnSpPr>
          <p:cNvPr id="21" name="Filet Architecture"/>
          <p:cNvCxnSpPr/>
          <p:nvPr/>
        </p:nvCxnSpPr>
        <p:spPr>
          <a:xfrm>
            <a:off x="9855200" y="2184400"/>
            <a:ext cx="1752600" cy="0"/>
          </a:xfrm>
          <a:prstGeom prst="line">
            <a:avLst/>
          </a:prstGeom>
          <a:ln w="19050">
            <a:solidFill>
              <a:srgbClr val="296297"/>
            </a:solidFill>
          </a:ln>
        </p:spPr>
      </p:cxnSp>
      <p:sp>
        <p:nvSpPr>
          <p:cNvPr id="22" name="Architecture de valeur"/>
          <p:cNvSpPr txBox="1"/>
          <p:nvPr/>
        </p:nvSpPr>
        <p:spPr>
          <a:xfrm>
            <a:off x="9855200" y="2260600"/>
            <a:ext cx="1752600" cy="222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296297"/>
                </a:solidFill>
                <a:latin typeface="Arial"/>
              </a:rPr>
              <a:t>Architecture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296297"/>
                </a:solidFill>
                <a:latin typeface="Arial"/>
              </a:rPr>
              <a:t>Comment l'offre est produite et livrée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Le même produit pour tout le monde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Abonnement, sans accompagnement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Ne fait presque rien à votre place</a:t>
            </a:r>
          </a:p>
        </p:txBody>
      </p:sp>
      <p:cxnSp>
        <p:nvCxnSpPr>
          <p:cNvPr id="23" name="Filet Contributions"/>
          <p:cNvCxnSpPr/>
          <p:nvPr/>
        </p:nvCxnSpPr>
        <p:spPr>
          <a:xfrm>
            <a:off x="6731000" y="4673600"/>
            <a:ext cx="4368800" cy="0"/>
          </a:xfrm>
          <a:prstGeom prst="line">
            <a:avLst/>
          </a:prstGeom>
          <a:ln w="19050">
            <a:solidFill>
              <a:srgbClr val="0380A5"/>
            </a:solidFill>
          </a:ln>
        </p:spPr>
      </p:cxnSp>
      <p:sp>
        <p:nvSpPr>
          <p:cNvPr id="24" name="Contributions"/>
          <p:cNvSpPr txBox="1"/>
          <p:nvPr/>
        </p:nvSpPr>
        <p:spPr>
          <a:xfrm>
            <a:off x="6731000" y="4749800"/>
            <a:ext cx="436880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80A5"/>
                </a:solidFill>
                <a:latin typeface="Arial"/>
              </a:rPr>
              <a:t>Contributions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80A5"/>
                </a:solidFill>
                <a:latin typeface="Arial"/>
              </a:rPr>
              <a:t>Évaluation de la performance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Financière : abonnés × (prix moins coût de calcul de l'IA)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Grandit vite, mais la concurrence fait baisser les prix</a:t>
            </a:r>
          </a:p>
        </p:txBody>
      </p:sp>
      <p:sp>
        <p:nvSpPr>
          <p:cNvPr id="25" name="Source"/>
          <p:cNvSpPr txBox="1"/>
          <p:nvPr/>
        </p:nvSpPr>
        <p:spPr>
          <a:xfrm>
            <a:off x="546100" y="6400800"/>
            <a:ext cx="10058400" cy="2794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r>
              <a:rPr lang="fr-FR" sz="800" dirty="0">
                <a:solidFill>
                  <a:srgbClr val="6B7785"/>
                </a:solidFill>
                <a:latin typeface="Arial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26" name="Numéro"/>
          <p:cNvSpPr txBox="1"/>
          <p:nvPr/>
        </p:nvSpPr>
        <p:spPr>
          <a:xfrm>
            <a:off x="11150600" y="6400800"/>
            <a:ext cx="546100" cy="2794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r"/>
            <a:r>
              <a:rPr lang="fr-FR" sz="800" dirty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pic>
        <p:nvPicPr>
          <p:cNvPr id="27" name="Graphic 27" descr="Proposition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2400" y="3263900"/>
            <a:ext cx="355600" cy="355600"/>
          </a:xfrm>
          <a:prstGeom prst="rect">
            <a:avLst/>
          </a:prstGeom>
        </p:spPr>
      </p:pic>
      <p:pic>
        <p:nvPicPr>
          <p:cNvPr id="28" name="Graphic 28" descr="Architecture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8200" y="3263900"/>
            <a:ext cx="355600" cy="355600"/>
          </a:xfrm>
          <a:prstGeom prst="rect">
            <a:avLst/>
          </a:prstGeom>
        </p:spPr>
      </p:pic>
      <p:pic>
        <p:nvPicPr>
          <p:cNvPr id="29" name="Graphic 29" descr="Contribu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35300" y="3860800"/>
            <a:ext cx="355600" cy="355600"/>
          </a:xfrm>
          <a:prstGeom prst="rect">
            <a:avLst/>
          </a:prstGeom>
        </p:spPr>
      </p:pic>
      <p:pic>
        <p:nvPicPr>
          <p:cNvPr id="30" name="Graphic 30" descr="Proposition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9300" y="3263900"/>
            <a:ext cx="355600" cy="355600"/>
          </a:xfrm>
          <a:prstGeom prst="rect">
            <a:avLst/>
          </a:prstGeom>
        </p:spPr>
      </p:pic>
      <p:pic>
        <p:nvPicPr>
          <p:cNvPr id="31" name="Graphic 31" descr="Architecture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5100" y="3263900"/>
            <a:ext cx="355600" cy="355600"/>
          </a:xfrm>
          <a:prstGeom prst="rect">
            <a:avLst/>
          </a:prstGeom>
        </p:spPr>
      </p:pic>
      <p:pic>
        <p:nvPicPr>
          <p:cNvPr id="32" name="Graphic 32" descr="Contribu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2200" y="38608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73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1" dirty="0">
                <a:solidFill>
                  <a:srgbClr val="033A70"/>
                </a:solidFill>
                <a:latin typeface="Arial"/>
              </a:rPr>
              <a:t>S</a:t>
            </a:r>
            <a:r>
              <a:rPr lang="fr-FR" sz="2200" b="1" dirty="0">
                <a:solidFill>
                  <a:srgbClr val="033A70"/>
                </a:solidFill>
                <a:latin typeface="Arial"/>
              </a:rPr>
              <a:t>ix directions retenues pour définir le nouveau business model</a:t>
            </a:r>
            <a:endParaRPr sz="2200" b="1" dirty="0">
              <a:solidFill>
                <a:srgbClr val="1F2A3C"/>
              </a:solidFill>
              <a:latin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554480"/>
            <a:ext cx="54864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1.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Réduire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les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coûts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pour le client</a:t>
            </a:r>
            <a:endParaRPr lang="fr-FR"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2. Simplifier la vie du client</a:t>
            </a:r>
          </a:p>
          <a:p>
            <a:pPr algn="l">
              <a:spcAft>
                <a:spcPts val="100"/>
              </a:spcAft>
            </a:pPr>
            <a:endParaRPr lang="en-US" sz="1300" b="1" dirty="0">
              <a:solidFill>
                <a:srgbClr val="1F2A3C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FF0000"/>
                </a:solidFill>
                <a:latin typeface="Arial"/>
              </a:rPr>
              <a:t>3. </a:t>
            </a:r>
            <a:r>
              <a:rPr lang="en-US" sz="1300" b="1" dirty="0" err="1">
                <a:solidFill>
                  <a:srgbClr val="FF0000"/>
                </a:solidFill>
                <a:latin typeface="Arial"/>
              </a:rPr>
              <a:t>Trouver</a:t>
            </a:r>
            <a:r>
              <a:rPr lang="en-US" sz="1300" b="1" dirty="0">
                <a:solidFill>
                  <a:srgbClr val="FF0000"/>
                </a:solidFill>
                <a:latin typeface="Arial"/>
              </a:rPr>
              <a:t> des non-clients</a:t>
            </a:r>
          </a:p>
          <a:p>
            <a:pPr algn="l">
              <a:spcAft>
                <a:spcPts val="100"/>
              </a:spcAft>
            </a:pPr>
            <a:endParaRPr lang="en-US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lang="en-US" sz="1300" b="1" dirty="0">
                <a:solidFill>
                  <a:srgbClr val="FF0000"/>
                </a:solidFill>
                <a:latin typeface="Arial"/>
              </a:rPr>
              <a:t>4. </a:t>
            </a:r>
            <a:r>
              <a:rPr lang="en-US" sz="1300" b="1" dirty="0" err="1">
                <a:solidFill>
                  <a:srgbClr val="FF0000"/>
                </a:solidFill>
                <a:latin typeface="Arial"/>
              </a:rPr>
              <a:t>Développer</a:t>
            </a:r>
            <a:r>
              <a:rPr lang="en-US" sz="1300" b="1" dirty="0">
                <a:solidFill>
                  <a:srgbClr val="FF0000"/>
                </a:solidFill>
                <a:latin typeface="Arial"/>
              </a:rPr>
              <a:t> la </a:t>
            </a:r>
            <a:r>
              <a:rPr lang="en-US" sz="1300" b="1" dirty="0" err="1">
                <a:solidFill>
                  <a:srgbClr val="FF0000"/>
                </a:solidFill>
                <a:latin typeface="Arial"/>
              </a:rPr>
              <a:t>fonctionnalité</a:t>
            </a:r>
            <a:r>
              <a:rPr lang="en-US" sz="1300" b="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300" b="1" dirty="0" err="1">
                <a:solidFill>
                  <a:srgbClr val="FF0000"/>
                </a:solidFill>
                <a:latin typeface="Arial"/>
              </a:rPr>
              <a:t>ou</a:t>
            </a:r>
            <a:r>
              <a:rPr lang="en-US" sz="1300" b="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300" b="1" dirty="0" err="1">
                <a:solidFill>
                  <a:srgbClr val="FF0000"/>
                </a:solidFill>
                <a:latin typeface="Arial"/>
              </a:rPr>
              <a:t>l'émotion</a:t>
            </a:r>
            <a:endParaRPr lang="en-US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lang="fr-FR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5. Explorer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d'autres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segments</a:t>
            </a:r>
          </a:p>
          <a:p>
            <a:pPr algn="l">
              <a:spcAft>
                <a:spcPts val="100"/>
              </a:spcAft>
            </a:pPr>
            <a:endParaRPr lang="fr-FR" sz="1300" b="1" dirty="0">
              <a:solidFill>
                <a:srgbClr val="1F2A3C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6.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S'ouvrir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à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d'autres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parties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prenantes</a:t>
            </a:r>
            <a:endParaRPr lang="fr-FR"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1F2A3C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7. Modifier les sources de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revenus</a:t>
            </a:r>
            <a:endParaRPr sz="1300" b="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4864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8.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Introduire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une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technologie</a:t>
            </a:r>
            <a:endParaRPr lang="fr-FR"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9.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Remanier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des étapes de la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chaîne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de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valeur</a:t>
            </a:r>
            <a:endParaRPr sz="1300" b="1" dirty="0">
              <a:solidFill>
                <a:srgbClr val="00B05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lang="fr-FR" sz="1300" b="1" dirty="0">
              <a:solidFill>
                <a:srgbClr val="1F2A3C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10.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Éliminer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ou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ajouter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des étapes</a:t>
            </a:r>
            <a:endParaRPr lang="fr-FR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11. Identifier de nouveaux entrants</a:t>
            </a:r>
            <a:endParaRPr lang="fr-FR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12.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S'associer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à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d'autres</a:t>
            </a:r>
            <a:r>
              <a:rPr sz="1300" b="1" dirty="0">
                <a:solidFill>
                  <a:srgbClr val="FF000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acteurs</a:t>
            </a:r>
            <a:endParaRPr lang="fr-FR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FF0000"/>
                </a:solidFill>
                <a:latin typeface="Arial"/>
              </a:rPr>
              <a:t>13. Identifier des </a:t>
            </a:r>
            <a:r>
              <a:rPr sz="1300" b="1" dirty="0" err="1">
                <a:solidFill>
                  <a:srgbClr val="FF0000"/>
                </a:solidFill>
                <a:latin typeface="Arial"/>
              </a:rPr>
              <a:t>supplémenteurs</a:t>
            </a:r>
            <a:endParaRPr lang="fr-FR"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endParaRPr sz="1300" b="1" dirty="0">
              <a:solidFill>
                <a:srgbClr val="FF0000"/>
              </a:solidFill>
              <a:latin typeface="Arial"/>
            </a:endParaRPr>
          </a:p>
          <a:p>
            <a:pPr algn="l">
              <a:spcAft>
                <a:spcPts val="100"/>
              </a:spcAft>
            </a:pPr>
            <a:r>
              <a:rPr sz="1300" b="1" dirty="0">
                <a:solidFill>
                  <a:srgbClr val="00B050"/>
                </a:solidFill>
                <a:latin typeface="Arial"/>
              </a:rPr>
              <a:t>14. Explorer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ses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ressources</a:t>
            </a:r>
            <a:r>
              <a:rPr sz="1300" b="1" dirty="0">
                <a:solidFill>
                  <a:srgbClr val="00B050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00B050"/>
                </a:solidFill>
                <a:latin typeface="Arial"/>
              </a:rPr>
              <a:t>stratégiques</a:t>
            </a:r>
            <a:endParaRPr sz="1300" b="1" dirty="0">
              <a:solidFill>
                <a:srgbClr val="00B05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6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84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fr-FR" sz="2200" b="1" dirty="0">
                <a:solidFill>
                  <a:srgbClr val="033A70"/>
                </a:solidFill>
                <a:latin typeface="Arial"/>
              </a:rPr>
              <a:t>Courbe de valeur d’</a:t>
            </a:r>
            <a:r>
              <a:rPr lang="fr-FR" sz="2200" b="1" dirty="0" err="1">
                <a:solidFill>
                  <a:srgbClr val="033A70"/>
                </a:solidFill>
                <a:latin typeface="Arial"/>
              </a:rPr>
              <a:t>Helium</a:t>
            </a:r>
            <a:endParaRPr sz="2200" b="1" dirty="0">
              <a:solidFill>
                <a:srgbClr val="1F2A3C"/>
              </a:solidFill>
              <a:latin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645920"/>
            <a:ext cx="3840480" cy="2714319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Helium fait les démarches comme une conciergerie, à un prix qu'aucune personne ne peut proposer.</a:t>
            </a:r>
          </a:p>
          <a:p>
            <a:pPr algn="l">
              <a:spcAft>
                <a:spcPts val="400"/>
              </a:spcAft>
            </a:pPr>
            <a:endParaRPr sz="1250" dirty="0">
              <a:solidFill>
                <a:srgbClr val="1F2A3C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7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205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46100" y="609600"/>
            <a:ext cx="11061700" cy="8255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2200" b="1" dirty="0">
                <a:solidFill>
                  <a:srgbClr val="033A70"/>
                </a:solidFill>
                <a:latin typeface="Arial"/>
              </a:rPr>
              <a:t>Helium fait le travail d'une conciergerie, au prix d'un abonnement</a:t>
            </a:r>
          </a:p>
        </p:txBody>
      </p:sp>
      <p:cxnSp>
        <p:nvCxnSpPr>
          <p:cNvPr id="3" name="Filet titre"/>
          <p:cNvCxnSpPr/>
          <p:nvPr/>
        </p:nvCxnSpPr>
        <p:spPr>
          <a:xfrm>
            <a:off x="546100" y="1485900"/>
            <a:ext cx="11061700" cy="0"/>
          </a:xfrm>
          <a:prstGeom prst="line">
            <a:avLst/>
          </a:prstGeom>
          <a:ln w="15875">
            <a:solidFill>
              <a:srgbClr val="D0DCEA"/>
            </a:solidFill>
          </a:ln>
        </p:spPr>
      </p:cxnSp>
      <p:sp>
        <p:nvSpPr>
          <p:cNvPr id="4" name="Modèle Helium Foyer"/>
          <p:cNvSpPr txBox="1"/>
          <p:nvPr/>
        </p:nvSpPr>
        <p:spPr>
          <a:xfrm>
            <a:off x="546100" y="1676400"/>
            <a:ext cx="110617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fr-FR" sz="1500" b="1" dirty="0" err="1">
                <a:solidFill>
                  <a:srgbClr val="033A70"/>
                </a:solidFill>
                <a:latin typeface="Arial"/>
              </a:rPr>
              <a:t>Helium</a:t>
            </a:r>
            <a:r>
              <a:rPr lang="fr-FR" sz="1500" b="1" dirty="0">
                <a:solidFill>
                  <a:srgbClr val="033A70"/>
                </a:solidFill>
                <a:latin typeface="Arial"/>
              </a:rPr>
              <a:t> </a:t>
            </a:r>
            <a:r>
              <a:rPr lang="fr-FR" sz="1200" dirty="0">
                <a:solidFill>
                  <a:srgbClr val="6B7785"/>
                </a:solidFill>
                <a:latin typeface="Arial"/>
              </a:rPr>
              <a:t>   Personal 29 €, Premium 79 €, Family 129 € TTC par mois, sans engagement</a:t>
            </a:r>
          </a:p>
        </p:txBody>
      </p:sp>
      <p:sp>
        <p:nvSpPr>
          <p:cNvPr id="5" name="Pilier VP"/>
          <p:cNvSpPr/>
          <p:nvPr/>
        </p:nvSpPr>
        <p:spPr>
          <a:xfrm>
            <a:off x="5016500" y="2540000"/>
            <a:ext cx="2159000" cy="215900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033A70"/>
          </a:solidFill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Pilier Architecture"/>
          <p:cNvSpPr/>
          <p:nvPr/>
        </p:nvSpPr>
        <p:spPr>
          <a:xfrm>
            <a:off x="5016500" y="2540000"/>
            <a:ext cx="2159000" cy="215900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296297"/>
          </a:solidFill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Pilier Contributions"/>
          <p:cNvSpPr/>
          <p:nvPr/>
        </p:nvSpPr>
        <p:spPr>
          <a:xfrm>
            <a:off x="5016500" y="2540000"/>
            <a:ext cx="2159000" cy="215900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0380A5"/>
          </a:solidFill>
          <a:ln w="6350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8" name="Filet VP"/>
          <p:cNvCxnSpPr/>
          <p:nvPr/>
        </p:nvCxnSpPr>
        <p:spPr>
          <a:xfrm>
            <a:off x="546100" y="2184400"/>
            <a:ext cx="3556000" cy="0"/>
          </a:xfrm>
          <a:prstGeom prst="line">
            <a:avLst/>
          </a:prstGeom>
          <a:ln w="19050">
            <a:solidFill>
              <a:srgbClr val="033A70"/>
            </a:solidFill>
          </a:ln>
        </p:spPr>
      </p:cxnSp>
      <p:sp>
        <p:nvSpPr>
          <p:cNvPr id="9" name="Proposition de valeur"/>
          <p:cNvSpPr txBox="1"/>
          <p:nvPr/>
        </p:nvSpPr>
        <p:spPr>
          <a:xfrm>
            <a:off x="546100" y="2260600"/>
            <a:ext cx="35560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3A70"/>
                </a:solidFill>
                <a:latin typeface="Arial"/>
              </a:rPr>
              <a:t>Proposition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3A70"/>
                </a:solidFill>
                <a:latin typeface="Arial"/>
              </a:rPr>
              <a:t>L'offre faite au client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Quoi ? Faire les démarches du foyer, avec votre accord à chaque étape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qui ? Cadres supérieurs de 35 à 50 ans, couples bi-actifs avec enfants</a:t>
            </a:r>
          </a:p>
          <a:p>
            <a:pPr marL="114300" indent="-114300">
              <a:spcAft>
                <a:spcPts val="300"/>
              </a:spcAft>
              <a:buClr>
                <a:srgbClr val="033A70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À quel prix ? 29 à 129 € TTC par mois, 79 € pour Premium</a:t>
            </a:r>
          </a:p>
        </p:txBody>
      </p:sp>
      <p:cxnSp>
        <p:nvCxnSpPr>
          <p:cNvPr id="10" name="Filet Architecture"/>
          <p:cNvCxnSpPr/>
          <p:nvPr/>
        </p:nvCxnSpPr>
        <p:spPr>
          <a:xfrm>
            <a:off x="8089900" y="2184400"/>
            <a:ext cx="3556000" cy="0"/>
          </a:xfrm>
          <a:prstGeom prst="line">
            <a:avLst/>
          </a:prstGeom>
          <a:ln w="19050">
            <a:solidFill>
              <a:srgbClr val="296297"/>
            </a:solidFill>
          </a:ln>
        </p:spPr>
      </p:cxnSp>
      <p:sp>
        <p:nvSpPr>
          <p:cNvPr id="11" name="Architecture de valeur"/>
          <p:cNvSpPr txBox="1"/>
          <p:nvPr/>
        </p:nvSpPr>
        <p:spPr>
          <a:xfrm>
            <a:off x="8089900" y="2260600"/>
            <a:ext cx="35560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296297"/>
                </a:solidFill>
                <a:latin typeface="Arial"/>
              </a:rPr>
              <a:t>Architecture de valeur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296297"/>
                </a:solidFill>
                <a:latin typeface="Arial"/>
              </a:rPr>
              <a:t>Comment l'offre est produite et livrée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Chaîne de valeur : 10 minutes pour démarrer, un point chaque matin, un clic pour valider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Partenaires : outils Google ; réseau HEC, LinkedIn, bouche-à-oreille</a:t>
            </a:r>
          </a:p>
          <a:p>
            <a:pPr marL="114300" indent="-114300">
              <a:spcAft>
                <a:spcPts val="300"/>
              </a:spcAft>
              <a:buClr>
                <a:srgbClr val="296297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Ressources clés : plusieurs modèles d'IA combinés, la mémoire du foyer, le respect du RGPD </a:t>
            </a:r>
          </a:p>
        </p:txBody>
      </p:sp>
      <p:cxnSp>
        <p:nvCxnSpPr>
          <p:cNvPr id="12" name="Filet Contributions"/>
          <p:cNvCxnSpPr/>
          <p:nvPr/>
        </p:nvCxnSpPr>
        <p:spPr>
          <a:xfrm>
            <a:off x="3175000" y="4889500"/>
            <a:ext cx="5842000" cy="0"/>
          </a:xfrm>
          <a:prstGeom prst="line">
            <a:avLst/>
          </a:prstGeom>
          <a:ln w="19050">
            <a:solidFill>
              <a:srgbClr val="0380A5"/>
            </a:solidFill>
          </a:ln>
        </p:spPr>
      </p:cxnSp>
      <p:sp>
        <p:nvSpPr>
          <p:cNvPr id="13" name="Contributions"/>
          <p:cNvSpPr txBox="1"/>
          <p:nvPr/>
        </p:nvSpPr>
        <p:spPr>
          <a:xfrm>
            <a:off x="3175000" y="4965700"/>
            <a:ext cx="58420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lang="fr-FR" sz="1300" b="1" dirty="0">
                <a:solidFill>
                  <a:srgbClr val="0380A5"/>
                </a:solidFill>
                <a:latin typeface="Arial"/>
              </a:rPr>
              <a:t>Contributions</a:t>
            </a:r>
          </a:p>
          <a:p>
            <a:pPr>
              <a:spcAft>
                <a:spcPts val="400"/>
              </a:spcAft>
              <a:buNone/>
            </a:pPr>
            <a:r>
              <a:rPr lang="fr-FR" sz="1200" b="1" dirty="0">
                <a:solidFill>
                  <a:srgbClr val="0380A5"/>
                </a:solidFill>
                <a:latin typeface="Arial"/>
              </a:rPr>
              <a:t>Évaluation de la performance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Financière : 48 € de contribution par abonné Premium et par mois (marge variable 74 %)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Condition : coût par mission sous 0,30 €</a:t>
            </a:r>
          </a:p>
          <a:p>
            <a:pPr marL="114300" indent="-114300">
              <a:spcAft>
                <a:spcPts val="3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00" dirty="0">
                <a:solidFill>
                  <a:srgbClr val="1F2A3C"/>
                </a:solidFill>
                <a:latin typeface="Arial"/>
              </a:rPr>
              <a:t>Confiance : données hébergées en Europe, journal des actions consultable</a:t>
            </a:r>
          </a:p>
        </p:txBody>
      </p:sp>
      <p:sp>
        <p:nvSpPr>
          <p:cNvPr id="15" name="Numéro"/>
          <p:cNvSpPr txBox="1"/>
          <p:nvPr/>
        </p:nvSpPr>
        <p:spPr>
          <a:xfrm>
            <a:off x="11150600" y="6400800"/>
            <a:ext cx="546100" cy="2794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algn="r"/>
            <a:r>
              <a:rPr lang="fr-FR" sz="800" dirty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  <p:pic>
        <p:nvPicPr>
          <p:cNvPr id="16" name="Graphic 16" descr="Proposition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21300" y="3060700"/>
            <a:ext cx="508000" cy="508000"/>
          </a:xfrm>
          <a:prstGeom prst="rect">
            <a:avLst/>
          </a:prstGeom>
        </p:spPr>
      </p:pic>
      <p:pic>
        <p:nvPicPr>
          <p:cNvPr id="17" name="Graphic 17" descr="Architecture de valeu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2700" y="3060700"/>
            <a:ext cx="508000" cy="508000"/>
          </a:xfrm>
          <a:prstGeom prst="rect">
            <a:avLst/>
          </a:prstGeom>
        </p:spPr>
      </p:pic>
      <p:pic>
        <p:nvPicPr>
          <p:cNvPr id="18" name="Graphic 18" descr="Contribu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39624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50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33A70"/>
                </a:solidFill>
                <a:latin typeface="Arial"/>
              </a:rPr>
              <a:t>Qui, quoi, comment : faire les démarches du foyer, avec l'accord du client à chaque étape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274320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Qui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Cadres supérieurs de 35 à 50 ans, très pris.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Couples bi-actifs aisés avec enfants.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Ensuite, dirigeants et professions libérales.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Comment les trouver : réseau HEC et anciens élèves, LinkedIn, bouche-à-oreille ; puis via leur employeur.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74320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Quoi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Il prend en charge les démarches du foyer, sans attendre qu'on les lui demande.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Rien n'est fait sans votre accord.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Il se souvient du foyer et garde la trace de tout ce qu'il fait.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Trois promesses : il anticipe, il n'agit qu'avec votre accord, vos données restent à vous.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74320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Comment ?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Formules sans engagement : Personal 29 €, Premium 79 €, Family 129 € TTC.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15 % de moins en payant à l'année.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10 minutes pour démarrer, un point chaque matin.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Ce qu'il faut : plusieurs modèles d'IA combinés, l'accès aux outils Google, le respect du RGPD (AIPD, charte).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645920"/>
            <a:ext cx="237744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Coûts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Calcul de l'IA, selon l'usage.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Hébergement UE, support.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Le coût pour trouver chaque nouveau client.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Salaires à partir du 13e mois, première version confiée à un prestataire : 77 k€.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9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6713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03504"/>
            <a:ext cx="11064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200" b="1" dirty="0">
                <a:solidFill>
                  <a:srgbClr val="033A70"/>
                </a:solidFill>
                <a:latin typeface="Arial"/>
              </a:rPr>
              <a:t>Equation de profit</a:t>
            </a:r>
            <a:endParaRPr sz="2200" b="1" dirty="0">
              <a:solidFill>
                <a:srgbClr val="1F2A3C"/>
              </a:solidFill>
              <a:latin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11155680" cy="981771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33A70"/>
                </a:solidFill>
                <a:latin typeface="Arial"/>
              </a:rPr>
              <a:t>Contribution par </a:t>
            </a:r>
            <a:r>
              <a:rPr sz="1500" b="1" dirty="0" err="1">
                <a:solidFill>
                  <a:srgbClr val="033A70"/>
                </a:solidFill>
                <a:latin typeface="Arial"/>
              </a:rPr>
              <a:t>abonné</a:t>
            </a:r>
            <a:r>
              <a:rPr sz="1500" b="1" dirty="0">
                <a:solidFill>
                  <a:srgbClr val="033A70"/>
                </a:solidFill>
                <a:latin typeface="Arial"/>
              </a:rPr>
              <a:t> Premium, par </a:t>
            </a:r>
            <a:r>
              <a:rPr sz="1500" b="1" dirty="0" err="1">
                <a:solidFill>
                  <a:srgbClr val="033A70"/>
                </a:solidFill>
                <a:latin typeface="Arial"/>
              </a:rPr>
              <a:t>mois</a:t>
            </a:r>
            <a:endParaRPr sz="1500" b="1" dirty="0">
              <a:solidFill>
                <a:srgbClr val="033A70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400" dirty="0">
                <a:solidFill>
                  <a:srgbClr val="1F2A3C"/>
                </a:solidFill>
                <a:latin typeface="Arial"/>
              </a:rPr>
              <a:t>65,83 € HT, </a:t>
            </a:r>
            <a:r>
              <a:rPr sz="1400" dirty="0" err="1">
                <a:solidFill>
                  <a:srgbClr val="1F2A3C"/>
                </a:solidFill>
                <a:latin typeface="Arial"/>
              </a:rPr>
              <a:t>moins</a:t>
            </a:r>
            <a:r>
              <a:rPr sz="1400" dirty="0">
                <a:solidFill>
                  <a:srgbClr val="1F2A3C"/>
                </a:solidFill>
                <a:latin typeface="Arial"/>
              </a:rPr>
              <a:t> 60 missions à 0,18 €, </a:t>
            </a:r>
            <a:r>
              <a:rPr sz="1400" dirty="0" err="1">
                <a:solidFill>
                  <a:srgbClr val="1F2A3C"/>
                </a:solidFill>
                <a:latin typeface="Arial"/>
              </a:rPr>
              <a:t>moins</a:t>
            </a:r>
            <a:r>
              <a:rPr sz="1400" dirty="0">
                <a:solidFill>
                  <a:srgbClr val="1F2A3C"/>
                </a:solidFill>
                <a:latin typeface="Arial"/>
              </a:rPr>
              <a:t> 4,50 € </a:t>
            </a:r>
            <a:r>
              <a:rPr sz="1400" dirty="0" err="1">
                <a:solidFill>
                  <a:srgbClr val="1F2A3C"/>
                </a:solidFill>
                <a:latin typeface="Arial"/>
              </a:rPr>
              <a:t>hébergement</a:t>
            </a:r>
            <a:r>
              <a:rPr sz="1400" dirty="0">
                <a:solidFill>
                  <a:srgbClr val="1F2A3C"/>
                </a:solidFill>
                <a:latin typeface="Arial"/>
              </a:rPr>
              <a:t> et support, </a:t>
            </a:r>
            <a:r>
              <a:rPr sz="1400" dirty="0" err="1">
                <a:solidFill>
                  <a:srgbClr val="1F2A3C"/>
                </a:solidFill>
                <a:latin typeface="Arial"/>
              </a:rPr>
              <a:t>moins</a:t>
            </a:r>
            <a:r>
              <a:rPr sz="1400" dirty="0">
                <a:solidFill>
                  <a:srgbClr val="1F2A3C"/>
                </a:solidFill>
                <a:latin typeface="Arial"/>
              </a:rPr>
              <a:t> 2,08 € </a:t>
            </a:r>
            <a:r>
              <a:rPr sz="1400" dirty="0" err="1">
                <a:solidFill>
                  <a:srgbClr val="1F2A3C"/>
                </a:solidFill>
                <a:latin typeface="Arial"/>
              </a:rPr>
              <a:t>paiement</a:t>
            </a:r>
            <a:r>
              <a:rPr sz="1400" dirty="0">
                <a:solidFill>
                  <a:srgbClr val="1F2A3C"/>
                </a:solidFill>
                <a:latin typeface="Arial"/>
              </a:rPr>
              <a:t> = 48 € de contribution (marge variable 74 %).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19137"/>
            <a:ext cx="5486400" cy="1145405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33A70"/>
                </a:solidFill>
                <a:latin typeface="Arial"/>
              </a:rPr>
              <a:t>Profit de Helium, à </a:t>
            </a:r>
            <a:r>
              <a:rPr sz="1500" b="1" dirty="0" err="1">
                <a:solidFill>
                  <a:srgbClr val="033A70"/>
                </a:solidFill>
                <a:latin typeface="Arial"/>
              </a:rPr>
              <a:t>trente</a:t>
            </a:r>
            <a:r>
              <a:rPr sz="1500" b="1" dirty="0">
                <a:solidFill>
                  <a:srgbClr val="033A70"/>
                </a:solidFill>
                <a:latin typeface="Arial"/>
              </a:rPr>
              <a:t>-six </a:t>
            </a:r>
            <a:r>
              <a:rPr sz="1500" b="1" dirty="0" err="1">
                <a:solidFill>
                  <a:srgbClr val="033A70"/>
                </a:solidFill>
                <a:latin typeface="Arial"/>
              </a:rPr>
              <a:t>mois</a:t>
            </a:r>
            <a:endParaRPr sz="1500" b="1" dirty="0">
              <a:solidFill>
                <a:srgbClr val="033A70"/>
              </a:solidFill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dirty="0" err="1">
                <a:solidFill>
                  <a:srgbClr val="1F2A3C"/>
                </a:solidFill>
                <a:latin typeface="Arial"/>
              </a:rPr>
              <a:t>Abonnés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actifs</a:t>
            </a:r>
            <a:r>
              <a:rPr sz="1300" dirty="0">
                <a:solidFill>
                  <a:srgbClr val="1F2A3C"/>
                </a:solidFill>
                <a:latin typeface="Arial"/>
              </a:rPr>
              <a:t> × contribution,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moins</a:t>
            </a:r>
            <a:r>
              <a:rPr sz="1300" dirty="0">
                <a:solidFill>
                  <a:srgbClr val="1F2A3C"/>
                </a:solidFill>
                <a:latin typeface="Arial"/>
              </a:rPr>
              <a:t> nouveaux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abonnés</a:t>
            </a:r>
            <a:r>
              <a:rPr sz="1300" dirty="0">
                <a:solidFill>
                  <a:srgbClr val="1F2A3C"/>
                </a:solidFill>
                <a:latin typeface="Arial"/>
              </a:rPr>
              <a:t> ×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coût</a:t>
            </a:r>
            <a:r>
              <a:rPr sz="1300" dirty="0">
                <a:solidFill>
                  <a:srgbClr val="1F2A3C"/>
                </a:solidFill>
                <a:latin typeface="Arial"/>
              </a:rPr>
              <a:t> pour les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trouver</a:t>
            </a:r>
            <a:r>
              <a:rPr sz="1300" dirty="0">
                <a:solidFill>
                  <a:srgbClr val="1F2A3C"/>
                </a:solidFill>
                <a:latin typeface="Arial"/>
              </a:rPr>
              <a:t> (CAC),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moins</a:t>
            </a:r>
            <a:r>
              <a:rPr sz="1300" dirty="0">
                <a:solidFill>
                  <a:srgbClr val="1F2A3C"/>
                </a:solidFill>
                <a:latin typeface="Arial"/>
              </a:rPr>
              <a:t>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coûts</a:t>
            </a:r>
            <a:r>
              <a:rPr sz="1300" dirty="0">
                <a:solidFill>
                  <a:srgbClr val="1F2A3C"/>
                </a:solidFill>
                <a:latin typeface="Arial"/>
              </a:rPr>
              <a:t> fixes (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salaires</a:t>
            </a:r>
            <a:r>
              <a:rPr sz="1300" dirty="0">
                <a:solidFill>
                  <a:srgbClr val="1F2A3C"/>
                </a:solidFill>
                <a:latin typeface="Arial"/>
              </a:rPr>
              <a:t> à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partir</a:t>
            </a:r>
            <a:r>
              <a:rPr sz="1300" dirty="0">
                <a:solidFill>
                  <a:srgbClr val="1F2A3C"/>
                </a:solidFill>
                <a:latin typeface="Arial"/>
              </a:rPr>
              <a:t> de M13, MVP,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conformité</a:t>
            </a:r>
            <a:r>
              <a:rPr sz="1300" dirty="0">
                <a:solidFill>
                  <a:srgbClr val="1F2A3C"/>
                </a:solidFill>
                <a:latin typeface="Arial"/>
              </a:rPr>
              <a:t>, audit).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19137"/>
            <a:ext cx="5486400" cy="1145406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33A70"/>
                </a:solidFill>
                <a:latin typeface="Arial"/>
              </a:rPr>
              <a:t>Ce qui </a:t>
            </a:r>
            <a:r>
              <a:rPr sz="1500" b="1" dirty="0" err="1">
                <a:solidFill>
                  <a:srgbClr val="033A70"/>
                </a:solidFill>
                <a:latin typeface="Arial"/>
              </a:rPr>
              <a:t>peut</a:t>
            </a:r>
            <a:r>
              <a:rPr sz="1500" b="1" dirty="0">
                <a:solidFill>
                  <a:srgbClr val="033A70"/>
                </a:solidFill>
                <a:latin typeface="Arial"/>
              </a:rPr>
              <a:t> tout changer</a:t>
            </a:r>
          </a:p>
          <a:p>
            <a:pPr algn="l">
              <a:spcAft>
                <a:spcPts val="400"/>
              </a:spcAft>
            </a:pPr>
            <a:r>
              <a:rPr sz="1300" dirty="0" err="1">
                <a:solidFill>
                  <a:srgbClr val="1F2A3C"/>
                </a:solidFill>
                <a:latin typeface="Arial"/>
              </a:rPr>
              <a:t>Coût</a:t>
            </a:r>
            <a:r>
              <a:rPr sz="1300" dirty="0">
                <a:solidFill>
                  <a:srgbClr val="1F2A3C"/>
                </a:solidFill>
                <a:latin typeface="Arial"/>
              </a:rPr>
              <a:t> par mission à 0,30 € : contribution 41 €. À 0,50 € : 29 €.</a:t>
            </a:r>
          </a:p>
          <a:p>
            <a:pPr algn="l">
              <a:spcAft>
                <a:spcPts val="400"/>
              </a:spcAft>
            </a:pPr>
            <a:r>
              <a:rPr sz="1300" dirty="0">
                <a:solidFill>
                  <a:srgbClr val="1F2A3C"/>
                </a:solidFill>
                <a:latin typeface="Arial"/>
              </a:rPr>
              <a:t>Prix à 59 € TTC : contribution sous 32 €, plus de cinq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mois</a:t>
            </a:r>
            <a:r>
              <a:rPr sz="1300" dirty="0">
                <a:solidFill>
                  <a:srgbClr val="1F2A3C"/>
                </a:solidFill>
                <a:latin typeface="Arial"/>
              </a:rPr>
              <a:t> pour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rentrer</a:t>
            </a:r>
            <a:r>
              <a:rPr sz="1300" dirty="0">
                <a:solidFill>
                  <a:srgbClr val="1F2A3C"/>
                </a:solidFill>
                <a:latin typeface="Arial"/>
              </a:rPr>
              <a:t> dans </a:t>
            </a:r>
            <a:r>
              <a:rPr sz="1300" dirty="0" err="1">
                <a:solidFill>
                  <a:srgbClr val="1F2A3C"/>
                </a:solidFill>
                <a:latin typeface="Arial"/>
              </a:rPr>
              <a:t>ses</a:t>
            </a:r>
            <a:r>
              <a:rPr sz="1300" dirty="0">
                <a:solidFill>
                  <a:srgbClr val="1F2A3C"/>
                </a:solidFill>
                <a:latin typeface="Arial"/>
              </a:rPr>
              <a:t> frais.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55988"/>
            <a:ext cx="557784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dirty="0" err="1">
                <a:solidFill>
                  <a:srgbClr val="1F2A3C"/>
                </a:solidFill>
                <a:latin typeface="Arial"/>
              </a:rPr>
              <a:t>Scénario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central : 2 664 abonnés à la fin de la 3e année, EBITDA positif dès le mois 12, point bas de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trésorerie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de −130 k€ au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mois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19,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besoin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de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financement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de 170 k€.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Scénario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prudent : 557 k€, jamais à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l'équilibre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 sur 36 </a:t>
            </a:r>
            <a:r>
              <a:rPr sz="1300" b="0" dirty="0" err="1">
                <a:solidFill>
                  <a:srgbClr val="1F2A3C"/>
                </a:solidFill>
                <a:latin typeface="Arial"/>
              </a:rPr>
              <a:t>mois</a:t>
            </a:r>
            <a:r>
              <a:rPr sz="1300" b="0" dirty="0">
                <a:solidFill>
                  <a:srgbClr val="1F2A3C"/>
                </a:solidFill>
                <a:latin typeface="Arial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200" b="0" dirty="0" err="1">
                <a:solidFill>
                  <a:srgbClr val="6B7785"/>
                </a:solidFill>
                <a:latin typeface="Arial"/>
              </a:rPr>
              <a:t>Ces chiffres reposent sur des hypothèses que nous n'avons pas encore mesurées : 150 € pour trouver un client, 18 € de coût de service, 3 % de résiliations.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11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7088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46100" y="609600"/>
            <a:ext cx="11061700" cy="825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algn="l"/>
            <a:r>
              <a:rPr lang="fr-FR" sz="2200" b="1" dirty="0">
                <a:solidFill>
                  <a:srgbClr val="033A70"/>
                </a:solidFill>
                <a:latin typeface="Arial"/>
              </a:rPr>
              <a:t>Helium couvre ses coûts fixes à partir d'environ 410 abonnés Premium</a:t>
            </a:r>
          </a:p>
        </p:txBody>
      </p:sp>
      <p:cxnSp>
        <p:nvCxnSpPr>
          <p:cNvPr id="3" name="Filet titre"/>
          <p:cNvCxnSpPr/>
          <p:nvPr/>
        </p:nvCxnSpPr>
        <p:spPr>
          <a:xfrm>
            <a:off x="546100" y="1485900"/>
            <a:ext cx="11061700" cy="0"/>
          </a:xfrm>
          <a:prstGeom prst="line">
            <a:avLst/>
          </a:prstGeom>
          <a:ln w="15875">
            <a:solidFill>
              <a:srgbClr val="D0DCEA"/>
            </a:solidFill>
          </a:ln>
        </p:spPr>
      </p:cxnSp>
      <p:sp>
        <p:nvSpPr>
          <p:cNvPr id="4" name="Libellé graphique"/>
          <p:cNvSpPr txBox="1"/>
          <p:nvPr/>
        </p:nvSpPr>
        <p:spPr>
          <a:xfrm>
            <a:off x="546100" y="1651000"/>
            <a:ext cx="7366000" cy="2540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sz="1300" dirty="0">
                <a:solidFill>
                  <a:srgbClr val="6B7785"/>
                </a:solidFill>
                <a:latin typeface="Arial"/>
              </a:rPr>
              <a:t>Revenus et coûts par mois selon le nombre d'abonnés Premium, k€</a:t>
            </a:r>
          </a:p>
        </p:txBody>
      </p:sp>
      <p:sp>
        <p:nvSpPr>
          <p:cNvPr id="5" name="Carte point mort"/>
          <p:cNvSpPr/>
          <p:nvPr/>
        </p:nvSpPr>
        <p:spPr>
          <a:xfrm>
            <a:off x="8204200" y="1905000"/>
            <a:ext cx="3403600" cy="292100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</p:spPr>
        <p:txBody>
          <a:bodyPr wrap="square" lIns="146304" tIns="109728" rIns="146304" bIns="0" anchor="t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lang="fr-FR" sz="1500" b="1" dirty="0">
                <a:solidFill>
                  <a:srgbClr val="033A70"/>
                </a:solidFill>
                <a:latin typeface="Arial"/>
              </a:rPr>
              <a:t>Point mort</a:t>
            </a:r>
          </a:p>
          <a:p>
            <a:pPr>
              <a:spcAft>
                <a:spcPts val="200"/>
              </a:spcAft>
              <a:buNone/>
            </a:pPr>
            <a:r>
              <a:rPr lang="fr-FR" sz="2800" b="1" dirty="0">
                <a:solidFill>
                  <a:srgbClr val="0380A5"/>
                </a:solidFill>
                <a:latin typeface="Arial"/>
              </a:rPr>
              <a:t>≈ 410 abonnés</a:t>
            </a:r>
          </a:p>
          <a:p>
            <a:pPr>
              <a:spcAft>
                <a:spcPts val="900"/>
              </a:spcAft>
              <a:buNone/>
            </a:pPr>
            <a:r>
              <a:rPr lang="fr-FR" sz="1250" dirty="0">
                <a:solidFill>
                  <a:srgbClr val="1F2A3C"/>
                </a:solidFill>
                <a:latin typeface="Arial"/>
              </a:rPr>
              <a:t>soit environ 27 k€ de revenus par mois</a:t>
            </a:r>
          </a:p>
          <a:p>
            <a:pPr>
              <a:spcAft>
                <a:spcPts val="400"/>
              </a:spcAft>
              <a:buNone/>
            </a:pPr>
            <a:r>
              <a:rPr lang="fr-FR" sz="1300" b="1" dirty="0">
                <a:solidFill>
                  <a:srgbClr val="033A70"/>
                </a:solidFill>
                <a:latin typeface="Arial"/>
              </a:rPr>
              <a:t>Hypothèses, par abonné et par mois</a:t>
            </a:r>
          </a:p>
          <a:p>
            <a:pPr marL="171450" indent="-171450">
              <a:spcAft>
                <a:spcPts val="4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50" dirty="0">
                <a:solidFill>
                  <a:srgbClr val="1F2A3C"/>
                </a:solidFill>
                <a:latin typeface="Arial"/>
              </a:rPr>
              <a:t>Revenu : 65,83 € HT</a:t>
            </a:r>
          </a:p>
          <a:p>
            <a:pPr marL="171450" indent="-171450">
              <a:spcAft>
                <a:spcPts val="4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50" dirty="0">
                <a:solidFill>
                  <a:srgbClr val="1F2A3C"/>
                </a:solidFill>
                <a:latin typeface="Arial"/>
              </a:rPr>
              <a:t>Coût variable : 17,38 € (60 missions à 0,18 €, hébergement et support, paiement)</a:t>
            </a:r>
          </a:p>
          <a:p>
            <a:pPr marL="171450" indent="-171450">
              <a:spcAft>
                <a:spcPts val="400"/>
              </a:spcAft>
              <a:buClr>
                <a:srgbClr val="0380A5"/>
              </a:buClr>
              <a:buFont typeface="Arial"/>
              <a:buChar char="•"/>
            </a:pPr>
            <a:r>
              <a:rPr lang="fr-FR" sz="1250" dirty="0">
                <a:solidFill>
                  <a:srgbClr val="1F2A3C"/>
                </a:solidFill>
                <a:latin typeface="Arial"/>
              </a:rPr>
              <a:t>Coûts fixes : 19,8 k€, soit 30 % des coûts totaux à 2 664 abonnés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546100" y="6400800"/>
            <a:ext cx="10058400" cy="2794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fr-FR" sz="800" dirty="0">
                <a:solidFill>
                  <a:srgbClr val="6B7785"/>
                </a:solidFill>
                <a:latin typeface="Arial"/>
              </a:rPr>
              <a:t>Coûts fixes : hypothèse de 30 % des coûts totaux au volume du scénario central (fin de la 3e année). Source : modèle financier V1.</a:t>
            </a:r>
          </a:p>
        </p:txBody>
      </p:sp>
      <p:sp>
        <p:nvSpPr>
          <p:cNvPr id="7" name="Numéro"/>
          <p:cNvSpPr txBox="1"/>
          <p:nvPr/>
        </p:nvSpPr>
        <p:spPr>
          <a:xfrm>
            <a:off x="11150600" y="6400800"/>
            <a:ext cx="546100" cy="2794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algn="r"/>
            <a:r>
              <a:rPr lang="fr-FR" sz="800" dirty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546100" y="1955800"/>
          <a:ext cx="7366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0" name="Repère point mort"/>
          <p:cNvCxnSpPr/>
          <p:nvPr/>
        </p:nvCxnSpPr>
        <p:spPr>
          <a:xfrm>
            <a:off x="3454400" y="4470400"/>
            <a:ext cx="0" cy="1397000"/>
          </a:xfrm>
          <a:prstGeom prst="line">
            <a:avLst/>
          </a:prstGeom>
          <a:ln w="12700">
            <a:solidFill>
              <a:srgbClr val="0380A5"/>
            </a:solidFill>
            <a:prstDash val="dash"/>
          </a:ln>
        </p:spPr>
      </p:cxnSp>
      <p:sp>
        <p:nvSpPr>
          <p:cNvPr id="91" name="Libellé point mort"/>
          <p:cNvSpPr txBox="1"/>
          <p:nvPr/>
        </p:nvSpPr>
        <p:spPr>
          <a:xfrm>
            <a:off x="3556000" y="5130800"/>
            <a:ext cx="2540000" cy="2540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fr-FR" sz="1300" b="1" dirty="0">
                <a:solidFill>
                  <a:srgbClr val="0380A5"/>
                </a:solidFill>
                <a:latin typeface="Arial"/>
              </a:rPr>
              <a:t>Point mort ≈ 410 abonnés</a:t>
            </a:r>
          </a:p>
        </p:txBody>
      </p:sp>
    </p:spTree>
    <p:extLst>
      <p:ext uri="{BB962C8B-B14F-4D97-AF65-F5344CB8AC3E}">
        <p14:creationId xmlns:p14="http://schemas.microsoft.com/office/powerpoint/2010/main" val="2633701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380A5"/>
                </a:solidFill>
                <a:latin typeface="Arial"/>
              </a:rPr>
              <a:t>ÉTAPE 4 : NOM ET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33A70"/>
                </a:solidFill>
                <a:latin typeface="Arial"/>
              </a:rPr>
              <a:t>Helium Foyer : le nom désigne l'unité vendue, le foyer, et non l'individu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645920"/>
            <a:ext cx="512064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Pourquoi « Foyer »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Le service s'adresse à tout le foyer : il garde une mémoire commune, tout en séparant le pro, le perso et les enfants.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Court en français et en anglais.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Second choix : « Helium Mandat ». Il parle de contrôle, mais il sonne juridique et trop « entreprise ».</a:t>
            </a:r>
          </a:p>
          <a:p>
            <a:pPr algn="l">
              <a:spcAft>
                <a:spcPts val="400"/>
              </a:spcAft>
            </a:pPr>
            <a:r>
              <a:rPr sz="1250">
                <a:solidFill>
                  <a:srgbClr val="1F2A3C"/>
                </a:solidFill>
                <a:latin typeface="Arial"/>
              </a:rPr>
              <a:t>Réserve : nous n'avons pas encore vérifié que le nom est libre. Helium existe déjà (Helium Network, Helium 10, Helium Health). Recherche INPI et EUIPO avant tout usage public (D-02).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5760720" cy="4480560"/>
          </a:xfrm>
          <a:prstGeom prst="rect">
            <a:avLst/>
          </a:prstGeom>
          <a:solidFill>
            <a:srgbClr val="F2F6FB"/>
          </a:solidFill>
          <a:ln w="12700">
            <a:solidFill>
              <a:srgbClr val="D0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t"/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033A70"/>
                </a:solidFill>
                <a:latin typeface="Arial"/>
              </a:rPr>
              <a:t>Plan des 8 minutes</a:t>
            </a:r>
          </a:p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1 min : le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problème</a:t>
            </a:r>
            <a:r>
              <a:rPr sz="1250" dirty="0">
                <a:solidFill>
                  <a:srgbClr val="1F2A3C"/>
                </a:solidFill>
                <a:latin typeface="Arial"/>
              </a:rPr>
              <a:t>, sept millions de cadres, 250 à 600 € pour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une</a:t>
            </a:r>
            <a:r>
              <a:rPr sz="1250" dirty="0">
                <a:solidFill>
                  <a:srgbClr val="1F2A3C"/>
                </a:solidFill>
                <a:latin typeface="Arial"/>
              </a:rPr>
              <a:t> solution humaine.</a:t>
            </a:r>
          </a:p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1,5 min :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l'offre</a:t>
            </a:r>
            <a:r>
              <a:rPr sz="1250" dirty="0">
                <a:solidFill>
                  <a:srgbClr val="1F2A3C"/>
                </a:solidFill>
                <a:latin typeface="Arial"/>
              </a:rPr>
              <a:t>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existante</a:t>
            </a:r>
            <a:r>
              <a:rPr sz="1250" dirty="0">
                <a:solidFill>
                  <a:srgbClr val="1F2A3C"/>
                </a:solidFill>
                <a:latin typeface="Arial"/>
              </a:rPr>
              <a:t>, deux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courbes</a:t>
            </a:r>
            <a:r>
              <a:rPr sz="1250" dirty="0">
                <a:solidFill>
                  <a:srgbClr val="1F2A3C"/>
                </a:solidFill>
                <a:latin typeface="Arial"/>
              </a:rPr>
              <a:t> et deux business models.</a:t>
            </a:r>
          </a:p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2 min : les quatorze directions, la nouvelle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courbe</a:t>
            </a:r>
            <a:r>
              <a:rPr sz="1250" dirty="0">
                <a:solidFill>
                  <a:srgbClr val="1F2A3C"/>
                </a:solidFill>
                <a:latin typeface="Arial"/>
              </a:rPr>
              <a:t>, les quatre actions.</a:t>
            </a:r>
          </a:p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2 min : le business model et </a:t>
            </a:r>
            <a:r>
              <a:rPr sz="1250" dirty="0" err="1">
                <a:solidFill>
                  <a:srgbClr val="1F2A3C"/>
                </a:solidFill>
                <a:latin typeface="Arial"/>
              </a:rPr>
              <a:t>l'équation</a:t>
            </a:r>
            <a:r>
              <a:rPr sz="1250" dirty="0">
                <a:solidFill>
                  <a:srgbClr val="1F2A3C"/>
                </a:solidFill>
                <a:latin typeface="Arial"/>
              </a:rPr>
              <a:t> de profit, 48 € de contribution.</a:t>
            </a:r>
          </a:p>
          <a:p>
            <a:pPr algn="l">
              <a:spcAft>
                <a:spcPts val="400"/>
              </a:spcAft>
            </a:pPr>
            <a:r>
              <a:rPr sz="1250" dirty="0">
                <a:solidFill>
                  <a:srgbClr val="1F2A3C"/>
                </a:solidFill>
                <a:latin typeface="Arial"/>
              </a:rPr>
              <a:t>1,5 min : le test de 90 jours, ce qui peut le faire échouer, le second choix.</a:t>
            </a:r>
          </a:p>
          <a:p>
            <a:pPr algn="l">
              <a:spcAft>
                <a:spcPts val="400"/>
              </a:spcAft>
            </a:pPr>
            <a:r>
              <a:rPr sz="1250" dirty="0" err="1">
                <a:solidFill>
                  <a:srgbClr val="1F2A3C"/>
                </a:solidFill>
                <a:latin typeface="Arial"/>
              </a:rPr>
              <a:t>Marge : aucune. Ne pas dépasser 8 minutes, et ne pas présenter la méthode.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11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291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380A5"/>
                </a:solidFill>
                <a:latin typeface="Arial"/>
              </a:rPr>
              <a:t>QUESTIONS PROBABLES DU JURY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33A70"/>
                </a:solidFill>
                <a:latin typeface="Arial"/>
              </a:rPr>
              <a:t>Réponses préparées : les chiffres sont ceux du modèle V1, les réserves sont dites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11064240" cy="298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Pourquoi ce segment et pas tout le monde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Notre première cible compte environ 1,1 M de cadres (estimation). Le prix suit la valeur de la conciergerie, pas le budget moyen.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Pourquoi 79 € quand l'assistant coûte 20 €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Le client paie pour que ses démarches soient faites, avec son accord, et pas pour discuter avec une IA. Seuil de prix retenu : 59 € TTC, sous lequel la contribution tombe sous 32 €.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Que se passe-t-il quand ChatGPT ou Gemini ouvrent un agent en Europe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C'est le risque principal, attendu dans 12 à 24 mois (estimation). Notre réponse : garder le prix, miser sur l'accord à chaque étape, le journal et la mémoire du foyer, et vendre aussi par les employeurs.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Votre coût par mission tient-il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Nous retenons 0,18 € par prudence. Le plan technique estime 0,073 € pour le Premium, à mesurer sur les missions 1 et 5 avant le 3 décembre. Seuil d'alerte : 0,30 €.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12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163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380A5"/>
                </a:solidFill>
                <a:latin typeface="Arial"/>
              </a:rPr>
              <a:t>QUESTIONS PROBABLES DU JURY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33A70"/>
                </a:solidFill>
                <a:latin typeface="Arial"/>
              </a:rPr>
              <a:t>Réponses préparées : les chiffres sont ceux du modèle V1, les réserves sont dites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81328"/>
            <a:ext cx="11064240" cy="0"/>
          </a:xfrm>
          <a:prstGeom prst="line">
            <a:avLst/>
          </a:prstGeom>
          <a:ln w="15875">
            <a:solidFill>
              <a:srgbClr val="D0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45920"/>
            <a:ext cx="11064240" cy="2980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Que savez-vous, concrètement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Rien de mesuré aujourd'hui : le prix, le CAC et le coût de service sont des hypothèses. C'est ce que le test de 90 jours doit mesurer.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Qui possède le projet et qui décide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La Direction tranche, au registre des décisions. Les statuts en dépôt (SASU à associé unique) ne correspondent pas à une équipe de six : ce point doit être réglé (D-01) avant toute présentation.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Pourquoi ne pas vendre seulement aux entreprises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Passer par les employeurs ne coûte presque rien pour trouver des clients, mais les RH décident lentement et nous perdons le contact direct. Score 3,5 contre 4,0. Nous y passons si trouver un client en direct coûte plus de 240 €.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33A70"/>
                </a:solidFill>
                <a:latin typeface="Arial"/>
              </a:rPr>
              <a:t>Que deviennent les données personnelles ?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1F2A3C"/>
                </a:solidFill>
                <a:latin typeface="Arial"/>
              </a:rPr>
              <a:t>Hébergement UE (Scaleway Paris proposé, non signé), mandat par action, journal consultable, AIPD et registre avant le pilote. Dans la première version, le majordome ne paie rien à votre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785"/>
                </a:solidFill>
                <a:latin typeface="Arial"/>
              </a:rPr>
              <a:t>Helium, HEC GEMM Group 4. Scores et chiffres marqués estimation ou hypothèse, source : modèle financier V1 et note de business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900" b="0">
                <a:solidFill>
                  <a:srgbClr val="6B7785"/>
                </a:solidFill>
                <a:latin typeface="Arial"/>
              </a:rPr>
              <a:t>13</a:t>
            </a:r>
            <a:endParaRPr sz="900" b="0">
              <a:solidFill>
                <a:srgbClr val="6B778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331795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1CA1AC-16B7-3740-A096-C93842155988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232f9bb4-5252-4792-bef7-2e315234936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154</TotalTime>
  <Words>2042</Words>
  <Application>Microsoft Macintosh PowerPoint</Application>
  <PresentationFormat>Widescreen</PresentationFormat>
  <Paragraphs>187</Paragraphs>
  <Slides>13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Mubashir Hassan</cp:lastModifiedBy>
  <cp:revision>7</cp:revision>
  <dcterms:created xsi:type="dcterms:W3CDTF">2013-01-27T09:14:16Z</dcterms:created>
  <dcterms:modified xsi:type="dcterms:W3CDTF">2026-10-28T16:01:29Z</dcterms:modified>
  <cp:category/>
</cp:coreProperties>
</file>